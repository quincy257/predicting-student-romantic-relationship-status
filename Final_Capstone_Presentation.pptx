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16"/>
  </p:notesMasterIdLst>
  <p:sldIdLst>
    <p:sldId id="256" r:id="rId3"/>
    <p:sldId id="257" r:id="rId4"/>
    <p:sldId id="259" r:id="rId5"/>
    <p:sldId id="268" r:id="rId6"/>
    <p:sldId id="283" r:id="rId7"/>
    <p:sldId id="261" r:id="rId8"/>
    <p:sldId id="262" r:id="rId9"/>
    <p:sldId id="263" r:id="rId10"/>
    <p:sldId id="264" r:id="rId11"/>
    <p:sldId id="265" r:id="rId12"/>
    <p:sldId id="266" r:id="rId13"/>
    <p:sldId id="267" r:id="rId14"/>
    <p:sldId id="284"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58956" autoAdjust="0"/>
  </p:normalViewPr>
  <p:slideViewPr>
    <p:cSldViewPr snapToGrid="0" snapToObjects="1">
      <p:cViewPr varScale="1">
        <p:scale>
          <a:sx n="55" d="100"/>
          <a:sy n="55" d="100"/>
        </p:scale>
        <p:origin x="211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9049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备注占位符 2"/>
          <p:cNvSpPr>
            <a:spLocks noGrp="1"/>
          </p:cNvSpPr>
          <p:nvPr>
            <p:ph type="body" idx="1"/>
          </p:nvPr>
        </p:nvSpPr>
        <p:spPr>
          <a:xfrm>
            <a:off x="685800" y="5867400"/>
            <a:ext cx="5486400" cy="4800600"/>
          </a:xfrm>
          <a:prstGeom prst="rect">
            <a:avLst/>
          </a:prstGeom>
        </p:spPr>
        <p:txBody>
          <a:bodyPr/>
          <a:lstStyle/>
          <a:p>
            <a:r>
              <a:rPr lang="en-US" dirty="0"/>
              <a:t>Good afternoon everyone. My capstone project is “Predicting Student Romantic Relationship Status.” And honestly, this is a pretty bold thing to try to predict. </a:t>
            </a:r>
            <a:r>
              <a:rPr lang="en-US" altLang="zh-CN" dirty="0"/>
              <a:t>Because </a:t>
            </a:r>
            <a:r>
              <a:rPr lang="en-US" dirty="0"/>
              <a:t>Romantic relationship status is not a clean, stable outcome like a test score or a final grade. It is messy, personal, and full of noise. A student might be in a relationship because of personality, timing, friend groups, confidence, family rules, social opportunities, or just because two people happened to click. Those things are not always captured neatly in a </a:t>
            </a:r>
            <a:r>
              <a:rPr lang="en-US" altLang="zh-CN" dirty="0" err="1"/>
              <a:t>papersheet</a:t>
            </a:r>
            <a:r>
              <a:rPr lang="en-US" dirty="0"/>
              <a:t>.  So in a way, this project is trying to make a model look at a very human question and say, “Can you find any pattern here?” And the answer is not going to be perfect, because relationships are not perfectly logical. But that is also what makes the project interesting and meaningful. </a:t>
            </a:r>
          </a:p>
        </p:txBody>
      </p:sp>
    </p:spTree>
    <p:extLst>
      <p:ext uri="{BB962C8B-B14F-4D97-AF65-F5344CB8AC3E}">
        <p14:creationId xmlns:p14="http://schemas.microsoft.com/office/powerpoint/2010/main" val="23549819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for this project is that adolescent romantic relationships are not just private teenage experiences. Developmental psychology treats them as an important social and emotional context where adolescents practice intimacy, emotion regulation, identity exploration, peer negotiation, and future relationship expectations. The research question is therefore predictive and descriptive: which student characteristics best predict whether a student reports being in a romantic relationship? I am not claiming causality. Instead, I want to understand which contexts, such as sex, absences, social behavior, internet access, study time, and school engagement, are most connected to romantic involvement.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备注占位符 2"/>
          <p:cNvSpPr>
            <a:spLocks noGrp="1"/>
          </p:cNvSpPr>
          <p:nvPr>
            <p:ph type="body" idx="1"/>
          </p:nvPr>
        </p:nvSpPr>
        <p:spPr>
          <a:xfrm>
            <a:off x="685800" y="5867400"/>
            <a:ext cx="5486400" cy="4800600"/>
          </a:xfrm>
          <a:prstGeom prst="rect">
            <a:avLst/>
          </a:prstGeom>
        </p:spPr>
        <p:txBody>
          <a:bodyPr/>
          <a:lstStyle/>
          <a:p>
            <a:r>
              <a:rPr lang="en-US" dirty="0"/>
              <a:t>The dataset used in this project is the Kaggle Student Alcohol Consumption dataset. It contains Portuguese secondary-school student survey data, including demographic, family, school-related, academic, behavioral, and social variables. The dataset has two course files: </a:t>
            </a:r>
            <a:r>
              <a:rPr lang="en-US" sz="1200" kern="1200" dirty="0">
                <a:solidFill>
                  <a:schemeClr val="tx1"/>
                </a:solidFill>
                <a:latin typeface="+mn-lt"/>
                <a:ea typeface="+mn-ea"/>
                <a:cs typeface="+mn-cs"/>
              </a:rPr>
              <a:t>student-mat.csv</a:t>
            </a:r>
            <a:r>
              <a:rPr lang="en-US" dirty="0"/>
              <a:t> for Math and </a:t>
            </a:r>
            <a:r>
              <a:rPr lang="en-US" sz="1200" kern="1200" dirty="0">
                <a:solidFill>
                  <a:schemeClr val="tx1"/>
                </a:solidFill>
                <a:latin typeface="+mn-lt"/>
                <a:ea typeface="+mn-ea"/>
                <a:cs typeface="+mn-cs"/>
              </a:rPr>
              <a:t>student-por.csv</a:t>
            </a:r>
            <a:r>
              <a:rPr lang="en-US" dirty="0"/>
              <a:t> for Portuguese. A major data-cleaning issue was that the same student could appear in both files. In the final code, I identified overlapping students using stable background variables, then merged repeated records into one student-level row. This produced 662 unique students. I also used a stratified 80/20 train-test split so the yes/no relationship balance stayed stable.</a:t>
            </a:r>
          </a:p>
        </p:txBody>
      </p:sp>
    </p:spTree>
    <p:extLst>
      <p:ext uri="{BB962C8B-B14F-4D97-AF65-F5344CB8AC3E}">
        <p14:creationId xmlns:p14="http://schemas.microsoft.com/office/powerpoint/2010/main" val="16303162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This slide summarizes the development process across the whole project. I started with simpler models and raw combined data, then improved the workflow step by step: merging duplicate students, adding feature engineering, trying sex-specific male and female pipelines, testing course-level grouped data, and finally moving to a pooled model with sex as a predictor. I also tested heatmaps for parental education and job SES, but many of those plots were removed from the final presentation because the patterns were weak, noisy, or based on small cells. I tried </a:t>
            </a:r>
            <a:r>
              <a:rPr lang="en-US" dirty="0" err="1"/>
              <a:t>kNN</a:t>
            </a:r>
            <a:r>
              <a:rPr lang="en-US" dirty="0"/>
              <a:t> as well, and it sometimes worked better in subgroup experiments, especially male-focused versions, but in the final pooled threshold-based evaluation it performed poorly, so I removed it from the main result table. The key lesson was that adding complexity did not automatically improve accuracy; the best final design was simpler but more stable.</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11FEA4-03EF-4484-9EDA-077312C6CB5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3664643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Before fitting machine-learning models, I first examined several simple descriptive patterns. The first plot shows relationship rate by sex. The x separates female and male students, and the y-axis shows the proportion reporting romantic = yes. Female students report romantic relationships more often than male students, which is why sex was kept as a predictor in the final pooled model rather than being removed or only used for separate subgroup models. Second plot shows relationship rate by average grade band. Here, the x-axis represents the student’s average grade across G1, G2, and G3, measured on the original 0–20 grade scale. Therefore, “Low (0–9)” means a low academic grade range, not age. The y-axis shows the proportion of students in each grade band who report being in a romantic relationship, and the colors separate female and male students. This plot was added because the Random Forest model ranked G1, G2, and G3 as highly important predictors. Descriptively, students in lower and medium grade bands show higher relationship rates, while the very-high-grade group shows much lower rates. However, the very-high-grade group has a small sample size, especially for males, so that part should be interpreted </a:t>
            </a:r>
            <a:r>
              <a:rPr lang="en-US" dirty="0" err="1"/>
              <a:t>cautiously.Together</a:t>
            </a:r>
            <a:r>
              <a:rPr lang="en-US" dirty="0"/>
              <a:t>, these plots suggest that romantic involvement is connected to sex, social opportunity, and academic context. The outcome is not explained by one single factor, but by a combination of demographic, behavioral, and school-related patterns.</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11FEA4-03EF-4484-9EDA-077312C6CB5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10065503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focuses on behavioral patterns. The absences plot uses a logistic model with a quadratic term. The x-axis shows absences capped at 15, and the y-axis shows the predicted probability of being in a relationship. The colored curves represent sex, and the shaded bands represent uncertainty. The pattern suggests that higher absence levels tend to align with higher predicted relationship probability. The study-time plot shows study levels on the x-axis and predicted relationship probability on the y-axis, again separated by sex. Moderate study levels have higher predicted probabilities than the most intensive study group. In code, these patterns were estimated using </a:t>
            </a:r>
            <a:r>
              <a:rPr lang="en-US" sz="1200" kern="1200" dirty="0" err="1">
                <a:solidFill>
                  <a:schemeClr val="tx1"/>
                </a:solidFill>
                <a:latin typeface="+mn-lt"/>
                <a:ea typeface="+mn-ea"/>
                <a:cs typeface="+mn-cs"/>
              </a:rPr>
              <a:t>glm</a:t>
            </a:r>
            <a:r>
              <a:rPr lang="en-US" sz="1200" kern="1200" dirty="0">
                <a:solidFill>
                  <a:schemeClr val="tx1"/>
                </a:solidFill>
                <a:latin typeface="+mn-lt"/>
                <a:ea typeface="+mn-ea"/>
                <a:cs typeface="+mn-cs"/>
              </a:rPr>
              <a:t>()</a:t>
            </a:r>
            <a:r>
              <a:rPr lang="en-US" dirty="0"/>
              <a:t> models with interaction terms such as absences by gender and </a:t>
            </a:r>
            <a:r>
              <a:rPr lang="en-US" dirty="0" err="1"/>
              <a:t>studytime</a:t>
            </a:r>
            <a:r>
              <a:rPr lang="en-US" dirty="0"/>
              <a:t> by gender. The practical interpretation is that romantic involvement may be connected to school engagement, daily routine, and social availability.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modeling pipeline has six main steps. First, I used the merged student-level dataset. Second, I created engineered variables such as parental education percentages, age groups, alcohol indicators, and social-behavior measures. Third, I used </a:t>
            </a:r>
            <a:r>
              <a:rPr lang="en-US" dirty="0" err="1"/>
              <a:t>tidymodels</a:t>
            </a:r>
            <a:r>
              <a:rPr lang="en-US" dirty="0"/>
              <a:t> recipes to remove redundant variables, collapse rare categories, normalize numeric variables, and dummy-code categorical variables. Fourth, I tuned several models: logistic regression as an interpretable baseline, Random Forest, </a:t>
            </a:r>
            <a:r>
              <a:rPr lang="en-US" dirty="0" err="1"/>
              <a:t>XGBoost</a:t>
            </a:r>
            <a:r>
              <a:rPr lang="en-US" dirty="0"/>
              <a:t>, SVM, Elastic Net, MLP, and decision tree. Fifth, I evaluated all models on a held-out test set. Finally, I added probability diagnostics, including AUC, Brier score, log loss, calibration histogram, and KDE plot. The final pipeline kept ensemble and stacking methods to show technical breadth, but the selected final model was based on held-out performance and interpretability.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reports held-out test performance. The table compares Accuracy, F1, and AUC. Accuracy measures the final yes/no classification rate after thresholding. F1 focuses on the </a:t>
            </a:r>
            <a:r>
              <a:rPr lang="en-US" sz="1200" kern="1200" dirty="0">
                <a:solidFill>
                  <a:schemeClr val="tx1"/>
                </a:solidFill>
                <a:latin typeface="+mn-lt"/>
                <a:ea typeface="+mn-ea"/>
                <a:cs typeface="+mn-cs"/>
              </a:rPr>
              <a:t>romantic = yes</a:t>
            </a:r>
            <a:r>
              <a:rPr lang="en-US" dirty="0"/>
              <a:t> class, which matters because the yes class is smaller. AUC measures ranking ability, or how well the model orders students from lower to higher predicted relationship probability. Random Forest and Stacking both achieved 0.684 Accuracy and 0.686 AUC. Because their results tied, I selected Random Forest as the final model because it is simpler, easier to explain, and does not depend on a second ensemble layer. The model is useful but moderate; so it should not be treated as a perfect classifier.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question: what variables help the model predict relationship status? The Random Forest importance plot ranks variables by how much the model used them across many trees. The x-axis is the importance score, and the y-axis lists predictors. Longer bars mean stronger contribution. The </a:t>
            </a:r>
            <a:r>
              <a:rPr lang="en-US" dirty="0" err="1"/>
              <a:t>XGBoost</a:t>
            </a:r>
            <a:r>
              <a:rPr lang="en-US" dirty="0"/>
              <a:t> importance plot gives a second algorithmic view, showing which variables helped the boosting model improve predictions. Across the two models, important predictors include absences, grades, sex, activities, internet access, alcohol-related measures, and social-time variables. This suggests that romantic involvement is not explained by one single family-background variable; it is more connected to school engagement, behavior, opportunity, and social context.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asks whether the model can estimate probability, not just make a yes-or-no classification. I use unequal fixed predicted-risk groups. The reason is that this outcome is not a rare event: about 37.5% of students report being in a romantic relationship. Because of that, the Random Forest does not spread students evenly from 0% to 100%. Most students are concentrated in the middle probability range, so the middle bins are narrower, while the sparse high-probability tail is merged into a wider bin.</a:t>
            </a:r>
          </a:p>
          <a:p>
            <a:r>
              <a:rPr lang="en-US" dirty="0"/>
              <a:t>The bottom bar chart shows the distribution of students across predicted-risk groups. The x-axis shows the model’s predicted relationship-risk groups, and the y-axis shows the share of the test set in each group. The N labels tell us how many students are in each bin. Most students fall between about 25% and 45% predicted probability, and fewer students fall into the higher-risk bins.</a:t>
            </a:r>
          </a:p>
          <a:p>
            <a:r>
              <a:rPr lang="en-US" dirty="0"/>
              <a:t>The top line chart is the actual calibration check. The orange line is the model’s average predicted probability in each bin, and the red line is the observed relationship rate in that same bin. If the orange and red lines are close, the model’s probability estimates are well calibrated in that range. In this case, the two lines generally move upward together, which means the model is giving higher probabilities to groups that actually have higher relationship rates. The key takeaway is that the model can provide useful group-level probability estimates. It should not be used to say, “this exact student has a guaranteed chance of being in a relationship.” A better interpretation is: students placed into higher predicted-risk groups tend to have higher observed relationship rates. So the model is useful for understanding probability patterns, but not for labeling individual students.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KDE plot shows probability ranking. The x-axis is the predicted probability of </a:t>
            </a:r>
            <a:r>
              <a:rPr lang="en-US" sz="1200" kern="1200" dirty="0">
                <a:solidFill>
                  <a:schemeClr val="tx1"/>
                </a:solidFill>
                <a:latin typeface="+mn-lt"/>
                <a:ea typeface="+mn-ea"/>
                <a:cs typeface="+mn-cs"/>
              </a:rPr>
              <a:t>romantic = yes</a:t>
            </a:r>
            <a:r>
              <a:rPr lang="en-US" dirty="0"/>
              <a:t>, and the y-axis is density, meaning how concentrated students are at each probability level. The blue curve represents students who are actually in a relationship, and the red curve represents students who are not. If the model perfectly separated the two groups, the curves would be far apart. In this result, the true-yes students have a mean predicted probability around 41%, while true-no students have a mean around 35%. The curves overlap, but there is still a rightward shift for the yes group. This matches the AUC of 0.686: the model has modest but real ranking signal, but the classes are not cleanly separable.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conclusion is that student romantic relationship status is moderately predictable from a combination of sex, absences, grades, activities, and social-behavior variables. The strongest model was Random Forest, but even that model should be interpreted carefully because the performance is moderate, not perfect. The value of the project is not to label students or make deterministic judgments. Instead, it shows how machine learning can help educators and researchers understand which contexts are connected to adolescent relationship involvement. Future work should use larger and more recent samples, include relationship quality instead of only yes/no status, validate calibration across schools and cultures, and use longitudinal data to separate prediction from possible causal pathways.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252FCB7-0E28-4D8B-A739-2C8AA56C0532}" type="datetimeFigureOut">
              <a:rPr lang="zh-CN" altLang="en-US" smtClean="0"/>
              <a:t>2026/5/4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CB7BF24-CF73-429C-96C8-1CCA827F8135}" type="slidenum">
              <a:rPr lang="zh-CN" altLang="en-US" smtClean="0"/>
              <a:t>‹#›</a:t>
            </a:fld>
            <a:endParaRPr lang="zh-CN" altLang="en-US"/>
          </a:p>
        </p:txBody>
      </p:sp>
    </p:spTree>
    <p:extLst>
      <p:ext uri="{BB962C8B-B14F-4D97-AF65-F5344CB8AC3E}">
        <p14:creationId xmlns:p14="http://schemas.microsoft.com/office/powerpoint/2010/main" val="3458547193"/>
      </p:ext>
    </p:extLst>
  </p:cSld>
  <p:clrMapOvr>
    <a:masterClrMapping/>
  </p:clrMapOvr>
  <p:transition spd="slow">
    <p:comb/>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1048588" name="标题 1"/>
          <p:cNvSpPr>
            <a:spLocks noGrp="1"/>
          </p:cNvSpPr>
          <p:nvPr>
            <p:ph type="title"/>
          </p:nvPr>
        </p:nvSpPr>
        <p:spPr/>
        <p:txBody>
          <a:bodyPr/>
          <a:lstStyle/>
          <a:p>
            <a:r>
              <a:rPr lang="zh-CN" altLang="en-US"/>
              <a:t>单击此处编辑母版标题样式</a:t>
            </a:r>
          </a:p>
        </p:txBody>
      </p:sp>
      <p:sp>
        <p:nvSpPr>
          <p:cNvPr id="1048589" name="日期占位符 2"/>
          <p:cNvSpPr>
            <a:spLocks noGrp="1"/>
          </p:cNvSpPr>
          <p:nvPr>
            <p:ph type="dt" sz="half" idx="10"/>
          </p:nvPr>
        </p:nvSpPr>
        <p:spPr/>
        <p:txBody>
          <a:bodyPr/>
          <a:lstStyle/>
          <a:p>
            <a:pPr lvl="0"/>
            <a:endParaRPr lang="zh-CN" altLang="en-US">
              <a:latin typeface="Arial" panose="020B0604020202020204" pitchFamily="34" charset="0"/>
            </a:endParaRPr>
          </a:p>
        </p:txBody>
      </p:sp>
      <p:sp>
        <p:nvSpPr>
          <p:cNvPr id="1048590" name="页脚占位符 3"/>
          <p:cNvSpPr>
            <a:spLocks noGrp="1"/>
          </p:cNvSpPr>
          <p:nvPr>
            <p:ph type="ftr" sz="quarter" idx="11"/>
          </p:nvPr>
        </p:nvSpPr>
        <p:spPr/>
        <p:txBody>
          <a:bodyPr/>
          <a:lstStyle/>
          <a:p>
            <a:pPr lvl="0"/>
            <a:endParaRPr lang="zh-CN" altLang="en-US">
              <a:latin typeface="Arial" panose="020B0604020202020204" pitchFamily="34" charset="0"/>
            </a:endParaRPr>
          </a:p>
        </p:txBody>
      </p:sp>
      <p:sp>
        <p:nvSpPr>
          <p:cNvPr id="1048591" name="灯片编号占位符 4"/>
          <p:cNvSpPr>
            <a:spLocks noGrp="1"/>
          </p:cNvSpPr>
          <p:nvPr>
            <p:ph type="sldNum" sz="quarter" idx="12"/>
          </p:nvPr>
        </p:nvSpPr>
        <p:spPr/>
        <p:txBody>
          <a:bodyPr/>
          <a:lstStyle/>
          <a:p>
            <a:pPr lvl="0"/>
            <a:fld id="{9A0DB2DC-4C9A-4742-B13C-FB6460FD3503}" type="slidenum">
              <a:rPr lang="zh-CN" altLang="en-US">
                <a:latin typeface="Arial" panose="020B0604020202020204" pitchFamily="34" charset="0"/>
              </a:rPr>
              <a:t>‹#›</a:t>
            </a:fld>
            <a:endParaRPr lang="zh-CN" altLang="en-US">
              <a:latin typeface="Arial" panose="020B0604020202020204" pitchFamily="34" charset="0"/>
            </a:endParaRPr>
          </a:p>
        </p:txBody>
      </p:sp>
    </p:spTree>
    <p:extLst>
      <p:ext uri="{BB962C8B-B14F-4D97-AF65-F5344CB8AC3E}">
        <p14:creationId xmlns:p14="http://schemas.microsoft.com/office/powerpoint/2010/main" val="776925519"/>
      </p:ext>
    </p:extLst>
  </p:cSld>
  <p:clrMapOvr>
    <a:masterClrMapping/>
  </p:clrMapOvr>
  <p:transition spd="slow">
    <p:comb/>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44_Title Slide">
    <p:spTree>
      <p:nvGrpSpPr>
        <p:cNvPr id="1" name=""/>
        <p:cNvGrpSpPr/>
        <p:nvPr/>
      </p:nvGrpSpPr>
      <p:grpSpPr>
        <a:xfrm>
          <a:off x="0" y="0"/>
          <a:ext cx="0" cy="0"/>
          <a:chOff x="0" y="0"/>
          <a:chExt cx="0" cy="0"/>
        </a:xfrm>
      </p:grpSpPr>
      <p:sp>
        <p:nvSpPr>
          <p:cNvPr id="7" name="Picture Placeholder 6"/>
          <p:cNvSpPr>
            <a:spLocks noGrp="1"/>
          </p:cNvSpPr>
          <p:nvPr>
            <p:ph type="pic" sz="quarter" idx="11"/>
          </p:nvPr>
        </p:nvSpPr>
        <p:spPr>
          <a:xfrm>
            <a:off x="8332302" y="4432299"/>
            <a:ext cx="1858616" cy="4851401"/>
          </a:xfrm>
          <a:custGeom>
            <a:avLst/>
            <a:gdLst>
              <a:gd name="connsiteX0" fmla="*/ 929308 w 1858616"/>
              <a:gd name="connsiteY0" fmla="*/ 0 h 4851401"/>
              <a:gd name="connsiteX1" fmla="*/ 1024324 w 1858616"/>
              <a:gd name="connsiteY1" fmla="*/ 4798 h 4851401"/>
              <a:gd name="connsiteX2" fmla="*/ 1858616 w 1858616"/>
              <a:gd name="connsiteY2" fmla="*/ 929308 h 4851401"/>
              <a:gd name="connsiteX3" fmla="*/ 1858616 w 1858616"/>
              <a:gd name="connsiteY3" fmla="*/ 3922093 h 4851401"/>
              <a:gd name="connsiteX4" fmla="*/ 929308 w 1858616"/>
              <a:gd name="connsiteY4" fmla="*/ 4851401 h 4851401"/>
              <a:gd name="connsiteX5" fmla="*/ 929308 w 1858616"/>
              <a:gd name="connsiteY5" fmla="*/ 4851400 h 4851401"/>
              <a:gd name="connsiteX6" fmla="*/ 0 w 1858616"/>
              <a:gd name="connsiteY6" fmla="*/ 3922092 h 4851401"/>
              <a:gd name="connsiteX7" fmla="*/ 1 w 1858616"/>
              <a:gd name="connsiteY7" fmla="*/ 929308 h 4851401"/>
              <a:gd name="connsiteX8" fmla="*/ 834292 w 1858616"/>
              <a:gd name="connsiteY8" fmla="*/ 4798 h 4851401"/>
              <a:gd name="connsiteX9" fmla="*/ 929308 w 1858616"/>
              <a:gd name="connsiteY9" fmla="*/ 0 h 4851401"/>
              <a:gd name="connsiteX10" fmla="*/ 929309 w 1858616"/>
              <a:gd name="connsiteY10" fmla="*/ 0 h 4851401"/>
              <a:gd name="connsiteX11" fmla="*/ 929308 w 1858616"/>
              <a:gd name="connsiteY11" fmla="*/ 0 h 4851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58616" h="4851401">
                <a:moveTo>
                  <a:pt x="929308" y="0"/>
                </a:moveTo>
                <a:lnTo>
                  <a:pt x="1024324" y="4798"/>
                </a:lnTo>
                <a:cubicBezTo>
                  <a:pt x="1492934" y="52387"/>
                  <a:pt x="1858616" y="448142"/>
                  <a:pt x="1858616" y="929308"/>
                </a:cubicBezTo>
                <a:lnTo>
                  <a:pt x="1858616" y="3922093"/>
                </a:lnTo>
                <a:cubicBezTo>
                  <a:pt x="1858616" y="4435336"/>
                  <a:pt x="1442551" y="4851401"/>
                  <a:pt x="929308" y="4851401"/>
                </a:cubicBezTo>
                <a:lnTo>
                  <a:pt x="929308" y="4851400"/>
                </a:lnTo>
                <a:cubicBezTo>
                  <a:pt x="416065" y="4851400"/>
                  <a:pt x="0" y="4435335"/>
                  <a:pt x="0" y="3922092"/>
                </a:cubicBezTo>
                <a:lnTo>
                  <a:pt x="1" y="929308"/>
                </a:lnTo>
                <a:cubicBezTo>
                  <a:pt x="1" y="448142"/>
                  <a:pt x="365683" y="52387"/>
                  <a:pt x="834292" y="4798"/>
                </a:cubicBezTo>
                <a:close/>
                <a:moveTo>
                  <a:pt x="929308" y="0"/>
                </a:moveTo>
                <a:lnTo>
                  <a:pt x="929309" y="0"/>
                </a:lnTo>
                <a:lnTo>
                  <a:pt x="929308" y="0"/>
                </a:lnTo>
                <a:close/>
              </a:path>
            </a:pathLst>
          </a:custGeom>
          <a:effectLst/>
        </p:spPr>
        <p:txBody>
          <a:bodyPr wrap="square">
            <a:noAutofit/>
          </a:bodyPr>
          <a:lstStyle>
            <a:lvl1pPr marL="0" indent="0" algn="ctr">
              <a:buNone/>
              <a:defRPr>
                <a:solidFill>
                  <a:schemeClr val="tx1">
                    <a:lumMod val="50000"/>
                    <a:lumOff val="50000"/>
                  </a:schemeClr>
                </a:solidFill>
              </a:defRPr>
            </a:lvl1pPr>
          </a:lstStyle>
          <a:p>
            <a:endParaRPr lang="id-ID" dirty="0"/>
          </a:p>
        </p:txBody>
      </p:sp>
      <p:sp>
        <p:nvSpPr>
          <p:cNvPr id="6" name="Picture Placeholder 5"/>
          <p:cNvSpPr>
            <a:spLocks noGrp="1"/>
          </p:cNvSpPr>
          <p:nvPr>
            <p:ph type="pic" sz="quarter" idx="10"/>
          </p:nvPr>
        </p:nvSpPr>
        <p:spPr>
          <a:xfrm>
            <a:off x="5174977" y="-2425700"/>
            <a:ext cx="1858616" cy="4851401"/>
          </a:xfrm>
          <a:custGeom>
            <a:avLst/>
            <a:gdLst>
              <a:gd name="connsiteX0" fmla="*/ 929308 w 1858616"/>
              <a:gd name="connsiteY0" fmla="*/ 0 h 4851401"/>
              <a:gd name="connsiteX1" fmla="*/ 1024324 w 1858616"/>
              <a:gd name="connsiteY1" fmla="*/ 4798 h 4851401"/>
              <a:gd name="connsiteX2" fmla="*/ 1858616 w 1858616"/>
              <a:gd name="connsiteY2" fmla="*/ 929308 h 4851401"/>
              <a:gd name="connsiteX3" fmla="*/ 1858616 w 1858616"/>
              <a:gd name="connsiteY3" fmla="*/ 3922093 h 4851401"/>
              <a:gd name="connsiteX4" fmla="*/ 929308 w 1858616"/>
              <a:gd name="connsiteY4" fmla="*/ 4851401 h 4851401"/>
              <a:gd name="connsiteX5" fmla="*/ 929308 w 1858616"/>
              <a:gd name="connsiteY5" fmla="*/ 4851400 h 4851401"/>
              <a:gd name="connsiteX6" fmla="*/ 0 w 1858616"/>
              <a:gd name="connsiteY6" fmla="*/ 3922092 h 4851401"/>
              <a:gd name="connsiteX7" fmla="*/ 1 w 1858616"/>
              <a:gd name="connsiteY7" fmla="*/ 929308 h 4851401"/>
              <a:gd name="connsiteX8" fmla="*/ 834292 w 1858616"/>
              <a:gd name="connsiteY8" fmla="*/ 4798 h 4851401"/>
              <a:gd name="connsiteX9" fmla="*/ 929308 w 1858616"/>
              <a:gd name="connsiteY9" fmla="*/ 0 h 4851401"/>
              <a:gd name="connsiteX10" fmla="*/ 929309 w 1858616"/>
              <a:gd name="connsiteY10" fmla="*/ 0 h 4851401"/>
              <a:gd name="connsiteX11" fmla="*/ 929308 w 1858616"/>
              <a:gd name="connsiteY11" fmla="*/ 0 h 4851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58616" h="4851401">
                <a:moveTo>
                  <a:pt x="929308" y="0"/>
                </a:moveTo>
                <a:lnTo>
                  <a:pt x="1024324" y="4798"/>
                </a:lnTo>
                <a:cubicBezTo>
                  <a:pt x="1492934" y="52387"/>
                  <a:pt x="1858616" y="448142"/>
                  <a:pt x="1858616" y="929308"/>
                </a:cubicBezTo>
                <a:lnTo>
                  <a:pt x="1858616" y="3922093"/>
                </a:lnTo>
                <a:cubicBezTo>
                  <a:pt x="1858616" y="4435336"/>
                  <a:pt x="1442551" y="4851401"/>
                  <a:pt x="929308" y="4851401"/>
                </a:cubicBezTo>
                <a:lnTo>
                  <a:pt x="929308" y="4851400"/>
                </a:lnTo>
                <a:cubicBezTo>
                  <a:pt x="416065" y="4851400"/>
                  <a:pt x="0" y="4435335"/>
                  <a:pt x="0" y="3922092"/>
                </a:cubicBezTo>
                <a:lnTo>
                  <a:pt x="1" y="929308"/>
                </a:lnTo>
                <a:cubicBezTo>
                  <a:pt x="1" y="448142"/>
                  <a:pt x="365683" y="52387"/>
                  <a:pt x="834292" y="4798"/>
                </a:cubicBezTo>
                <a:close/>
                <a:moveTo>
                  <a:pt x="929308" y="0"/>
                </a:moveTo>
                <a:lnTo>
                  <a:pt x="929309" y="0"/>
                </a:lnTo>
                <a:lnTo>
                  <a:pt x="929308" y="0"/>
                </a:lnTo>
                <a:close/>
              </a:path>
            </a:pathLst>
          </a:custGeom>
          <a:effectLst/>
        </p:spPr>
        <p:txBody>
          <a:bodyPr wrap="square" anchor="b">
            <a:noAutofit/>
          </a:bodyPr>
          <a:lstStyle>
            <a:lvl1pPr marL="0" indent="0" algn="ctr">
              <a:buNone/>
              <a:defRPr>
                <a:solidFill>
                  <a:schemeClr val="tx1">
                    <a:lumMod val="50000"/>
                    <a:lumOff val="50000"/>
                  </a:schemeClr>
                </a:solidFill>
              </a:defRPr>
            </a:lvl1pPr>
          </a:lstStyle>
          <a:p>
            <a:endParaRPr lang="id-ID"/>
          </a:p>
        </p:txBody>
      </p:sp>
      <p:sp>
        <p:nvSpPr>
          <p:cNvPr id="4" name="Freeform: Shape 3">
            <a:extLst>
              <a:ext uri="{FF2B5EF4-FFF2-40B4-BE49-F238E27FC236}">
                <a16:creationId xmlns:a16="http://schemas.microsoft.com/office/drawing/2014/main" id="{2A3A7DDE-DEA4-4088-9B13-6E37B0D2802F}"/>
              </a:ext>
            </a:extLst>
          </p:cNvPr>
          <p:cNvSpPr/>
          <p:nvPr userDrawn="1"/>
        </p:nvSpPr>
        <p:spPr>
          <a:xfrm rot="5400000" flipH="1">
            <a:off x="6121736" y="5279337"/>
            <a:ext cx="6279749" cy="3157325"/>
          </a:xfrm>
          <a:custGeom>
            <a:avLst/>
            <a:gdLst>
              <a:gd name="connsiteX0" fmla="*/ 486951 w 3100723"/>
              <a:gd name="connsiteY0" fmla="*/ 463834 h 1558978"/>
              <a:gd name="connsiteX1" fmla="*/ 802606 w 3100723"/>
              <a:gd name="connsiteY1" fmla="*/ 333085 h 1558978"/>
              <a:gd name="connsiteX2" fmla="*/ 2298116 w 3100723"/>
              <a:gd name="connsiteY2" fmla="*/ 333085 h 1558978"/>
              <a:gd name="connsiteX3" fmla="*/ 2744519 w 3100723"/>
              <a:gd name="connsiteY3" fmla="*/ 779488 h 1558978"/>
              <a:gd name="connsiteX4" fmla="*/ 2298116 w 3100723"/>
              <a:gd name="connsiteY4" fmla="*/ 1225891 h 1558978"/>
              <a:gd name="connsiteX5" fmla="*/ 802606 w 3100723"/>
              <a:gd name="connsiteY5" fmla="*/ 1225891 h 1558978"/>
              <a:gd name="connsiteX6" fmla="*/ 356203 w 3100723"/>
              <a:gd name="connsiteY6" fmla="*/ 779488 h 1558978"/>
              <a:gd name="connsiteX7" fmla="*/ 486951 w 3100723"/>
              <a:gd name="connsiteY7" fmla="*/ 463834 h 1558978"/>
              <a:gd name="connsiteX8" fmla="*/ 0 w 3100723"/>
              <a:gd name="connsiteY8" fmla="*/ 779488 h 1558978"/>
              <a:gd name="connsiteX9" fmla="*/ 0 w 3100723"/>
              <a:gd name="connsiteY9" fmla="*/ 779489 h 1558978"/>
              <a:gd name="connsiteX10" fmla="*/ 0 w 3100723"/>
              <a:gd name="connsiteY10" fmla="*/ 779488 h 1558978"/>
              <a:gd name="connsiteX11" fmla="*/ 228307 w 3100723"/>
              <a:gd name="connsiteY11" fmla="*/ 228307 h 1558978"/>
              <a:gd name="connsiteX12" fmla="*/ 15836 w 3100723"/>
              <a:gd name="connsiteY12" fmla="*/ 622395 h 1558978"/>
              <a:gd name="connsiteX13" fmla="*/ 0 w 3100723"/>
              <a:gd name="connsiteY13" fmla="*/ 779488 h 1558978"/>
              <a:gd name="connsiteX14" fmla="*/ 15836 w 3100723"/>
              <a:gd name="connsiteY14" fmla="*/ 936582 h 1558978"/>
              <a:gd name="connsiteX15" fmla="*/ 779489 w 3100723"/>
              <a:gd name="connsiteY15" fmla="*/ 1558977 h 1558978"/>
              <a:gd name="connsiteX16" fmla="*/ 2321233 w 3100723"/>
              <a:gd name="connsiteY16" fmla="*/ 1558978 h 1558978"/>
              <a:gd name="connsiteX17" fmla="*/ 3100722 w 3100723"/>
              <a:gd name="connsiteY17" fmla="*/ 779489 h 1558978"/>
              <a:gd name="connsiteX18" fmla="*/ 3100723 w 3100723"/>
              <a:gd name="connsiteY18" fmla="*/ 779489 h 1558978"/>
              <a:gd name="connsiteX19" fmla="*/ 2321234 w 3100723"/>
              <a:gd name="connsiteY19" fmla="*/ 0 h 1558978"/>
              <a:gd name="connsiteX20" fmla="*/ 779489 w 3100723"/>
              <a:gd name="connsiteY20" fmla="*/ 0 h 1558978"/>
              <a:gd name="connsiteX21" fmla="*/ 228307 w 3100723"/>
              <a:gd name="connsiteY21" fmla="*/ 228307 h 155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100723" h="1558978">
                <a:moveTo>
                  <a:pt x="486951" y="463834"/>
                </a:moveTo>
                <a:cubicBezTo>
                  <a:pt x="567734" y="383050"/>
                  <a:pt x="679335" y="333085"/>
                  <a:pt x="802606" y="333085"/>
                </a:cubicBezTo>
                <a:lnTo>
                  <a:pt x="2298116" y="333085"/>
                </a:lnTo>
                <a:cubicBezTo>
                  <a:pt x="2544658" y="333085"/>
                  <a:pt x="2744519" y="532946"/>
                  <a:pt x="2744519" y="779488"/>
                </a:cubicBezTo>
                <a:cubicBezTo>
                  <a:pt x="2744519" y="1026030"/>
                  <a:pt x="2544658" y="1225891"/>
                  <a:pt x="2298116" y="1225891"/>
                </a:cubicBezTo>
                <a:lnTo>
                  <a:pt x="802606" y="1225891"/>
                </a:lnTo>
                <a:cubicBezTo>
                  <a:pt x="556064" y="1225891"/>
                  <a:pt x="356203" y="1026030"/>
                  <a:pt x="356203" y="779488"/>
                </a:cubicBezTo>
                <a:cubicBezTo>
                  <a:pt x="356203" y="656217"/>
                  <a:pt x="406168" y="544616"/>
                  <a:pt x="486951" y="463834"/>
                </a:cubicBezTo>
                <a:close/>
                <a:moveTo>
                  <a:pt x="0" y="779488"/>
                </a:moveTo>
                <a:lnTo>
                  <a:pt x="0" y="779489"/>
                </a:lnTo>
                <a:lnTo>
                  <a:pt x="0" y="779488"/>
                </a:lnTo>
                <a:close/>
                <a:moveTo>
                  <a:pt x="228307" y="228307"/>
                </a:moveTo>
                <a:cubicBezTo>
                  <a:pt x="122512" y="334102"/>
                  <a:pt x="46987" y="470166"/>
                  <a:pt x="15836" y="622395"/>
                </a:cubicBezTo>
                <a:lnTo>
                  <a:pt x="0" y="779488"/>
                </a:lnTo>
                <a:lnTo>
                  <a:pt x="15836" y="936582"/>
                </a:lnTo>
                <a:cubicBezTo>
                  <a:pt x="88521" y="1291782"/>
                  <a:pt x="402802" y="1558977"/>
                  <a:pt x="779489" y="1558977"/>
                </a:cubicBezTo>
                <a:lnTo>
                  <a:pt x="2321233" y="1558978"/>
                </a:lnTo>
                <a:cubicBezTo>
                  <a:pt x="2751733" y="1558978"/>
                  <a:pt x="3100722" y="1209989"/>
                  <a:pt x="3100722" y="779489"/>
                </a:cubicBezTo>
                <a:lnTo>
                  <a:pt x="3100723" y="779489"/>
                </a:lnTo>
                <a:cubicBezTo>
                  <a:pt x="3100723" y="348989"/>
                  <a:pt x="2751734" y="0"/>
                  <a:pt x="2321234" y="0"/>
                </a:cubicBezTo>
                <a:lnTo>
                  <a:pt x="779489" y="0"/>
                </a:lnTo>
                <a:cubicBezTo>
                  <a:pt x="564239" y="0"/>
                  <a:pt x="369367" y="87247"/>
                  <a:pt x="228307" y="228307"/>
                </a:cubicBezTo>
                <a:close/>
              </a:path>
            </a:pathLst>
          </a:custGeom>
          <a:gradFill flip="none" rotWithShape="1">
            <a:gsLst>
              <a:gs pos="0">
                <a:schemeClr val="bg1">
                  <a:lumMod val="95000"/>
                  <a:alpha val="0"/>
                </a:schemeClr>
              </a:gs>
              <a:gs pos="100000">
                <a:schemeClr val="bg1">
                  <a:lumMod val="8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Freeform: Shape 4">
            <a:extLst>
              <a:ext uri="{FF2B5EF4-FFF2-40B4-BE49-F238E27FC236}">
                <a16:creationId xmlns:a16="http://schemas.microsoft.com/office/drawing/2014/main" id="{6256CA12-BD3C-4F6C-ABCE-B67394819F39}"/>
              </a:ext>
            </a:extLst>
          </p:cNvPr>
          <p:cNvSpPr/>
          <p:nvPr userDrawn="1"/>
        </p:nvSpPr>
        <p:spPr>
          <a:xfrm rot="5400000" flipH="1">
            <a:off x="2964411" y="-1578663"/>
            <a:ext cx="6279749" cy="3157325"/>
          </a:xfrm>
          <a:custGeom>
            <a:avLst/>
            <a:gdLst>
              <a:gd name="connsiteX0" fmla="*/ 486951 w 3100723"/>
              <a:gd name="connsiteY0" fmla="*/ 463834 h 1558978"/>
              <a:gd name="connsiteX1" fmla="*/ 802606 w 3100723"/>
              <a:gd name="connsiteY1" fmla="*/ 333085 h 1558978"/>
              <a:gd name="connsiteX2" fmla="*/ 2298116 w 3100723"/>
              <a:gd name="connsiteY2" fmla="*/ 333085 h 1558978"/>
              <a:gd name="connsiteX3" fmla="*/ 2744519 w 3100723"/>
              <a:gd name="connsiteY3" fmla="*/ 779488 h 1558978"/>
              <a:gd name="connsiteX4" fmla="*/ 2298116 w 3100723"/>
              <a:gd name="connsiteY4" fmla="*/ 1225891 h 1558978"/>
              <a:gd name="connsiteX5" fmla="*/ 802606 w 3100723"/>
              <a:gd name="connsiteY5" fmla="*/ 1225891 h 1558978"/>
              <a:gd name="connsiteX6" fmla="*/ 356203 w 3100723"/>
              <a:gd name="connsiteY6" fmla="*/ 779488 h 1558978"/>
              <a:gd name="connsiteX7" fmla="*/ 486951 w 3100723"/>
              <a:gd name="connsiteY7" fmla="*/ 463834 h 1558978"/>
              <a:gd name="connsiteX8" fmla="*/ 0 w 3100723"/>
              <a:gd name="connsiteY8" fmla="*/ 779488 h 1558978"/>
              <a:gd name="connsiteX9" fmla="*/ 0 w 3100723"/>
              <a:gd name="connsiteY9" fmla="*/ 779489 h 1558978"/>
              <a:gd name="connsiteX10" fmla="*/ 0 w 3100723"/>
              <a:gd name="connsiteY10" fmla="*/ 779488 h 1558978"/>
              <a:gd name="connsiteX11" fmla="*/ 228307 w 3100723"/>
              <a:gd name="connsiteY11" fmla="*/ 228307 h 1558978"/>
              <a:gd name="connsiteX12" fmla="*/ 15836 w 3100723"/>
              <a:gd name="connsiteY12" fmla="*/ 622395 h 1558978"/>
              <a:gd name="connsiteX13" fmla="*/ 0 w 3100723"/>
              <a:gd name="connsiteY13" fmla="*/ 779488 h 1558978"/>
              <a:gd name="connsiteX14" fmla="*/ 15836 w 3100723"/>
              <a:gd name="connsiteY14" fmla="*/ 936582 h 1558978"/>
              <a:gd name="connsiteX15" fmla="*/ 779489 w 3100723"/>
              <a:gd name="connsiteY15" fmla="*/ 1558977 h 1558978"/>
              <a:gd name="connsiteX16" fmla="*/ 2321233 w 3100723"/>
              <a:gd name="connsiteY16" fmla="*/ 1558978 h 1558978"/>
              <a:gd name="connsiteX17" fmla="*/ 3100722 w 3100723"/>
              <a:gd name="connsiteY17" fmla="*/ 779489 h 1558978"/>
              <a:gd name="connsiteX18" fmla="*/ 3100723 w 3100723"/>
              <a:gd name="connsiteY18" fmla="*/ 779489 h 1558978"/>
              <a:gd name="connsiteX19" fmla="*/ 2321234 w 3100723"/>
              <a:gd name="connsiteY19" fmla="*/ 0 h 1558978"/>
              <a:gd name="connsiteX20" fmla="*/ 779489 w 3100723"/>
              <a:gd name="connsiteY20" fmla="*/ 0 h 1558978"/>
              <a:gd name="connsiteX21" fmla="*/ 228307 w 3100723"/>
              <a:gd name="connsiteY21" fmla="*/ 228307 h 155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100723" h="1558978">
                <a:moveTo>
                  <a:pt x="486951" y="463834"/>
                </a:moveTo>
                <a:cubicBezTo>
                  <a:pt x="567734" y="383050"/>
                  <a:pt x="679335" y="333085"/>
                  <a:pt x="802606" y="333085"/>
                </a:cubicBezTo>
                <a:lnTo>
                  <a:pt x="2298116" y="333085"/>
                </a:lnTo>
                <a:cubicBezTo>
                  <a:pt x="2544658" y="333085"/>
                  <a:pt x="2744519" y="532946"/>
                  <a:pt x="2744519" y="779488"/>
                </a:cubicBezTo>
                <a:cubicBezTo>
                  <a:pt x="2744519" y="1026030"/>
                  <a:pt x="2544658" y="1225891"/>
                  <a:pt x="2298116" y="1225891"/>
                </a:cubicBezTo>
                <a:lnTo>
                  <a:pt x="802606" y="1225891"/>
                </a:lnTo>
                <a:cubicBezTo>
                  <a:pt x="556064" y="1225891"/>
                  <a:pt x="356203" y="1026030"/>
                  <a:pt x="356203" y="779488"/>
                </a:cubicBezTo>
                <a:cubicBezTo>
                  <a:pt x="356203" y="656217"/>
                  <a:pt x="406168" y="544616"/>
                  <a:pt x="486951" y="463834"/>
                </a:cubicBezTo>
                <a:close/>
                <a:moveTo>
                  <a:pt x="0" y="779488"/>
                </a:moveTo>
                <a:lnTo>
                  <a:pt x="0" y="779489"/>
                </a:lnTo>
                <a:lnTo>
                  <a:pt x="0" y="779488"/>
                </a:lnTo>
                <a:close/>
                <a:moveTo>
                  <a:pt x="228307" y="228307"/>
                </a:moveTo>
                <a:cubicBezTo>
                  <a:pt x="122512" y="334102"/>
                  <a:pt x="46987" y="470166"/>
                  <a:pt x="15836" y="622395"/>
                </a:cubicBezTo>
                <a:lnTo>
                  <a:pt x="0" y="779488"/>
                </a:lnTo>
                <a:lnTo>
                  <a:pt x="15836" y="936582"/>
                </a:lnTo>
                <a:cubicBezTo>
                  <a:pt x="88521" y="1291782"/>
                  <a:pt x="402802" y="1558977"/>
                  <a:pt x="779489" y="1558977"/>
                </a:cubicBezTo>
                <a:lnTo>
                  <a:pt x="2321233" y="1558978"/>
                </a:lnTo>
                <a:cubicBezTo>
                  <a:pt x="2751733" y="1558978"/>
                  <a:pt x="3100722" y="1209989"/>
                  <a:pt x="3100722" y="779489"/>
                </a:cubicBezTo>
                <a:lnTo>
                  <a:pt x="3100723" y="779489"/>
                </a:lnTo>
                <a:cubicBezTo>
                  <a:pt x="3100723" y="348989"/>
                  <a:pt x="2751734" y="0"/>
                  <a:pt x="2321234" y="0"/>
                </a:cubicBezTo>
                <a:lnTo>
                  <a:pt x="779489" y="0"/>
                </a:lnTo>
                <a:cubicBezTo>
                  <a:pt x="564239" y="0"/>
                  <a:pt x="369367" y="87247"/>
                  <a:pt x="228307" y="228307"/>
                </a:cubicBezTo>
                <a:close/>
              </a:path>
            </a:pathLst>
          </a:custGeom>
          <a:gradFill flip="none" rotWithShape="1">
            <a:gsLst>
              <a:gs pos="0">
                <a:schemeClr val="bg1">
                  <a:lumMod val="95000"/>
                  <a:alpha val="0"/>
                </a:schemeClr>
              </a:gs>
              <a:gs pos="100000">
                <a:schemeClr val="bg1">
                  <a:lumMod val="8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3429301530"/>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10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4" decel="100000" fill="hold" grpId="0" nodeType="withEffect">
                                  <p:stCondLst>
                                    <p:cond delay="125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1000" fill="hold"/>
                                        <p:tgtEl>
                                          <p:spTgt spid="4"/>
                                        </p:tgtEl>
                                        <p:attrNameLst>
                                          <p:attrName>ppt_x</p:attrName>
                                        </p:attrNameLst>
                                      </p:cBhvr>
                                      <p:tavLst>
                                        <p:tav tm="0">
                                          <p:val>
                                            <p:strVal val="#ppt_x"/>
                                          </p:val>
                                        </p:tav>
                                        <p:tav tm="100000">
                                          <p:val>
                                            <p:strVal val="#ppt_x"/>
                                          </p:val>
                                        </p:tav>
                                      </p:tavLst>
                                    </p:anim>
                                    <p:anim calcmode="lin" valueType="num">
                                      <p:cBhvr additive="base">
                                        <p:cTn id="12" dur="10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1" decel="100000" fill="hold" grpId="0" nodeType="withEffect" nodePh="1">
                                  <p:stCondLst>
                                    <p:cond delay="1500"/>
                                  </p:stCondLst>
                                  <p:endCondLst>
                                    <p:cond evt="begin" delay="0">
                                      <p:tn val="13"/>
                                    </p:cond>
                                  </p:end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1000" fill="hold"/>
                                        <p:tgtEl>
                                          <p:spTgt spid="6"/>
                                        </p:tgtEl>
                                        <p:attrNameLst>
                                          <p:attrName>ppt_x</p:attrName>
                                        </p:attrNameLst>
                                      </p:cBhvr>
                                      <p:tavLst>
                                        <p:tav tm="0">
                                          <p:val>
                                            <p:strVal val="#ppt_x"/>
                                          </p:val>
                                        </p:tav>
                                        <p:tav tm="100000">
                                          <p:val>
                                            <p:strVal val="#ppt_x"/>
                                          </p:val>
                                        </p:tav>
                                      </p:tavLst>
                                    </p:anim>
                                    <p:anim calcmode="lin" valueType="num">
                                      <p:cBhvr additive="base">
                                        <p:cTn id="16" dur="1000" fill="hold"/>
                                        <p:tgtEl>
                                          <p:spTgt spid="6"/>
                                        </p:tgtEl>
                                        <p:attrNameLst>
                                          <p:attrName>ppt_y</p:attrName>
                                        </p:attrNameLst>
                                      </p:cBhvr>
                                      <p:tavLst>
                                        <p:tav tm="0">
                                          <p:val>
                                            <p:strVal val="0-#ppt_h/2"/>
                                          </p:val>
                                        </p:tav>
                                        <p:tav tm="100000">
                                          <p:val>
                                            <p:strVal val="#ppt_y"/>
                                          </p:val>
                                        </p:tav>
                                      </p:tavLst>
                                    </p:anim>
                                  </p:childTnLst>
                                </p:cTn>
                              </p:par>
                              <p:par>
                                <p:cTn id="17" presetID="2" presetClass="entr" presetSubtype="4" decel="100000" fill="hold" grpId="0" nodeType="withEffect" nodePh="1">
                                  <p:stCondLst>
                                    <p:cond delay="175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1000" fill="hold"/>
                                        <p:tgtEl>
                                          <p:spTgt spid="7"/>
                                        </p:tgtEl>
                                        <p:attrNameLst>
                                          <p:attrName>ppt_x</p:attrName>
                                        </p:attrNameLst>
                                      </p:cBhvr>
                                      <p:tavLst>
                                        <p:tav tm="0">
                                          <p:val>
                                            <p:strVal val="#ppt_x"/>
                                          </p:val>
                                        </p:tav>
                                        <p:tav tm="100000">
                                          <p:val>
                                            <p:strVal val="#ppt_x"/>
                                          </p:val>
                                        </p:tav>
                                      </p:tavLst>
                                    </p:anim>
                                    <p:anim calcmode="lin" valueType="num">
                                      <p:cBhvr additive="base">
                                        <p:cTn id="20" dur="10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P spid="4" grpId="0" animBg="1"/>
      <p:bldP spid="5"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C68E35AA-D3D5-4F7A-B836-637BB6611173}" type="datetimeFigureOut">
              <a:rPr lang="zh-CN" altLang="en-US" smtClean="0"/>
              <a:t>2026/5/4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9D844BB-7D78-41AA-8441-70D6B8EC2945}" type="slidenum">
              <a:rPr lang="zh-CN" altLang="en-US" smtClean="0"/>
              <a:t>‹#›</a:t>
            </a:fld>
            <a:endParaRPr lang="zh-CN" altLang="en-US"/>
          </a:p>
        </p:txBody>
      </p:sp>
    </p:spTree>
    <p:extLst>
      <p:ext uri="{BB962C8B-B14F-4D97-AF65-F5344CB8AC3E}">
        <p14:creationId xmlns:p14="http://schemas.microsoft.com/office/powerpoint/2010/main" val="2866169668"/>
      </p:ext>
    </p:extLst>
  </p:cSld>
  <p:clrMapOvr>
    <a:masterClrMapping/>
  </p:clrMapOvr>
  <p:transition spd="slow">
    <p:comb/>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68E35AA-D3D5-4F7A-B836-637BB6611173}" type="datetimeFigureOut">
              <a:rPr lang="zh-CN" altLang="en-US" smtClean="0"/>
              <a:t>2026/5/4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9D844BB-7D78-41AA-8441-70D6B8EC2945}" type="slidenum">
              <a:rPr lang="zh-CN" altLang="en-US" smtClean="0"/>
              <a:t>‹#›</a:t>
            </a:fld>
            <a:endParaRPr lang="zh-CN" altLang="en-US"/>
          </a:p>
        </p:txBody>
      </p:sp>
    </p:spTree>
    <p:extLst>
      <p:ext uri="{BB962C8B-B14F-4D97-AF65-F5344CB8AC3E}">
        <p14:creationId xmlns:p14="http://schemas.microsoft.com/office/powerpoint/2010/main" val="3452756454"/>
      </p:ext>
    </p:extLst>
  </p:cSld>
  <p:clrMapOvr>
    <a:masterClrMapping/>
  </p:clrMapOvr>
  <p:transition spd="slow">
    <p:comb/>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C68E35AA-D3D5-4F7A-B836-637BB6611173}" type="datetimeFigureOut">
              <a:rPr lang="zh-CN" altLang="en-US" smtClean="0"/>
              <a:t>2026/5/4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9D844BB-7D78-41AA-8441-70D6B8EC2945}" type="slidenum">
              <a:rPr lang="zh-CN" altLang="en-US" smtClean="0"/>
              <a:t>‹#›</a:t>
            </a:fld>
            <a:endParaRPr lang="zh-CN" altLang="en-US"/>
          </a:p>
        </p:txBody>
      </p:sp>
    </p:spTree>
    <p:extLst>
      <p:ext uri="{BB962C8B-B14F-4D97-AF65-F5344CB8AC3E}">
        <p14:creationId xmlns:p14="http://schemas.microsoft.com/office/powerpoint/2010/main" val="3221967890"/>
      </p:ext>
    </p:extLst>
  </p:cSld>
  <p:clrMapOvr>
    <a:masterClrMapping/>
  </p:clrMapOvr>
  <p:transition spd="slow">
    <p:comb/>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C68E35AA-D3D5-4F7A-B836-637BB6611173}" type="datetimeFigureOut">
              <a:rPr lang="zh-CN" altLang="en-US" smtClean="0"/>
              <a:t>2026/5/4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9D844BB-7D78-41AA-8441-70D6B8EC2945}" type="slidenum">
              <a:rPr lang="zh-CN" altLang="en-US" smtClean="0"/>
              <a:t>‹#›</a:t>
            </a:fld>
            <a:endParaRPr lang="zh-CN" altLang="en-US"/>
          </a:p>
        </p:txBody>
      </p:sp>
    </p:spTree>
    <p:extLst>
      <p:ext uri="{BB962C8B-B14F-4D97-AF65-F5344CB8AC3E}">
        <p14:creationId xmlns:p14="http://schemas.microsoft.com/office/powerpoint/2010/main" val="3039666599"/>
      </p:ext>
    </p:extLst>
  </p:cSld>
  <p:clrMapOvr>
    <a:masterClrMapping/>
  </p:clrMapOvr>
  <p:transition spd="slow">
    <p:comb/>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C68E35AA-D3D5-4F7A-B836-637BB6611173}" type="datetimeFigureOut">
              <a:rPr lang="zh-CN" altLang="en-US" smtClean="0"/>
              <a:t>2026/5/4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9D844BB-7D78-41AA-8441-70D6B8EC2945}" type="slidenum">
              <a:rPr lang="zh-CN" altLang="en-US" smtClean="0"/>
              <a:t>‹#›</a:t>
            </a:fld>
            <a:endParaRPr lang="zh-CN" altLang="en-US"/>
          </a:p>
        </p:txBody>
      </p:sp>
    </p:spTree>
    <p:extLst>
      <p:ext uri="{BB962C8B-B14F-4D97-AF65-F5344CB8AC3E}">
        <p14:creationId xmlns:p14="http://schemas.microsoft.com/office/powerpoint/2010/main" val="4049879543"/>
      </p:ext>
    </p:extLst>
  </p:cSld>
  <p:clrMapOvr>
    <a:masterClrMapping/>
  </p:clrMapOvr>
  <p:transition spd="slow">
    <p:comb/>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C68E35AA-D3D5-4F7A-B836-637BB6611173}" type="datetimeFigureOut">
              <a:rPr lang="zh-CN" altLang="en-US" smtClean="0"/>
              <a:t>2026/5/4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9D844BB-7D78-41AA-8441-70D6B8EC2945}" type="slidenum">
              <a:rPr lang="zh-CN" altLang="en-US" smtClean="0"/>
              <a:t>‹#›</a:t>
            </a:fld>
            <a:endParaRPr lang="zh-CN" altLang="en-US"/>
          </a:p>
        </p:txBody>
      </p:sp>
    </p:spTree>
    <p:extLst>
      <p:ext uri="{BB962C8B-B14F-4D97-AF65-F5344CB8AC3E}">
        <p14:creationId xmlns:p14="http://schemas.microsoft.com/office/powerpoint/2010/main" val="688264098"/>
      </p:ext>
    </p:extLst>
  </p:cSld>
  <p:clrMapOvr>
    <a:masterClrMapping/>
  </p:clrMapOvr>
  <p:transition spd="slow">
    <p:comb/>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68E35AA-D3D5-4F7A-B836-637BB6611173}" type="datetimeFigureOut">
              <a:rPr lang="zh-CN" altLang="en-US" smtClean="0"/>
              <a:t>2026/5/4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9D844BB-7D78-41AA-8441-70D6B8EC2945}" type="slidenum">
              <a:rPr lang="zh-CN" altLang="en-US" smtClean="0"/>
              <a:t>‹#›</a:t>
            </a:fld>
            <a:endParaRPr lang="zh-CN" altLang="en-US"/>
          </a:p>
        </p:txBody>
      </p:sp>
    </p:spTree>
    <p:extLst>
      <p:ext uri="{BB962C8B-B14F-4D97-AF65-F5344CB8AC3E}">
        <p14:creationId xmlns:p14="http://schemas.microsoft.com/office/powerpoint/2010/main" val="1162849091"/>
      </p:ext>
    </p:extLst>
  </p:cSld>
  <p:clrMapOvr>
    <a:masterClrMapping/>
  </p:clrMapOvr>
  <p:transition spd="slow">
    <p:comb/>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68E35AA-D3D5-4F7A-B836-637BB6611173}" type="datetimeFigureOut">
              <a:rPr lang="zh-CN" altLang="en-US" smtClean="0"/>
              <a:t>2026/5/4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9D844BB-7D78-41AA-8441-70D6B8EC2945}" type="slidenum">
              <a:rPr lang="zh-CN" altLang="en-US" smtClean="0"/>
              <a:t>‹#›</a:t>
            </a:fld>
            <a:endParaRPr lang="zh-CN" altLang="en-US"/>
          </a:p>
        </p:txBody>
      </p:sp>
    </p:spTree>
    <p:extLst>
      <p:ext uri="{BB962C8B-B14F-4D97-AF65-F5344CB8AC3E}">
        <p14:creationId xmlns:p14="http://schemas.microsoft.com/office/powerpoint/2010/main" val="971751620"/>
      </p:ext>
    </p:extLst>
  </p:cSld>
  <p:clrMapOvr>
    <a:masterClrMapping/>
  </p:clrMapOvr>
  <p:transition spd="slow">
    <p:comb/>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68E35AA-D3D5-4F7A-B836-637BB6611173}" type="datetimeFigureOut">
              <a:rPr lang="zh-CN" altLang="en-US" smtClean="0"/>
              <a:t>2026/5/4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9D844BB-7D78-41AA-8441-70D6B8EC2945}" type="slidenum">
              <a:rPr lang="zh-CN" altLang="en-US" smtClean="0"/>
              <a:t>‹#›</a:t>
            </a:fld>
            <a:endParaRPr lang="zh-CN" altLang="en-US"/>
          </a:p>
        </p:txBody>
      </p:sp>
    </p:spTree>
    <p:extLst>
      <p:ext uri="{BB962C8B-B14F-4D97-AF65-F5344CB8AC3E}">
        <p14:creationId xmlns:p14="http://schemas.microsoft.com/office/powerpoint/2010/main" val="2055739399"/>
      </p:ext>
    </p:extLst>
  </p:cSld>
  <p:clrMapOvr>
    <a:masterClrMapping/>
  </p:clrMapOvr>
  <p:transition spd="slow">
    <p:comb/>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68E35AA-D3D5-4F7A-B836-637BB6611173}" type="datetimeFigureOut">
              <a:rPr lang="zh-CN" altLang="en-US" smtClean="0"/>
              <a:t>2026/5/4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9D844BB-7D78-41AA-8441-70D6B8EC2945}" type="slidenum">
              <a:rPr lang="zh-CN" altLang="en-US" smtClean="0"/>
              <a:t>‹#›</a:t>
            </a:fld>
            <a:endParaRPr lang="zh-CN" altLang="en-US"/>
          </a:p>
        </p:txBody>
      </p:sp>
    </p:spTree>
    <p:extLst>
      <p:ext uri="{BB962C8B-B14F-4D97-AF65-F5344CB8AC3E}">
        <p14:creationId xmlns:p14="http://schemas.microsoft.com/office/powerpoint/2010/main" val="2824114701"/>
      </p:ext>
    </p:extLst>
  </p:cSld>
  <p:clrMapOvr>
    <a:masterClrMapping/>
  </p:clrMapOvr>
  <p:transition spd="slow">
    <p:comb/>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68E35AA-D3D5-4F7A-B836-637BB6611173}" type="datetimeFigureOut">
              <a:rPr lang="zh-CN" altLang="en-US" smtClean="0"/>
              <a:t>2026/5/4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9D844BB-7D78-41AA-8441-70D6B8EC2945}" type="slidenum">
              <a:rPr lang="zh-CN" altLang="en-US" smtClean="0"/>
              <a:t>‹#›</a:t>
            </a:fld>
            <a:endParaRPr lang="zh-CN" altLang="en-US"/>
          </a:p>
        </p:txBody>
      </p:sp>
    </p:spTree>
    <p:extLst>
      <p:ext uri="{BB962C8B-B14F-4D97-AF65-F5344CB8AC3E}">
        <p14:creationId xmlns:p14="http://schemas.microsoft.com/office/powerpoint/2010/main" val="2190878625"/>
      </p:ext>
    </p:extLst>
  </p:cSld>
  <p:clrMapOvr>
    <a:masterClrMapping/>
  </p:clrMapOvr>
  <p:transition spd="slow">
    <p:comb/>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62" r:id="rId2"/>
    <p:sldLayoutId id="2147483663" r:id="rId3"/>
    <p:sldLayoutId id="2147483664"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8E35AA-D3D5-4F7A-B836-637BB6611173}" type="datetimeFigureOut">
              <a:rPr lang="zh-CN" altLang="en-US" smtClean="0"/>
              <a:t>2026/5/4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D844BB-7D78-41AA-8441-70D6B8EC2945}" type="slidenum">
              <a:rPr lang="zh-CN" altLang="en-US" smtClean="0"/>
              <a:t>‹#›</a:t>
            </a:fld>
            <a:endParaRPr lang="zh-CN" altLang="en-US"/>
          </a:p>
        </p:txBody>
      </p:sp>
    </p:spTree>
    <p:extLst>
      <p:ext uri="{BB962C8B-B14F-4D97-AF65-F5344CB8AC3E}">
        <p14:creationId xmlns:p14="http://schemas.microsoft.com/office/powerpoint/2010/main" val="3250342972"/>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ransition spd="slow">
    <p:comb/>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doi.org/10.3390/ijerph16132415" TargetMode="External"/><Relationship Id="rId2" Type="http://schemas.openxmlformats.org/officeDocument/2006/relationships/hyperlink" Target="https://doi.org/10.1146/annurev.psych.60.110707.163459" TargetMode="External"/><Relationship Id="rId1" Type="http://schemas.openxmlformats.org/officeDocument/2006/relationships/slideLayout" Target="../slideLayouts/slideLayout2.xml"/><Relationship Id="rId6" Type="http://schemas.openxmlformats.org/officeDocument/2006/relationships/hyperlink" Target="https://www.kaggle.com/datasets/uciml/student-alcohol-consumption?utm_source=chatgpt.com" TargetMode="External"/><Relationship Id="rId5" Type="http://schemas.openxmlformats.org/officeDocument/2006/relationships/hyperlink" Target="https://www.cdc.gov/intimate-partner-violence/php/datingmatters/index.html?utm_source=chatgpt.com" TargetMode="External"/><Relationship Id="rId4" Type="http://schemas.openxmlformats.org/officeDocument/2006/relationships/hyperlink" Target="https://doi.org/10.1007/s10964-021-01511-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88761" y="0"/>
            <a:ext cx="10303239" cy="6869472"/>
          </a:xfrm>
          <a:prstGeom prst="rect">
            <a:avLst/>
          </a:prstGeom>
        </p:spPr>
      </p:pic>
      <p:sp>
        <p:nvSpPr>
          <p:cNvPr id="6" name="文本框 5"/>
          <p:cNvSpPr txBox="1"/>
          <p:nvPr/>
        </p:nvSpPr>
        <p:spPr>
          <a:xfrm>
            <a:off x="-3893809" y="1738529"/>
            <a:ext cx="11759197" cy="1323439"/>
          </a:xfrm>
          <a:prstGeom prst="rect">
            <a:avLst/>
          </a:prstGeom>
          <a:noFill/>
          <a:effectLst/>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4000" b="1" i="0" u="none" strike="noStrike" kern="1200" cap="none" spc="0" normalizeH="0" baseline="0" noProof="0" dirty="0">
                <a:ln>
                  <a:noFill/>
                </a:ln>
                <a:solidFill>
                  <a:srgbClr val="1C617E"/>
                </a:solidFill>
                <a:effectLst/>
                <a:uLnTx/>
                <a:uFillTx/>
                <a:latin typeface="微软雅黑" panose="020B0503020204020204" pitchFamily="34" charset="-122"/>
                <a:ea typeface="微软雅黑" panose="020B0503020204020204" pitchFamily="34" charset="-122"/>
                <a:cs typeface="+mn-cs"/>
              </a:rPr>
              <a:t>Predicting Student</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4000" b="1" i="0" u="none" strike="noStrike" kern="1200" cap="none" spc="0" normalizeH="0" baseline="0" noProof="0" dirty="0">
                <a:ln>
                  <a:noFill/>
                </a:ln>
                <a:solidFill>
                  <a:srgbClr val="1C617E"/>
                </a:solidFill>
                <a:effectLst/>
                <a:uLnTx/>
                <a:uFillTx/>
                <a:latin typeface="微软雅黑" panose="020B0503020204020204" pitchFamily="34" charset="-122"/>
                <a:ea typeface="微软雅黑" panose="020B0503020204020204" pitchFamily="34" charset="-122"/>
                <a:cs typeface="+mn-cs"/>
              </a:rPr>
              <a:t>Romantic Relationship Status</a:t>
            </a:r>
          </a:p>
        </p:txBody>
      </p:sp>
      <p:sp>
        <p:nvSpPr>
          <p:cNvPr id="7" name="文本框 6"/>
          <p:cNvSpPr txBox="1"/>
          <p:nvPr/>
        </p:nvSpPr>
        <p:spPr>
          <a:xfrm>
            <a:off x="2453075" y="4128758"/>
            <a:ext cx="3830288" cy="369332"/>
          </a:xfrm>
          <a:prstGeom prst="rect">
            <a:avLst/>
          </a:prstGeom>
          <a:noFill/>
        </p:spPr>
        <p:txBody>
          <a:bodyPr wrap="square" rtlCol="0">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方正小标宋简体" panose="02010601030101010101" charset="-122"/>
                <a:ea typeface="方正小标宋简体" panose="02010601030101010101" charset="-122"/>
                <a:cs typeface="方正小标宋简体" panose="02010601030101010101" charset="-122"/>
                <a:sym typeface="+mn-ea"/>
              </a:rPr>
              <a:t>4/2026 </a:t>
            </a:r>
            <a:endParaRPr kumimoji="0" lang="zh-CN" altLang="en-US" sz="1800" b="1" i="0" u="none" strike="noStrike" kern="1200" cap="none" spc="0" normalizeH="0" baseline="0" noProof="0" dirty="0">
              <a:ln>
                <a:noFill/>
              </a:ln>
              <a:solidFill>
                <a:prstClr val="black"/>
              </a:solidFill>
              <a:effectLst/>
              <a:uLnTx/>
              <a:uFillTx/>
              <a:latin typeface="方正小标宋简体" panose="02010601030101010101" charset="-122"/>
              <a:ea typeface="方正小标宋简体" panose="02010601030101010101" charset="-122"/>
              <a:cs typeface="方正小标宋简体" panose="02010601030101010101" charset="-122"/>
              <a:sym typeface="+mn-ea"/>
            </a:endParaRPr>
          </a:p>
        </p:txBody>
      </p:sp>
      <p:grpSp>
        <p:nvGrpSpPr>
          <p:cNvPr id="8" name="组合 7"/>
          <p:cNvGrpSpPr/>
          <p:nvPr/>
        </p:nvGrpSpPr>
        <p:grpSpPr>
          <a:xfrm flipH="1">
            <a:off x="2990955" y="3889134"/>
            <a:ext cx="3165975" cy="61816"/>
            <a:chOff x="6654916" y="3745935"/>
            <a:chExt cx="4033782" cy="78760"/>
          </a:xfrm>
          <a:solidFill>
            <a:schemeClr val="tx1">
              <a:lumMod val="50000"/>
              <a:lumOff val="50000"/>
            </a:schemeClr>
          </a:solidFill>
        </p:grpSpPr>
        <p:cxnSp>
          <p:nvCxnSpPr>
            <p:cNvPr id="9" name="直接连接符 8"/>
            <p:cNvCxnSpPr/>
            <p:nvPr/>
          </p:nvCxnSpPr>
          <p:spPr>
            <a:xfrm>
              <a:off x="6667054" y="3785315"/>
              <a:ext cx="4021644" cy="0"/>
            </a:xfrm>
            <a:prstGeom prst="line">
              <a:avLst/>
            </a:prstGeom>
            <a:grpFill/>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54916" y="3745935"/>
              <a:ext cx="756097" cy="78760"/>
            </a:xfrm>
            <a:prstGeom prst="rect">
              <a:avLst/>
            </a:prstGeom>
            <a:solidFill>
              <a:srgbClr val="1C61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
        <p:nvSpPr>
          <p:cNvPr id="2" name="Text 1">
            <a:extLst>
              <a:ext uri="{FF2B5EF4-FFF2-40B4-BE49-F238E27FC236}">
                <a16:creationId xmlns:a16="http://schemas.microsoft.com/office/drawing/2014/main" id="{3E52EC4B-E2E0-6E1F-B40E-384703199650}"/>
              </a:ext>
            </a:extLst>
          </p:cNvPr>
          <p:cNvSpPr/>
          <p:nvPr/>
        </p:nvSpPr>
        <p:spPr>
          <a:xfrm>
            <a:off x="487887" y="3170965"/>
            <a:ext cx="70408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prstClr val="black"/>
                </a:solidFill>
                <a:effectLst/>
                <a:uLnTx/>
                <a:uFillTx/>
                <a:latin typeface="Aptos" pitchFamily="34" charset="0"/>
                <a:ea typeface="Aptos" pitchFamily="34" charset="-122"/>
                <a:cs typeface="Aptos" pitchFamily="34" charset="-120"/>
              </a:rPr>
              <a:t>A machine-learning capstone using the Kaggle Student Alcohol Consumption dataset</a:t>
            </a:r>
            <a:endParaRPr kumimoji="0" lang="en-US" sz="155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Text 2">
            <a:extLst>
              <a:ext uri="{FF2B5EF4-FFF2-40B4-BE49-F238E27FC236}">
                <a16:creationId xmlns:a16="http://schemas.microsoft.com/office/drawing/2014/main" id="{1E1F505F-7E0D-475F-BF27-FBBA87BE2624}"/>
              </a:ext>
            </a:extLst>
          </p:cNvPr>
          <p:cNvSpPr/>
          <p:nvPr/>
        </p:nvSpPr>
        <p:spPr>
          <a:xfrm>
            <a:off x="4008327" y="3623504"/>
            <a:ext cx="32004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itchFamily="34" charset="0"/>
                <a:ea typeface="Aptos" pitchFamily="34" charset="-122"/>
                <a:cs typeface="Aptos" pitchFamily="34" charset="-120"/>
              </a:rPr>
              <a:t>Weiyang Sheng</a:t>
            </a: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14" name="Text 5">
            <a:extLst>
              <a:ext uri="{FF2B5EF4-FFF2-40B4-BE49-F238E27FC236}">
                <a16:creationId xmlns:a16="http://schemas.microsoft.com/office/drawing/2014/main" id="{9F753796-3220-753C-1DA8-BD0A9A06B9AB}"/>
              </a:ext>
            </a:extLst>
          </p:cNvPr>
          <p:cNvSpPr/>
          <p:nvPr/>
        </p:nvSpPr>
        <p:spPr>
          <a:xfrm>
            <a:off x="406888" y="4386004"/>
            <a:ext cx="3166982" cy="19309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a:ea typeface="+mn-ea"/>
                <a:cs typeface="+mn-cs"/>
              </a:rPr>
              <a:t>Random Forest</a:t>
            </a:r>
            <a:endParaRPr kumimoji="0" lang="en-US" sz="2200" b="0" i="0" u="none" strike="noStrike" kern="1200" cap="none" spc="0" normalizeH="0" baseline="0" noProof="0" dirty="0">
              <a:ln>
                <a:noFill/>
              </a:ln>
              <a:solidFill>
                <a:prstClr val="black"/>
              </a:solidFill>
              <a:effectLst/>
              <a:uLnTx/>
              <a:uFillTx/>
              <a:latin typeface="Calibri"/>
              <a:ea typeface="+mn-ea"/>
              <a:cs typeface="+mn-cs"/>
            </a:endParaRPr>
          </a:p>
        </p:txBody>
      </p:sp>
    </p:spTree>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26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pic>
        <p:nvPicPr>
          <p:cNvPr id="17" name="图片占位符 48" descr="e7d195523061f1c03a90ee8e42cb24248e56383cd534985688F9F494128731F165EE95AB4B0C0A38076AAEA07667B1565C446FC45FF01DFB0E885BCDBDF3A284F3DB14DA61DD97F0BAB2E6C668FB49312D8A702330F6D99A32E431D743AEA352730A5DC99E77695B9E88E40D60C32BA28C17BB7CABD1A46AF23594DF6528BF791C5C014762CD5143DAF29347DE3D1A39">
            <a:extLst>
              <a:ext uri="{FF2B5EF4-FFF2-40B4-BE49-F238E27FC236}">
                <a16:creationId xmlns:a16="http://schemas.microsoft.com/office/drawing/2014/main" id="{A1A4E8B5-9DC4-31D3-21EA-BC6598D0694C}"/>
              </a:ext>
            </a:extLst>
          </p:cNvPr>
          <p:cNvPicPr>
            <a:picLocks noChangeAspect="1"/>
          </p:cNvPicPr>
          <p:nvPr/>
        </p:nvPicPr>
        <p:blipFill>
          <a:blip r:embed="rId3" cstate="print">
            <a:duotone>
              <a:srgbClr val="FFFFFF">
                <a:shade val="45000"/>
                <a:satMod val="135000"/>
              </a:srgbClr>
              <a:prstClr val="white"/>
            </a:duotone>
            <a:extLst>
              <a:ext uri="{28A0092B-C50C-407E-A947-70E740481C1C}">
                <a14:useLocalDpi xmlns:a14="http://schemas.microsoft.com/office/drawing/2010/main" val="0"/>
              </a:ext>
            </a:extLst>
          </a:blip>
          <a:srcRect t="21875" b="21875"/>
          <a:stretch>
            <a:fillRect/>
          </a:stretch>
        </p:blipFill>
        <p:spPr>
          <a:xfrm>
            <a:off x="0" y="1"/>
            <a:ext cx="12192000" cy="6858000"/>
          </a:xfrm>
          <a:custGeom>
            <a:avLst/>
            <a:gdLst>
              <a:gd name="connsiteX0" fmla="*/ 0 w 4203290"/>
              <a:gd name="connsiteY0" fmla="*/ 0 h 6858000"/>
              <a:gd name="connsiteX1" fmla="*/ 4203290 w 4203290"/>
              <a:gd name="connsiteY1" fmla="*/ 0 h 6858000"/>
              <a:gd name="connsiteX2" fmla="*/ 4203290 w 4203290"/>
              <a:gd name="connsiteY2" fmla="*/ 6858000 h 6858000"/>
              <a:gd name="connsiteX3" fmla="*/ 0 w 420329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03290" h="6858000">
                <a:moveTo>
                  <a:pt x="0" y="0"/>
                </a:moveTo>
                <a:lnTo>
                  <a:pt x="4203290" y="0"/>
                </a:lnTo>
                <a:lnTo>
                  <a:pt x="4203290" y="6858000"/>
                </a:lnTo>
                <a:lnTo>
                  <a:pt x="0" y="6858000"/>
                </a:lnTo>
                <a:close/>
              </a:path>
            </a:pathLst>
          </a:custGeom>
          <a:solidFill>
            <a:srgbClr val="FFFFFF">
              <a:lumMod val="95000"/>
              <a:alpha val="40000"/>
            </a:srgbClr>
          </a:solidFill>
        </p:spPr>
      </p:pic>
      <p:sp>
        <p:nvSpPr>
          <p:cNvPr id="2" name="Text 0"/>
          <p:cNvSpPr/>
          <p:nvPr/>
        </p:nvSpPr>
        <p:spPr>
          <a:xfrm>
            <a:off x="502920" y="320040"/>
            <a:ext cx="5029200" cy="201168"/>
          </a:xfrm>
          <a:prstGeom prst="rect">
            <a:avLst/>
          </a:prstGeom>
          <a:noFill/>
          <a:ln/>
        </p:spPr>
        <p:txBody>
          <a:bodyPr wrap="square" lIns="0" tIns="0" rIns="0" bIns="0" rtlCol="0" anchor="ctr"/>
          <a:lstStyle/>
          <a:p>
            <a:pPr marL="0" indent="0">
              <a:buNone/>
            </a:pPr>
            <a:r>
              <a:rPr lang="en-US" sz="900" b="1" dirty="0">
                <a:solidFill>
                  <a:srgbClr val="007B83"/>
                </a:solidFill>
                <a:latin typeface="Aptos" pitchFamily="34" charset="0"/>
                <a:ea typeface="Aptos" pitchFamily="34" charset="-122"/>
                <a:cs typeface="Aptos" pitchFamily="34" charset="-120"/>
              </a:rPr>
              <a:t>RESEARCH MOTIVATION</a:t>
            </a:r>
            <a:endParaRPr lang="en-US" sz="900" dirty="0"/>
          </a:p>
        </p:txBody>
      </p:sp>
      <p:sp>
        <p:nvSpPr>
          <p:cNvPr id="3" name="Text 1"/>
          <p:cNvSpPr/>
          <p:nvPr/>
        </p:nvSpPr>
        <p:spPr>
          <a:xfrm>
            <a:off x="502920" y="576072"/>
            <a:ext cx="11064240" cy="502920"/>
          </a:xfrm>
          <a:prstGeom prst="rect">
            <a:avLst/>
          </a:prstGeom>
          <a:noFill/>
          <a:ln/>
        </p:spPr>
        <p:txBody>
          <a:bodyPr wrap="square" lIns="0" tIns="0" rIns="0" bIns="0" rtlCol="0" anchor="ctr">
            <a:normAutofit/>
          </a:bodyPr>
          <a:lstStyle/>
          <a:p>
            <a:pPr marL="0" indent="0">
              <a:buNone/>
            </a:pPr>
            <a:r>
              <a:rPr lang="en-US" sz="2800" b="1" dirty="0">
                <a:solidFill>
                  <a:srgbClr val="1E293B"/>
                </a:solidFill>
                <a:latin typeface="Aptos Display" pitchFamily="34" charset="0"/>
                <a:ea typeface="Aptos Display" pitchFamily="34" charset="-122"/>
                <a:cs typeface="Aptos Display" pitchFamily="34" charset="-120"/>
              </a:rPr>
              <a:t>Why this question matters</a:t>
            </a:r>
            <a:endParaRPr lang="en-US" sz="2800" dirty="0"/>
          </a:p>
        </p:txBody>
      </p:sp>
      <p:sp>
        <p:nvSpPr>
          <p:cNvPr id="4" name="Shape 2"/>
          <p:cNvSpPr/>
          <p:nvPr/>
        </p:nvSpPr>
        <p:spPr>
          <a:xfrm>
            <a:off x="502920" y="1124712"/>
            <a:ext cx="11064240" cy="0"/>
          </a:xfrm>
          <a:prstGeom prst="line">
            <a:avLst/>
          </a:prstGeom>
          <a:noFill/>
          <a:ln w="12700">
            <a:solidFill>
              <a:srgbClr val="E2E8F0"/>
            </a:solidFill>
            <a:prstDash val="solid"/>
          </a:ln>
        </p:spPr>
        <p:txBody>
          <a:bodyPr/>
          <a:lstStyle/>
          <a:p>
            <a:endParaRPr lang="en-US"/>
          </a:p>
        </p:txBody>
      </p:sp>
      <p:sp>
        <p:nvSpPr>
          <p:cNvPr id="5" name="Text 3"/>
          <p:cNvSpPr/>
          <p:nvPr/>
        </p:nvSpPr>
        <p:spPr>
          <a:xfrm>
            <a:off x="438912" y="6528816"/>
            <a:ext cx="5760720" cy="201168"/>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Predicting Student Romantic Relationship Status</a:t>
            </a:r>
            <a:endParaRPr lang="en-US" sz="750" dirty="0"/>
          </a:p>
        </p:txBody>
      </p:sp>
      <p:sp>
        <p:nvSpPr>
          <p:cNvPr id="6" name="Text 4"/>
          <p:cNvSpPr/>
          <p:nvPr/>
        </p:nvSpPr>
        <p:spPr>
          <a:xfrm>
            <a:off x="11539728" y="6510528"/>
            <a:ext cx="320040" cy="201168"/>
          </a:xfrm>
          <a:prstGeom prst="rect">
            <a:avLst/>
          </a:prstGeom>
          <a:noFill/>
          <a:ln/>
        </p:spPr>
        <p:txBody>
          <a:bodyPr wrap="square" lIns="0" tIns="0" rIns="0" bIns="0" rtlCol="0" anchor="ctr"/>
          <a:lstStyle/>
          <a:p>
            <a:pPr marL="0" indent="0" algn="r">
              <a:buNone/>
            </a:pPr>
            <a:r>
              <a:rPr lang="en-US" sz="750" dirty="0">
                <a:solidFill>
                  <a:srgbClr val="64748B"/>
                </a:solidFill>
                <a:latin typeface="Aptos" pitchFamily="34" charset="0"/>
                <a:ea typeface="Aptos" pitchFamily="34" charset="-122"/>
                <a:cs typeface="Aptos" pitchFamily="34" charset="-120"/>
              </a:rPr>
              <a:t>01</a:t>
            </a:r>
            <a:endParaRPr lang="en-US" sz="750" dirty="0"/>
          </a:p>
        </p:txBody>
      </p:sp>
      <p:sp>
        <p:nvSpPr>
          <p:cNvPr id="7" name="Text 5"/>
          <p:cNvSpPr/>
          <p:nvPr/>
        </p:nvSpPr>
        <p:spPr>
          <a:xfrm>
            <a:off x="621792" y="1417320"/>
            <a:ext cx="5257800" cy="1005840"/>
          </a:xfrm>
          <a:prstGeom prst="rect">
            <a:avLst/>
          </a:prstGeom>
          <a:noFill/>
          <a:ln/>
        </p:spPr>
        <p:txBody>
          <a:bodyPr wrap="square" lIns="508" tIns="508" rIns="508" bIns="508" rtlCol="0" anchor="t">
            <a:normAutofit fontScale="92500"/>
          </a:bodyPr>
          <a:lstStyle/>
          <a:p>
            <a:pPr marL="0" indent="0" algn="l">
              <a:lnSpc>
                <a:spcPct val="88000"/>
              </a:lnSpc>
              <a:buNone/>
            </a:pPr>
            <a:r>
              <a:rPr lang="en-US" sz="2200" b="1" dirty="0">
                <a:solidFill>
                  <a:srgbClr val="1E293B"/>
                </a:solidFill>
                <a:latin typeface="Aptos" pitchFamily="34" charset="0"/>
                <a:ea typeface="Aptos" pitchFamily="34" charset="-122"/>
                <a:cs typeface="Aptos" pitchFamily="34" charset="-120"/>
              </a:rPr>
              <a:t>Romantic relationships in adolescence are a social and emotional development context — not just a private teenage issue.</a:t>
            </a:r>
            <a:endParaRPr lang="en-US" sz="2200" dirty="0"/>
          </a:p>
        </p:txBody>
      </p:sp>
      <p:sp>
        <p:nvSpPr>
          <p:cNvPr id="8" name="Text 6"/>
          <p:cNvSpPr/>
          <p:nvPr/>
        </p:nvSpPr>
        <p:spPr>
          <a:xfrm>
            <a:off x="685800" y="2743200"/>
            <a:ext cx="5120640" cy="1508760"/>
          </a:xfrm>
          <a:prstGeom prst="rect">
            <a:avLst/>
          </a:prstGeom>
          <a:noFill/>
          <a:ln/>
        </p:spPr>
        <p:txBody>
          <a:bodyPr wrap="square" lIns="508" tIns="508" rIns="508" bIns="508" rtlCol="0" anchor="t">
            <a:normAutofit/>
          </a:bodyPr>
          <a:lstStyle/>
          <a:p>
            <a:pPr marL="152400" indent="-152400">
              <a:buSzPct val="100000"/>
              <a:buChar char="•"/>
            </a:pPr>
            <a:r>
              <a:rPr lang="en-US" sz="1550" dirty="0">
                <a:solidFill>
                  <a:srgbClr val="475569"/>
                </a:solidFill>
                <a:latin typeface="Aptos" pitchFamily="34" charset="0"/>
                <a:ea typeface="Aptos" pitchFamily="34" charset="-122"/>
                <a:cs typeface="Aptos" pitchFamily="34" charset="-120"/>
              </a:rPr>
              <a:t>Practice intimacy, emotion regulation, identity, and peer negotiation</a:t>
            </a:r>
            <a:endParaRPr lang="en-US" sz="1550" dirty="0"/>
          </a:p>
          <a:p>
            <a:pPr marL="152400" indent="-152400">
              <a:buSzPct val="100000"/>
              <a:buChar char="•"/>
            </a:pPr>
            <a:r>
              <a:rPr lang="en-US" sz="1550" dirty="0">
                <a:solidFill>
                  <a:srgbClr val="475569"/>
                </a:solidFill>
                <a:latin typeface="Aptos" pitchFamily="34" charset="0"/>
                <a:ea typeface="Aptos" pitchFamily="34" charset="-122"/>
                <a:cs typeface="Aptos" pitchFamily="34" charset="-120"/>
              </a:rPr>
              <a:t>May connect to well-being, depression risk, social support, and school engagement</a:t>
            </a:r>
            <a:endParaRPr lang="en-US" sz="1550" dirty="0"/>
          </a:p>
          <a:p>
            <a:pPr marL="152400" indent="-152400">
              <a:buSzPct val="100000"/>
              <a:buChar char="•"/>
            </a:pPr>
            <a:r>
              <a:rPr lang="en-US" sz="1550" dirty="0">
                <a:solidFill>
                  <a:srgbClr val="475569"/>
                </a:solidFill>
                <a:latin typeface="Aptos" pitchFamily="34" charset="0"/>
                <a:ea typeface="Aptos" pitchFamily="34" charset="-122"/>
                <a:cs typeface="Aptos" pitchFamily="34" charset="-120"/>
              </a:rPr>
              <a:t>Prediction can show which student contexts are most connected to romantic involvement</a:t>
            </a:r>
            <a:endParaRPr lang="en-US" sz="1550" dirty="0"/>
          </a:p>
        </p:txBody>
      </p:sp>
      <p:sp>
        <p:nvSpPr>
          <p:cNvPr id="9" name="Shape 7"/>
          <p:cNvSpPr/>
          <p:nvPr/>
        </p:nvSpPr>
        <p:spPr>
          <a:xfrm>
            <a:off x="6446520" y="1325880"/>
            <a:ext cx="1920240" cy="1920240"/>
          </a:xfrm>
          <a:prstGeom prst="arc">
            <a:avLst/>
          </a:prstGeom>
          <a:solidFill>
            <a:srgbClr val="F8FAFC">
              <a:alpha val="0"/>
            </a:srgbClr>
          </a:solidFill>
          <a:ln w="38100">
            <a:solidFill>
              <a:srgbClr val="0F9DA6"/>
            </a:solidFill>
            <a:prstDash val="solid"/>
          </a:ln>
        </p:spPr>
        <p:txBody>
          <a:bodyPr/>
          <a:lstStyle/>
          <a:p>
            <a:endParaRPr lang="en-US"/>
          </a:p>
        </p:txBody>
      </p:sp>
      <p:sp>
        <p:nvSpPr>
          <p:cNvPr id="10" name="Shape 8"/>
          <p:cNvSpPr/>
          <p:nvPr/>
        </p:nvSpPr>
        <p:spPr>
          <a:xfrm>
            <a:off x="7909560" y="1938528"/>
            <a:ext cx="1920240" cy="1920240"/>
          </a:xfrm>
          <a:prstGeom prst="arc">
            <a:avLst/>
          </a:prstGeom>
          <a:solidFill>
            <a:srgbClr val="F8FAFC">
              <a:alpha val="0"/>
            </a:srgbClr>
          </a:solidFill>
          <a:ln w="38100">
            <a:solidFill>
              <a:srgbClr val="F87171"/>
            </a:solidFill>
            <a:prstDash val="solid"/>
          </a:ln>
        </p:spPr>
        <p:txBody>
          <a:bodyPr/>
          <a:lstStyle/>
          <a:p>
            <a:endParaRPr lang="en-US"/>
          </a:p>
        </p:txBody>
      </p:sp>
      <p:sp>
        <p:nvSpPr>
          <p:cNvPr id="11" name="Shape 9"/>
          <p:cNvSpPr/>
          <p:nvPr/>
        </p:nvSpPr>
        <p:spPr>
          <a:xfrm>
            <a:off x="7114032" y="3246120"/>
            <a:ext cx="1920240" cy="1920240"/>
          </a:xfrm>
          <a:prstGeom prst="arc">
            <a:avLst/>
          </a:prstGeom>
          <a:solidFill>
            <a:srgbClr val="F8FAFC">
              <a:alpha val="0"/>
            </a:srgbClr>
          </a:solidFill>
          <a:ln w="38100">
            <a:solidFill>
              <a:srgbClr val="F2B705"/>
            </a:solidFill>
            <a:prstDash val="solid"/>
          </a:ln>
        </p:spPr>
        <p:txBody>
          <a:bodyPr/>
          <a:lstStyle/>
          <a:p>
            <a:endParaRPr lang="en-US"/>
          </a:p>
        </p:txBody>
      </p:sp>
      <p:sp>
        <p:nvSpPr>
          <p:cNvPr id="12" name="Text 10"/>
          <p:cNvSpPr/>
          <p:nvPr/>
        </p:nvSpPr>
        <p:spPr>
          <a:xfrm>
            <a:off x="6565392" y="1938528"/>
            <a:ext cx="1645920" cy="320040"/>
          </a:xfrm>
          <a:prstGeom prst="rect">
            <a:avLst/>
          </a:prstGeom>
          <a:noFill/>
          <a:ln/>
        </p:spPr>
        <p:txBody>
          <a:bodyPr wrap="square" lIns="508" tIns="508" rIns="508" bIns="508" rtlCol="0" anchor="t">
            <a:normAutofit/>
          </a:bodyPr>
          <a:lstStyle/>
          <a:p>
            <a:pPr marL="0" indent="0" algn="ctr">
              <a:lnSpc>
                <a:spcPct val="90000"/>
              </a:lnSpc>
              <a:buNone/>
            </a:pPr>
            <a:r>
              <a:rPr lang="en-US" sz="1500" b="1" dirty="0">
                <a:solidFill>
                  <a:srgbClr val="007B83"/>
                </a:solidFill>
                <a:latin typeface="Aptos" pitchFamily="34" charset="0"/>
                <a:ea typeface="Aptos" pitchFamily="34" charset="-122"/>
                <a:cs typeface="Aptos" pitchFamily="34" charset="-120"/>
              </a:rPr>
              <a:t>Intimacy</a:t>
            </a:r>
            <a:endParaRPr lang="en-US" sz="1500" dirty="0"/>
          </a:p>
        </p:txBody>
      </p:sp>
      <p:sp>
        <p:nvSpPr>
          <p:cNvPr id="13" name="Text 11"/>
          <p:cNvSpPr/>
          <p:nvPr/>
        </p:nvSpPr>
        <p:spPr>
          <a:xfrm>
            <a:off x="8010144" y="2615184"/>
            <a:ext cx="1645920" cy="320040"/>
          </a:xfrm>
          <a:prstGeom prst="rect">
            <a:avLst/>
          </a:prstGeom>
          <a:noFill/>
          <a:ln/>
        </p:spPr>
        <p:txBody>
          <a:bodyPr wrap="square" lIns="508" tIns="508" rIns="508" bIns="508" rtlCol="0" anchor="t">
            <a:normAutofit/>
          </a:bodyPr>
          <a:lstStyle/>
          <a:p>
            <a:pPr marL="0" indent="0" algn="ctr">
              <a:lnSpc>
                <a:spcPct val="90000"/>
              </a:lnSpc>
              <a:buNone/>
            </a:pPr>
            <a:r>
              <a:rPr lang="en-US" sz="1500" b="1" dirty="0">
                <a:solidFill>
                  <a:srgbClr val="F87171"/>
                </a:solidFill>
                <a:latin typeface="Aptos" pitchFamily="34" charset="0"/>
                <a:ea typeface="Aptos" pitchFamily="34" charset="-122"/>
                <a:cs typeface="Aptos" pitchFamily="34" charset="-120"/>
              </a:rPr>
              <a:t>Identity</a:t>
            </a:r>
            <a:endParaRPr lang="en-US" sz="1500" dirty="0"/>
          </a:p>
        </p:txBody>
      </p:sp>
      <p:sp>
        <p:nvSpPr>
          <p:cNvPr id="14" name="Text 12"/>
          <p:cNvSpPr/>
          <p:nvPr/>
        </p:nvSpPr>
        <p:spPr>
          <a:xfrm>
            <a:off x="7269480" y="3886200"/>
            <a:ext cx="1645920" cy="320040"/>
          </a:xfrm>
          <a:prstGeom prst="rect">
            <a:avLst/>
          </a:prstGeom>
          <a:noFill/>
          <a:ln/>
        </p:spPr>
        <p:txBody>
          <a:bodyPr wrap="square" lIns="508" tIns="508" rIns="508" bIns="508" rtlCol="0" anchor="t">
            <a:normAutofit/>
          </a:bodyPr>
          <a:lstStyle/>
          <a:p>
            <a:pPr marL="0" indent="0" algn="ctr">
              <a:lnSpc>
                <a:spcPct val="90000"/>
              </a:lnSpc>
              <a:buNone/>
            </a:pPr>
            <a:r>
              <a:rPr lang="en-US" sz="1500" b="1" dirty="0">
                <a:solidFill>
                  <a:srgbClr val="9A6A00"/>
                </a:solidFill>
                <a:latin typeface="Aptos" pitchFamily="34" charset="0"/>
                <a:ea typeface="Aptos" pitchFamily="34" charset="-122"/>
                <a:cs typeface="Aptos" pitchFamily="34" charset="-120"/>
              </a:rPr>
              <a:t>Support</a:t>
            </a:r>
            <a:endParaRPr lang="en-US" sz="1500" dirty="0"/>
          </a:p>
        </p:txBody>
      </p:sp>
      <p:sp>
        <p:nvSpPr>
          <p:cNvPr id="15" name="Shape 13"/>
          <p:cNvSpPr/>
          <p:nvPr/>
        </p:nvSpPr>
        <p:spPr>
          <a:xfrm>
            <a:off x="6400800" y="5166360"/>
            <a:ext cx="45720" cy="685800"/>
          </a:xfrm>
          <a:prstGeom prst="rect">
            <a:avLst/>
          </a:prstGeom>
          <a:solidFill>
            <a:srgbClr val="1E293B"/>
          </a:solidFill>
          <a:ln w="12700">
            <a:solidFill>
              <a:srgbClr val="1E293B"/>
            </a:solidFill>
            <a:prstDash val="solid"/>
          </a:ln>
        </p:spPr>
        <p:txBody>
          <a:bodyPr/>
          <a:lstStyle/>
          <a:p>
            <a:endParaRPr lang="en-US"/>
          </a:p>
        </p:txBody>
      </p:sp>
      <p:sp>
        <p:nvSpPr>
          <p:cNvPr id="16" name="Text 14"/>
          <p:cNvSpPr/>
          <p:nvPr/>
        </p:nvSpPr>
        <p:spPr>
          <a:xfrm>
            <a:off x="6519672" y="5166360"/>
            <a:ext cx="4818888" cy="685800"/>
          </a:xfrm>
          <a:prstGeom prst="rect">
            <a:avLst/>
          </a:prstGeom>
          <a:noFill/>
          <a:ln/>
        </p:spPr>
        <p:txBody>
          <a:bodyPr wrap="square" lIns="381" tIns="381" rIns="381" bIns="381" rtlCol="0" anchor="ctr">
            <a:normAutofit/>
          </a:bodyPr>
          <a:lstStyle/>
          <a:p>
            <a:r>
              <a:rPr lang="en-US" sz="1400" dirty="0">
                <a:solidFill>
                  <a:srgbClr val="475569"/>
                </a:solidFill>
                <a:latin typeface="Aptos" pitchFamily="34" charset="0"/>
                <a:ea typeface="Aptos" pitchFamily="34" charset="-122"/>
                <a:cs typeface="Aptos" pitchFamily="34" charset="-120"/>
              </a:rPr>
              <a:t>Research question</a:t>
            </a:r>
            <a:r>
              <a:rPr lang="en-US" sz="1400">
                <a:solidFill>
                  <a:srgbClr val="475569"/>
                </a:solidFill>
                <a:latin typeface="Aptos" pitchFamily="34" charset="0"/>
                <a:ea typeface="Aptos" pitchFamily="34" charset="-122"/>
                <a:cs typeface="Aptos" pitchFamily="34" charset="-120"/>
              </a:rPr>
              <a:t>: </a:t>
            </a:r>
            <a:r>
              <a:rPr lang="en-US" sz="1400"/>
              <a:t>which student characteristics best predict whether a student reports being in a romantic relationship? </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占位符 48" descr="e7d195523061f1c03a90ee8e42cb24248e56383cd534985688F9F494128731F165EE95AB4B0C0A38076AAEA07667B1565C446FC45FF01DFB0E885BCDBDF3A284F3DB14DA61DD97F0BAB2E6C668FB49312D8A702330F6D99A32E431D743AEA352730A5DC99E77695B9E88E40D60C32BA28C17BB7CABD1A46AF23594DF6528BF791C5C014762CD5143DAF29347DE3D1A39">
            <a:extLst>
              <a:ext uri="{FF2B5EF4-FFF2-40B4-BE49-F238E27FC236}">
                <a16:creationId xmlns:a16="http://schemas.microsoft.com/office/drawing/2014/main" id="{771A6FCE-4220-09F0-F96C-13269B8BE45B}"/>
              </a:ext>
            </a:extLst>
          </p:cNvPr>
          <p:cNvPicPr>
            <a:picLocks noChangeAspect="1"/>
          </p:cNvPicPr>
          <p:nvPr/>
        </p:nvPicPr>
        <p:blipFill>
          <a:blip r:embed="rId3" cstate="print">
            <a:duotone>
              <a:srgbClr val="FFFFFF">
                <a:shade val="45000"/>
                <a:satMod val="135000"/>
              </a:srgbClr>
              <a:prstClr val="white"/>
            </a:duotone>
            <a:extLst>
              <a:ext uri="{28A0092B-C50C-407E-A947-70E740481C1C}">
                <a14:useLocalDpi xmlns:a14="http://schemas.microsoft.com/office/drawing/2010/main" val="0"/>
              </a:ext>
            </a:extLst>
          </a:blip>
          <a:srcRect t="21875" b="21875"/>
          <a:stretch>
            <a:fillRect/>
          </a:stretch>
        </p:blipFill>
        <p:spPr>
          <a:xfrm>
            <a:off x="0" y="1"/>
            <a:ext cx="12192000" cy="6858000"/>
          </a:xfrm>
          <a:custGeom>
            <a:avLst/>
            <a:gdLst>
              <a:gd name="connsiteX0" fmla="*/ 0 w 4203290"/>
              <a:gd name="connsiteY0" fmla="*/ 0 h 6858000"/>
              <a:gd name="connsiteX1" fmla="*/ 4203290 w 4203290"/>
              <a:gd name="connsiteY1" fmla="*/ 0 h 6858000"/>
              <a:gd name="connsiteX2" fmla="*/ 4203290 w 4203290"/>
              <a:gd name="connsiteY2" fmla="*/ 6858000 h 6858000"/>
              <a:gd name="connsiteX3" fmla="*/ 0 w 420329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03290" h="6858000">
                <a:moveTo>
                  <a:pt x="0" y="0"/>
                </a:moveTo>
                <a:lnTo>
                  <a:pt x="4203290" y="0"/>
                </a:lnTo>
                <a:lnTo>
                  <a:pt x="4203290" y="6858000"/>
                </a:lnTo>
                <a:lnTo>
                  <a:pt x="0" y="6858000"/>
                </a:lnTo>
                <a:close/>
              </a:path>
            </a:pathLst>
          </a:custGeom>
          <a:solidFill>
            <a:srgbClr val="FFFFFF">
              <a:lumMod val="95000"/>
              <a:alpha val="40000"/>
            </a:srgbClr>
          </a:solidFill>
        </p:spPr>
      </p:pic>
      <p:sp>
        <p:nvSpPr>
          <p:cNvPr id="3" name="Text 0">
            <a:extLst>
              <a:ext uri="{FF2B5EF4-FFF2-40B4-BE49-F238E27FC236}">
                <a16:creationId xmlns:a16="http://schemas.microsoft.com/office/drawing/2014/main" id="{A9470251-26B2-525D-63FC-44658D20946C}"/>
              </a:ext>
            </a:extLst>
          </p:cNvPr>
          <p:cNvSpPr/>
          <p:nvPr/>
        </p:nvSpPr>
        <p:spPr>
          <a:xfrm>
            <a:off x="502920" y="320040"/>
            <a:ext cx="5029200" cy="201168"/>
          </a:xfrm>
          <a:prstGeom prst="rect">
            <a:avLst/>
          </a:prstGeom>
          <a:noFill/>
          <a:ln/>
        </p:spPr>
        <p:txBody>
          <a:bodyPr wrap="square" lIns="0" tIns="0" rIns="0" bIns="0" rtlCol="0" anchor="ctr"/>
          <a:lstStyle/>
          <a:p>
            <a:r>
              <a:rPr lang="en-US" sz="900" b="1" dirty="0">
                <a:solidFill>
                  <a:srgbClr val="007B83"/>
                </a:solidFill>
                <a:latin typeface="Aptos" pitchFamily="34" charset="0"/>
                <a:ea typeface="Aptos" pitchFamily="34" charset="-122"/>
                <a:cs typeface="Aptos" pitchFamily="34" charset="-120"/>
              </a:rPr>
              <a:t>DATA SOURCE</a:t>
            </a:r>
            <a:endParaRPr lang="en-US" sz="900" dirty="0">
              <a:solidFill>
                <a:prstClr val="black"/>
              </a:solidFill>
              <a:latin typeface="Aptos"/>
            </a:endParaRPr>
          </a:p>
        </p:txBody>
      </p:sp>
      <p:sp>
        <p:nvSpPr>
          <p:cNvPr id="5" name="Text 1">
            <a:extLst>
              <a:ext uri="{FF2B5EF4-FFF2-40B4-BE49-F238E27FC236}">
                <a16:creationId xmlns:a16="http://schemas.microsoft.com/office/drawing/2014/main" id="{D26F6C91-79E2-CB43-7CA0-5961AC562232}"/>
              </a:ext>
            </a:extLst>
          </p:cNvPr>
          <p:cNvSpPr/>
          <p:nvPr/>
        </p:nvSpPr>
        <p:spPr>
          <a:xfrm>
            <a:off x="502920" y="576072"/>
            <a:ext cx="11064240" cy="502920"/>
          </a:xfrm>
          <a:prstGeom prst="rect">
            <a:avLst/>
          </a:prstGeom>
          <a:noFill/>
          <a:ln/>
        </p:spPr>
        <p:txBody>
          <a:bodyPr wrap="square" lIns="0" tIns="0" rIns="0" bIns="0" rtlCol="0" anchor="ctr">
            <a:normAutofit/>
          </a:bodyPr>
          <a:lstStyle/>
          <a:p>
            <a:r>
              <a:rPr lang="en-US" sz="2800" b="1" dirty="0">
                <a:solidFill>
                  <a:srgbClr val="1E293B"/>
                </a:solidFill>
                <a:latin typeface="Aptos Display" pitchFamily="34" charset="0"/>
                <a:ea typeface="Aptos Display" pitchFamily="34" charset="-122"/>
                <a:cs typeface="Aptos Display" pitchFamily="34" charset="-120"/>
              </a:rPr>
              <a:t>Database and sample construction</a:t>
            </a:r>
            <a:endParaRPr lang="en-US" sz="2800" dirty="0">
              <a:solidFill>
                <a:prstClr val="black"/>
              </a:solidFill>
              <a:latin typeface="Aptos"/>
            </a:endParaRPr>
          </a:p>
        </p:txBody>
      </p:sp>
      <p:sp>
        <p:nvSpPr>
          <p:cNvPr id="6" name="Shape 2">
            <a:extLst>
              <a:ext uri="{FF2B5EF4-FFF2-40B4-BE49-F238E27FC236}">
                <a16:creationId xmlns:a16="http://schemas.microsoft.com/office/drawing/2014/main" id="{0CB55623-33FF-8D62-362C-CDE076C95CE8}"/>
              </a:ext>
            </a:extLst>
          </p:cNvPr>
          <p:cNvSpPr/>
          <p:nvPr/>
        </p:nvSpPr>
        <p:spPr>
          <a:xfrm>
            <a:off x="502920" y="1124712"/>
            <a:ext cx="11064240" cy="0"/>
          </a:xfrm>
          <a:prstGeom prst="line">
            <a:avLst/>
          </a:prstGeom>
          <a:noFill/>
          <a:ln w="12700">
            <a:solidFill>
              <a:srgbClr val="E2E8F0"/>
            </a:solidFill>
            <a:prstDash val="solid"/>
          </a:ln>
        </p:spPr>
        <p:txBody>
          <a:bodyPr/>
          <a:lstStyle/>
          <a:p>
            <a:endParaRPr lang="en-US">
              <a:solidFill>
                <a:prstClr val="black"/>
              </a:solidFill>
              <a:latin typeface="Aptos"/>
            </a:endParaRPr>
          </a:p>
        </p:txBody>
      </p:sp>
      <p:sp>
        <p:nvSpPr>
          <p:cNvPr id="7" name="Text 3">
            <a:extLst>
              <a:ext uri="{FF2B5EF4-FFF2-40B4-BE49-F238E27FC236}">
                <a16:creationId xmlns:a16="http://schemas.microsoft.com/office/drawing/2014/main" id="{0E67CEA1-EAAA-0465-9C70-455C2A89EB84}"/>
              </a:ext>
            </a:extLst>
          </p:cNvPr>
          <p:cNvSpPr/>
          <p:nvPr/>
        </p:nvSpPr>
        <p:spPr>
          <a:xfrm>
            <a:off x="438912" y="6528816"/>
            <a:ext cx="5760720" cy="201168"/>
          </a:xfrm>
          <a:prstGeom prst="rect">
            <a:avLst/>
          </a:prstGeom>
          <a:noFill/>
          <a:ln/>
        </p:spPr>
        <p:txBody>
          <a:bodyPr wrap="square" lIns="0" tIns="0" rIns="0" bIns="0" rtlCol="0" anchor="ctr"/>
          <a:lstStyle/>
          <a:p>
            <a:r>
              <a:rPr lang="en-US" sz="750" dirty="0">
                <a:solidFill>
                  <a:srgbClr val="64748B"/>
                </a:solidFill>
                <a:latin typeface="Aptos" pitchFamily="34" charset="0"/>
                <a:ea typeface="Aptos" pitchFamily="34" charset="-122"/>
                <a:cs typeface="Aptos" pitchFamily="34" charset="-120"/>
              </a:rPr>
              <a:t>Predicting Student Romantic Relationship Status</a:t>
            </a:r>
            <a:endParaRPr lang="en-US" sz="750" dirty="0">
              <a:solidFill>
                <a:prstClr val="black"/>
              </a:solidFill>
              <a:latin typeface="Aptos"/>
            </a:endParaRPr>
          </a:p>
        </p:txBody>
      </p:sp>
      <p:sp>
        <p:nvSpPr>
          <p:cNvPr id="8" name="Text 4">
            <a:extLst>
              <a:ext uri="{FF2B5EF4-FFF2-40B4-BE49-F238E27FC236}">
                <a16:creationId xmlns:a16="http://schemas.microsoft.com/office/drawing/2014/main" id="{85899EBF-DEBE-D744-473B-4F01F39F14F2}"/>
              </a:ext>
            </a:extLst>
          </p:cNvPr>
          <p:cNvSpPr/>
          <p:nvPr/>
        </p:nvSpPr>
        <p:spPr>
          <a:xfrm>
            <a:off x="11539728" y="6510528"/>
            <a:ext cx="320040" cy="201168"/>
          </a:xfrm>
          <a:prstGeom prst="rect">
            <a:avLst/>
          </a:prstGeom>
          <a:noFill/>
          <a:ln/>
        </p:spPr>
        <p:txBody>
          <a:bodyPr wrap="square" lIns="0" tIns="0" rIns="0" bIns="0" rtlCol="0" anchor="ctr"/>
          <a:lstStyle/>
          <a:p>
            <a:pPr algn="r"/>
            <a:r>
              <a:rPr lang="en-US" sz="750" dirty="0">
                <a:solidFill>
                  <a:srgbClr val="64748B"/>
                </a:solidFill>
                <a:latin typeface="Aptos" pitchFamily="34" charset="0"/>
                <a:ea typeface="Aptos" pitchFamily="34" charset="-122"/>
                <a:cs typeface="Aptos" pitchFamily="34" charset="-120"/>
              </a:rPr>
              <a:t>02</a:t>
            </a:r>
            <a:endParaRPr lang="en-US" sz="750" dirty="0">
              <a:solidFill>
                <a:prstClr val="black"/>
              </a:solidFill>
              <a:latin typeface="Aptos"/>
            </a:endParaRPr>
          </a:p>
        </p:txBody>
      </p:sp>
      <p:sp>
        <p:nvSpPr>
          <p:cNvPr id="9" name="Text 5">
            <a:extLst>
              <a:ext uri="{FF2B5EF4-FFF2-40B4-BE49-F238E27FC236}">
                <a16:creationId xmlns:a16="http://schemas.microsoft.com/office/drawing/2014/main" id="{47138B48-24F7-1BCA-1CC0-766CCA26E5C1}"/>
              </a:ext>
            </a:extLst>
          </p:cNvPr>
          <p:cNvSpPr/>
          <p:nvPr/>
        </p:nvSpPr>
        <p:spPr>
          <a:xfrm>
            <a:off x="685800" y="1417320"/>
            <a:ext cx="5669280" cy="411480"/>
          </a:xfrm>
          <a:prstGeom prst="rect">
            <a:avLst/>
          </a:prstGeom>
          <a:noFill/>
          <a:ln/>
        </p:spPr>
        <p:txBody>
          <a:bodyPr wrap="square" lIns="508" tIns="508" rIns="508" bIns="508" rtlCol="0" anchor="t">
            <a:normAutofit fontScale="85000" lnSpcReduction="10000"/>
          </a:bodyPr>
          <a:lstStyle/>
          <a:p>
            <a:pPr>
              <a:lnSpc>
                <a:spcPct val="90000"/>
              </a:lnSpc>
            </a:pPr>
            <a:r>
              <a:rPr lang="en-US" sz="2400" b="1" dirty="0">
                <a:solidFill>
                  <a:srgbClr val="1E293B"/>
                </a:solidFill>
                <a:latin typeface="Aptos" pitchFamily="34" charset="0"/>
                <a:ea typeface="Aptos" pitchFamily="34" charset="-122"/>
                <a:cs typeface="Aptos" pitchFamily="34" charset="-120"/>
              </a:rPr>
              <a:t>Kaggle Student Alcohol Consumption dataset</a:t>
            </a:r>
            <a:endParaRPr lang="en-US" sz="2400" dirty="0">
              <a:solidFill>
                <a:prstClr val="black"/>
              </a:solidFill>
              <a:latin typeface="Aptos"/>
            </a:endParaRPr>
          </a:p>
        </p:txBody>
      </p:sp>
      <p:sp>
        <p:nvSpPr>
          <p:cNvPr id="10" name="Text 6">
            <a:extLst>
              <a:ext uri="{FF2B5EF4-FFF2-40B4-BE49-F238E27FC236}">
                <a16:creationId xmlns:a16="http://schemas.microsoft.com/office/drawing/2014/main" id="{5C375649-9D31-043F-BB28-298B75A287A5}"/>
              </a:ext>
            </a:extLst>
          </p:cNvPr>
          <p:cNvSpPr/>
          <p:nvPr/>
        </p:nvSpPr>
        <p:spPr>
          <a:xfrm>
            <a:off x="713232" y="2267713"/>
            <a:ext cx="5212080" cy="685800"/>
          </a:xfrm>
          <a:prstGeom prst="rect">
            <a:avLst/>
          </a:prstGeom>
          <a:noFill/>
          <a:ln/>
        </p:spPr>
        <p:txBody>
          <a:bodyPr wrap="square" lIns="508" tIns="508" rIns="508" bIns="508" rtlCol="0" anchor="t">
            <a:normAutofit/>
          </a:bodyPr>
          <a:lstStyle/>
          <a:p>
            <a:pPr>
              <a:lnSpc>
                <a:spcPct val="90000"/>
              </a:lnSpc>
            </a:pPr>
            <a:r>
              <a:rPr lang="en-US" sz="1550" dirty="0">
                <a:solidFill>
                  <a:srgbClr val="475569"/>
                </a:solidFill>
                <a:latin typeface="Aptos" pitchFamily="34" charset="0"/>
                <a:ea typeface="Aptos" pitchFamily="34" charset="-122"/>
                <a:cs typeface="Aptos" pitchFamily="34" charset="-120"/>
              </a:rPr>
              <a:t>Portuguese secondary-school survey data with demographic, school, family, behavioral, academic, and social variables.</a:t>
            </a:r>
            <a:endParaRPr lang="en-US" sz="1550" dirty="0">
              <a:solidFill>
                <a:prstClr val="black"/>
              </a:solidFill>
              <a:latin typeface="Aptos"/>
            </a:endParaRPr>
          </a:p>
        </p:txBody>
      </p:sp>
      <p:sp>
        <p:nvSpPr>
          <p:cNvPr id="11" name="Text 7">
            <a:extLst>
              <a:ext uri="{FF2B5EF4-FFF2-40B4-BE49-F238E27FC236}">
                <a16:creationId xmlns:a16="http://schemas.microsoft.com/office/drawing/2014/main" id="{AD0DB228-3863-79A7-B8B5-81C17034CAA4}"/>
              </a:ext>
            </a:extLst>
          </p:cNvPr>
          <p:cNvSpPr/>
          <p:nvPr/>
        </p:nvSpPr>
        <p:spPr>
          <a:xfrm>
            <a:off x="6400800" y="1444752"/>
            <a:ext cx="3657600" cy="228600"/>
          </a:xfrm>
          <a:prstGeom prst="rect">
            <a:avLst/>
          </a:prstGeom>
          <a:noFill/>
          <a:ln/>
        </p:spPr>
        <p:txBody>
          <a:bodyPr wrap="square" lIns="508" tIns="508" rIns="508" bIns="508" rtlCol="0" anchor="t">
            <a:normAutofit/>
          </a:bodyPr>
          <a:lstStyle/>
          <a:p>
            <a:pPr>
              <a:lnSpc>
                <a:spcPct val="90000"/>
              </a:lnSpc>
            </a:pPr>
            <a:r>
              <a:rPr lang="en-US" sz="1200" b="1" dirty="0">
                <a:solidFill>
                  <a:srgbClr val="007B83"/>
                </a:solidFill>
                <a:latin typeface="Aptos" pitchFamily="34" charset="0"/>
                <a:ea typeface="Aptos" pitchFamily="34" charset="-122"/>
                <a:cs typeface="Aptos" pitchFamily="34" charset="-120"/>
              </a:rPr>
              <a:t>Two course files</a:t>
            </a:r>
            <a:endParaRPr lang="en-US" sz="1200" dirty="0">
              <a:solidFill>
                <a:prstClr val="black"/>
              </a:solidFill>
              <a:latin typeface="Aptos"/>
            </a:endParaRPr>
          </a:p>
        </p:txBody>
      </p:sp>
      <p:sp>
        <p:nvSpPr>
          <p:cNvPr id="12" name="Text 8">
            <a:extLst>
              <a:ext uri="{FF2B5EF4-FFF2-40B4-BE49-F238E27FC236}">
                <a16:creationId xmlns:a16="http://schemas.microsoft.com/office/drawing/2014/main" id="{F57B22FF-A287-41E9-E592-66D2ABF5E6F5}"/>
              </a:ext>
            </a:extLst>
          </p:cNvPr>
          <p:cNvSpPr/>
          <p:nvPr/>
        </p:nvSpPr>
        <p:spPr>
          <a:xfrm>
            <a:off x="6400800" y="1783080"/>
            <a:ext cx="4297680" cy="320040"/>
          </a:xfrm>
          <a:prstGeom prst="rect">
            <a:avLst/>
          </a:prstGeom>
          <a:noFill/>
          <a:ln/>
        </p:spPr>
        <p:txBody>
          <a:bodyPr wrap="square" lIns="508" tIns="508" rIns="508" bIns="508" rtlCol="0" anchor="t">
            <a:normAutofit/>
          </a:bodyPr>
          <a:lstStyle/>
          <a:p>
            <a:pPr>
              <a:lnSpc>
                <a:spcPct val="90000"/>
              </a:lnSpc>
            </a:pPr>
            <a:r>
              <a:rPr lang="en-US" b="1" dirty="0">
                <a:solidFill>
                  <a:srgbClr val="1E293B"/>
                </a:solidFill>
                <a:latin typeface="Aptos" pitchFamily="34" charset="0"/>
                <a:ea typeface="Aptos" pitchFamily="34" charset="-122"/>
                <a:cs typeface="Aptos" pitchFamily="34" charset="-120"/>
              </a:rPr>
              <a:t>`student-mat.csv`  +  `student-por.csv`</a:t>
            </a:r>
            <a:endParaRPr lang="en-US" dirty="0">
              <a:solidFill>
                <a:prstClr val="black"/>
              </a:solidFill>
              <a:latin typeface="Aptos"/>
            </a:endParaRPr>
          </a:p>
        </p:txBody>
      </p:sp>
      <p:sp>
        <p:nvSpPr>
          <p:cNvPr id="13" name="Text 9">
            <a:extLst>
              <a:ext uri="{FF2B5EF4-FFF2-40B4-BE49-F238E27FC236}">
                <a16:creationId xmlns:a16="http://schemas.microsoft.com/office/drawing/2014/main" id="{948C3B9D-03B5-68DA-B6C7-FC31819CF230}"/>
              </a:ext>
            </a:extLst>
          </p:cNvPr>
          <p:cNvSpPr/>
          <p:nvPr/>
        </p:nvSpPr>
        <p:spPr>
          <a:xfrm>
            <a:off x="6400800" y="2331720"/>
            <a:ext cx="4572000" cy="685800"/>
          </a:xfrm>
          <a:prstGeom prst="rect">
            <a:avLst/>
          </a:prstGeom>
          <a:noFill/>
          <a:ln/>
        </p:spPr>
        <p:txBody>
          <a:bodyPr wrap="square" lIns="508" tIns="508" rIns="508" bIns="508" rtlCol="0" anchor="t">
            <a:normAutofit/>
          </a:bodyPr>
          <a:lstStyle/>
          <a:p>
            <a:pPr>
              <a:lnSpc>
                <a:spcPct val="90000"/>
              </a:lnSpc>
            </a:pPr>
            <a:r>
              <a:rPr lang="en-US" sz="1500" dirty="0">
                <a:solidFill>
                  <a:srgbClr val="475569"/>
                </a:solidFill>
                <a:latin typeface="Aptos" pitchFamily="34" charset="0"/>
                <a:ea typeface="Aptos" pitchFamily="34" charset="-122"/>
                <a:cs typeface="Aptos" pitchFamily="34" charset="-120"/>
              </a:rPr>
              <a:t>Key cleaning decision: merge repeated students into one student-level row so the same person is not double-counted.</a:t>
            </a:r>
            <a:endParaRPr lang="en-US" sz="1500" dirty="0">
              <a:solidFill>
                <a:prstClr val="black"/>
              </a:solidFill>
              <a:latin typeface="Aptos"/>
            </a:endParaRPr>
          </a:p>
        </p:txBody>
      </p:sp>
      <p:sp>
        <p:nvSpPr>
          <p:cNvPr id="14" name="Text 10">
            <a:extLst>
              <a:ext uri="{FF2B5EF4-FFF2-40B4-BE49-F238E27FC236}">
                <a16:creationId xmlns:a16="http://schemas.microsoft.com/office/drawing/2014/main" id="{A1CD6255-9823-9267-17E8-E9A971C9EF19}"/>
              </a:ext>
            </a:extLst>
          </p:cNvPr>
          <p:cNvSpPr/>
          <p:nvPr/>
        </p:nvSpPr>
        <p:spPr>
          <a:xfrm>
            <a:off x="804672" y="3657600"/>
            <a:ext cx="1554480" cy="457200"/>
          </a:xfrm>
          <a:prstGeom prst="rect">
            <a:avLst/>
          </a:prstGeom>
          <a:noFill/>
          <a:ln/>
        </p:spPr>
        <p:txBody>
          <a:bodyPr wrap="square" lIns="0" tIns="0" rIns="0" bIns="0" rtlCol="0" anchor="ctr"/>
          <a:lstStyle/>
          <a:p>
            <a:r>
              <a:rPr lang="en-US" sz="2900" b="1" dirty="0">
                <a:solidFill>
                  <a:srgbClr val="F87171"/>
                </a:solidFill>
                <a:latin typeface="Aptos Display" pitchFamily="34" charset="0"/>
                <a:ea typeface="Aptos Display" pitchFamily="34" charset="-122"/>
                <a:cs typeface="Aptos Display" pitchFamily="34" charset="-120"/>
              </a:rPr>
              <a:t>366</a:t>
            </a:r>
            <a:endParaRPr lang="en-US" sz="2900" dirty="0">
              <a:solidFill>
                <a:prstClr val="black"/>
              </a:solidFill>
              <a:latin typeface="Aptos"/>
            </a:endParaRPr>
          </a:p>
        </p:txBody>
      </p:sp>
      <p:sp>
        <p:nvSpPr>
          <p:cNvPr id="15" name="Text 11">
            <a:extLst>
              <a:ext uri="{FF2B5EF4-FFF2-40B4-BE49-F238E27FC236}">
                <a16:creationId xmlns:a16="http://schemas.microsoft.com/office/drawing/2014/main" id="{84E8C87D-40C3-4757-206C-10BA4C3DF039}"/>
              </a:ext>
            </a:extLst>
          </p:cNvPr>
          <p:cNvSpPr/>
          <p:nvPr/>
        </p:nvSpPr>
        <p:spPr>
          <a:xfrm>
            <a:off x="804672" y="4160520"/>
            <a:ext cx="2057400" cy="384048"/>
          </a:xfrm>
          <a:prstGeom prst="rect">
            <a:avLst/>
          </a:prstGeom>
          <a:noFill/>
          <a:ln/>
        </p:spPr>
        <p:txBody>
          <a:bodyPr wrap="square" lIns="0" tIns="0" rIns="0" bIns="0" rtlCol="0" anchor="ctr"/>
          <a:lstStyle/>
          <a:p>
            <a:r>
              <a:rPr lang="en-US" sz="1050" dirty="0">
                <a:solidFill>
                  <a:srgbClr val="475569"/>
                </a:solidFill>
                <a:latin typeface="Aptos" pitchFamily="34" charset="0"/>
                <a:ea typeface="Aptos" pitchFamily="34" charset="-122"/>
                <a:cs typeface="Aptos" pitchFamily="34" charset="-120"/>
              </a:rPr>
              <a:t>overlapping student records found across files</a:t>
            </a:r>
            <a:endParaRPr lang="en-US" sz="1050" dirty="0">
              <a:solidFill>
                <a:prstClr val="black"/>
              </a:solidFill>
              <a:latin typeface="Aptos"/>
            </a:endParaRPr>
          </a:p>
        </p:txBody>
      </p:sp>
      <p:sp>
        <p:nvSpPr>
          <p:cNvPr id="16" name="Text 12">
            <a:extLst>
              <a:ext uri="{FF2B5EF4-FFF2-40B4-BE49-F238E27FC236}">
                <a16:creationId xmlns:a16="http://schemas.microsoft.com/office/drawing/2014/main" id="{BEEDE190-4B89-AD31-B2EE-2D8E7A157142}"/>
              </a:ext>
            </a:extLst>
          </p:cNvPr>
          <p:cNvSpPr/>
          <p:nvPr/>
        </p:nvSpPr>
        <p:spPr>
          <a:xfrm>
            <a:off x="3337560" y="3657600"/>
            <a:ext cx="1554480" cy="457200"/>
          </a:xfrm>
          <a:prstGeom prst="rect">
            <a:avLst/>
          </a:prstGeom>
          <a:noFill/>
          <a:ln/>
        </p:spPr>
        <p:txBody>
          <a:bodyPr wrap="square" lIns="0" tIns="0" rIns="0" bIns="0" rtlCol="0" anchor="ctr"/>
          <a:lstStyle/>
          <a:p>
            <a:r>
              <a:rPr lang="en-US" sz="2900" b="1" dirty="0">
                <a:solidFill>
                  <a:srgbClr val="007B83"/>
                </a:solidFill>
                <a:latin typeface="Aptos Display" pitchFamily="34" charset="0"/>
                <a:ea typeface="Aptos Display" pitchFamily="34" charset="-122"/>
                <a:cs typeface="Aptos Display" pitchFamily="34" charset="-120"/>
              </a:rPr>
              <a:t>662</a:t>
            </a:r>
            <a:endParaRPr lang="en-US" sz="2900" dirty="0">
              <a:solidFill>
                <a:prstClr val="black"/>
              </a:solidFill>
              <a:latin typeface="Aptos"/>
            </a:endParaRPr>
          </a:p>
        </p:txBody>
      </p:sp>
      <p:sp>
        <p:nvSpPr>
          <p:cNvPr id="17" name="Text 13">
            <a:extLst>
              <a:ext uri="{FF2B5EF4-FFF2-40B4-BE49-F238E27FC236}">
                <a16:creationId xmlns:a16="http://schemas.microsoft.com/office/drawing/2014/main" id="{D09503E1-874A-9BCF-67A5-706D045CDF70}"/>
              </a:ext>
            </a:extLst>
          </p:cNvPr>
          <p:cNvSpPr/>
          <p:nvPr/>
        </p:nvSpPr>
        <p:spPr>
          <a:xfrm>
            <a:off x="3337560" y="4160520"/>
            <a:ext cx="2057400" cy="384048"/>
          </a:xfrm>
          <a:prstGeom prst="rect">
            <a:avLst/>
          </a:prstGeom>
          <a:noFill/>
          <a:ln/>
        </p:spPr>
        <p:txBody>
          <a:bodyPr wrap="square" lIns="0" tIns="0" rIns="0" bIns="0" rtlCol="0" anchor="ctr"/>
          <a:lstStyle/>
          <a:p>
            <a:r>
              <a:rPr lang="en-US" sz="1050" dirty="0">
                <a:solidFill>
                  <a:srgbClr val="475569"/>
                </a:solidFill>
                <a:latin typeface="Aptos" pitchFamily="34" charset="0"/>
                <a:ea typeface="Aptos" pitchFamily="34" charset="-122"/>
                <a:cs typeface="Aptos" pitchFamily="34" charset="-120"/>
              </a:rPr>
              <a:t>unique students after merging</a:t>
            </a:r>
            <a:endParaRPr lang="en-US" sz="1050" dirty="0">
              <a:solidFill>
                <a:prstClr val="black"/>
              </a:solidFill>
              <a:latin typeface="Aptos"/>
            </a:endParaRPr>
          </a:p>
        </p:txBody>
      </p:sp>
      <p:sp>
        <p:nvSpPr>
          <p:cNvPr id="18" name="Text 14">
            <a:extLst>
              <a:ext uri="{FF2B5EF4-FFF2-40B4-BE49-F238E27FC236}">
                <a16:creationId xmlns:a16="http://schemas.microsoft.com/office/drawing/2014/main" id="{249504E2-A6BE-5CB6-9238-640D5C7EC758}"/>
              </a:ext>
            </a:extLst>
          </p:cNvPr>
          <p:cNvSpPr/>
          <p:nvPr/>
        </p:nvSpPr>
        <p:spPr>
          <a:xfrm>
            <a:off x="5989320" y="3657600"/>
            <a:ext cx="1554480" cy="457200"/>
          </a:xfrm>
          <a:prstGeom prst="rect">
            <a:avLst/>
          </a:prstGeom>
          <a:noFill/>
          <a:ln/>
        </p:spPr>
        <p:txBody>
          <a:bodyPr wrap="square" lIns="0" tIns="0" rIns="0" bIns="0" rtlCol="0" anchor="ctr"/>
          <a:lstStyle/>
          <a:p>
            <a:r>
              <a:rPr lang="en-US" sz="2900" b="1" dirty="0">
                <a:solidFill>
                  <a:srgbClr val="F2B705"/>
                </a:solidFill>
                <a:latin typeface="Aptos Display" pitchFamily="34" charset="0"/>
                <a:ea typeface="Aptos Display" pitchFamily="34" charset="-122"/>
                <a:cs typeface="Aptos Display" pitchFamily="34" charset="-120"/>
              </a:rPr>
              <a:t>37.5%</a:t>
            </a:r>
            <a:endParaRPr lang="en-US" sz="2900" dirty="0">
              <a:solidFill>
                <a:prstClr val="black"/>
              </a:solidFill>
              <a:latin typeface="Aptos"/>
            </a:endParaRPr>
          </a:p>
        </p:txBody>
      </p:sp>
      <p:sp>
        <p:nvSpPr>
          <p:cNvPr id="19" name="Text 15">
            <a:extLst>
              <a:ext uri="{FF2B5EF4-FFF2-40B4-BE49-F238E27FC236}">
                <a16:creationId xmlns:a16="http://schemas.microsoft.com/office/drawing/2014/main" id="{A82D3418-C5EC-C11F-88BC-A1E513370F5E}"/>
              </a:ext>
            </a:extLst>
          </p:cNvPr>
          <p:cNvSpPr/>
          <p:nvPr/>
        </p:nvSpPr>
        <p:spPr>
          <a:xfrm>
            <a:off x="5989320" y="4160520"/>
            <a:ext cx="2057400" cy="384048"/>
          </a:xfrm>
          <a:prstGeom prst="rect">
            <a:avLst/>
          </a:prstGeom>
          <a:noFill/>
          <a:ln/>
        </p:spPr>
        <p:txBody>
          <a:bodyPr wrap="square" lIns="0" tIns="0" rIns="0" bIns="0" rtlCol="0" anchor="ctr"/>
          <a:lstStyle/>
          <a:p>
            <a:r>
              <a:rPr lang="en-US" sz="1050" dirty="0">
                <a:solidFill>
                  <a:srgbClr val="475569"/>
                </a:solidFill>
                <a:latin typeface="Aptos" pitchFamily="34" charset="0"/>
                <a:ea typeface="Aptos" pitchFamily="34" charset="-122"/>
                <a:cs typeface="Aptos" pitchFamily="34" charset="-120"/>
              </a:rPr>
              <a:t>approx. relationship = yes in train/test</a:t>
            </a:r>
            <a:endParaRPr lang="en-US" sz="1050" dirty="0">
              <a:solidFill>
                <a:prstClr val="black"/>
              </a:solidFill>
              <a:latin typeface="Aptos"/>
            </a:endParaRPr>
          </a:p>
        </p:txBody>
      </p:sp>
      <p:sp>
        <p:nvSpPr>
          <p:cNvPr id="20" name="Text 16">
            <a:extLst>
              <a:ext uri="{FF2B5EF4-FFF2-40B4-BE49-F238E27FC236}">
                <a16:creationId xmlns:a16="http://schemas.microsoft.com/office/drawing/2014/main" id="{29488071-1965-F517-8F3E-BA5F63974836}"/>
              </a:ext>
            </a:extLst>
          </p:cNvPr>
          <p:cNvSpPr/>
          <p:nvPr/>
        </p:nvSpPr>
        <p:spPr>
          <a:xfrm>
            <a:off x="8412480" y="3886200"/>
            <a:ext cx="2834640" cy="685800"/>
          </a:xfrm>
          <a:prstGeom prst="rect">
            <a:avLst/>
          </a:prstGeom>
          <a:noFill/>
          <a:ln/>
        </p:spPr>
        <p:txBody>
          <a:bodyPr wrap="square" lIns="508" tIns="508" rIns="508" bIns="508" rtlCol="0" anchor="t">
            <a:normAutofit/>
          </a:bodyPr>
          <a:lstStyle/>
          <a:p>
            <a:pPr>
              <a:lnSpc>
                <a:spcPct val="90000"/>
              </a:lnSpc>
            </a:pPr>
            <a:r>
              <a:rPr lang="en-US" sz="1500" dirty="0">
                <a:solidFill>
                  <a:srgbClr val="475569"/>
                </a:solidFill>
                <a:latin typeface="Aptos" pitchFamily="34" charset="0"/>
                <a:ea typeface="Aptos" pitchFamily="34" charset="-122"/>
                <a:cs typeface="Aptos" pitchFamily="34" charset="-120"/>
              </a:rPr>
              <a:t>Stratified 80/20 train-test split kept class balance stable.</a:t>
            </a:r>
            <a:endParaRPr lang="en-US" sz="1500" dirty="0">
              <a:solidFill>
                <a:prstClr val="black"/>
              </a:solidFill>
              <a:latin typeface="Aptos"/>
            </a:endParaRPr>
          </a:p>
        </p:txBody>
      </p:sp>
    </p:spTree>
  </p:cSld>
  <p:clrMapOvr>
    <a:masterClrMapping/>
  </p:clrMapOvr>
  <p:transition spd="slow">
    <p:comb/>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e7d195523061f1c03a90ee8e42cb24248e56383cd534985688F9F494128731F165EE95AB4B0C0A38076AAEA07667B1565C446FC45FF01DFB0E885BCDBDF3A284F3DB14DA61DD97F0BAB2E6C668FB493187E5C5FDF083ADBDF78C8B43347D6AF35582F3E571D15D569395BE140F5E5E7AD78A776D8053828B7F0DBCC303A1467E48F8A6D5D211210D7C52903204C4C167"/>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784589" y="-1835267"/>
            <a:ext cx="8534762" cy="8520315"/>
          </a:xfrm>
          <a:prstGeom prst="rect">
            <a:avLst/>
          </a:prstGeom>
        </p:spPr>
      </p:pic>
      <p:pic>
        <p:nvPicPr>
          <p:cNvPr id="6" name="图片 5" descr="e7d195523061f1c03a90ee8e42cb24248e56383cd534985688F9F494128731F165EE95AB4B0C0A38076AAEA07667B1565C446FC45FF01DFB0E885BCDBDF3A284F3DB14DA61DD97F0BAB2E6C668FB493187E5C5FDF083ADBDF78C8B43347D6AF35582F3E571D15D569395BE140F5E5E7AD78A776D8053828B7F0DBCC303A1467E48F8A6D5D211210D7C52903204C4C16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73179" y="4475881"/>
            <a:ext cx="7237642" cy="4037247"/>
          </a:xfrm>
          <a:prstGeom prst="rect">
            <a:avLst/>
          </a:prstGeom>
        </p:spPr>
      </p:pic>
      <p:pic>
        <p:nvPicPr>
          <p:cNvPr id="31" name="图片 30" descr="e7d195523061f1c03a90ee8e42cb24248e56383cd534985688F9F494128731F165EE95AB4B0C0A38076AAEA07667B1565C446FC45FF01DFB0E885BCDBDF3A284F3DB14DA61DD97F0BAB2E6C668FB493187E5C5FDF083ADBDF78C8B43347D6AF35582F3E571D15D569395BE140F5E5E7AD78A776D8053828B7F0DBCC303A1467E48F8A6D5D211210D7C52903204C4C167"/>
          <p:cNvPicPr>
            <a:picLocks noChangeAspect="1"/>
          </p:cNvPicPr>
          <p:nvPr/>
        </p:nvPicPr>
        <p:blipFill rotWithShape="1">
          <a:blip r:embed="rId5" cstate="print">
            <a:extLst>
              <a:ext uri="{28A0092B-C50C-407E-A947-70E740481C1C}">
                <a14:useLocalDpi xmlns:a14="http://schemas.microsoft.com/office/drawing/2010/main" val="0"/>
              </a:ext>
            </a:extLst>
          </a:blip>
          <a:srcRect/>
          <a:stretch/>
        </p:blipFill>
        <p:spPr>
          <a:xfrm rot="5400000">
            <a:off x="10766819" y="636767"/>
            <a:ext cx="943979" cy="964278"/>
          </a:xfrm>
          <a:prstGeom prst="rect">
            <a:avLst/>
          </a:prstGeom>
        </p:spPr>
      </p:pic>
      <p:sp>
        <p:nvSpPr>
          <p:cNvPr id="5" name="e7d195523061f1c0" descr="e7d195523061f1c03a90ee8e42cb24248e56383cd534985688F9F494128731F165EE95AB4B0C0A38076AAEA07667B1565C446FC45FF01DFB0E885BCDBDF3A284F3DB14DA61DD97F0BAB2E6C668FB493187E5C5FDF083ADBDF78C8B43347D6AF35582F3E571D15D569395BE140F5E5E7AD78A776D8053828B7F0DBCC303A1467E48F8A6D5D211210D7C52903204C4C167" hidden="1"/>
          <p:cNvSpPr txBox="1"/>
          <p:nvPr/>
        </p:nvSpPr>
        <p:spPr>
          <a:xfrm>
            <a:off x="-355600" y="1803400"/>
            <a:ext cx="322909" cy="1016000"/>
          </a:xfrm>
          <a:prstGeom prst="rect">
            <a:avLst/>
          </a:prstGeom>
          <a:noFill/>
        </p:spPr>
        <p:txBody>
          <a:bodyPr vert="wordArtVert"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 b="0" i="0" u="none" strike="noStrike" kern="1200" cap="none" spc="0" normalizeH="0" baseline="0" noProof="0">
                <a:ln>
                  <a:noFill/>
                </a:ln>
                <a:solidFill>
                  <a:srgbClr val="000000"/>
                </a:solidFill>
                <a:effectLst/>
                <a:uLnTx/>
                <a:uFillTx/>
                <a:latin typeface="微软雅黑"/>
                <a:ea typeface="微软雅黑"/>
                <a:cs typeface="+mn-cs"/>
              </a:rPr>
              <a:t>e7d195523061f1c03a90ee8e42cb24248e56383cd534985688F9F494128731F165EE95AB4B0C0A38076AAEA07667B1565C446FC45FF01DFB0E885BCDBDF3A284F3DB14DA61DD97F0BAB2E6C668FB493187E5C5FDF083ADBDF78C8B43347D6AF35582F3E571D15D569395BE140F5E5E7AD78A776D8053828B7F0DBCC303A1467E48F8A6D5D211210D7C52903204C4C167</a:t>
            </a:r>
            <a:endParaRPr kumimoji="0" lang="zh-CN" altLang="en-US" sz="100" b="0" i="0" u="none" strike="noStrike" kern="1200" cap="none" spc="0" normalizeH="0" baseline="0" noProof="0">
              <a:ln>
                <a:noFill/>
              </a:ln>
              <a:solidFill>
                <a:srgbClr val="000000"/>
              </a:solidFill>
              <a:effectLst/>
              <a:uLnTx/>
              <a:uFillTx/>
              <a:latin typeface="微软雅黑"/>
              <a:ea typeface="微软雅黑"/>
              <a:cs typeface="+mn-cs"/>
            </a:endParaRPr>
          </a:p>
        </p:txBody>
      </p:sp>
      <p:sp>
        <p:nvSpPr>
          <p:cNvPr id="38" name="Text 0">
            <a:extLst>
              <a:ext uri="{FF2B5EF4-FFF2-40B4-BE49-F238E27FC236}">
                <a16:creationId xmlns:a16="http://schemas.microsoft.com/office/drawing/2014/main" id="{E5A5C117-59A6-413C-091C-AEC9ACA5A079}"/>
              </a:ext>
            </a:extLst>
          </p:cNvPr>
          <p:cNvSpPr/>
          <p:nvPr/>
        </p:nvSpPr>
        <p:spPr>
          <a:xfrm>
            <a:off x="502920" y="320040"/>
            <a:ext cx="5029200" cy="201168"/>
          </a:xfrm>
          <a:prstGeom prst="rect">
            <a:avLst/>
          </a:prstGeom>
          <a:noFill/>
          <a:ln/>
        </p:spPr>
        <p:txBody>
          <a:bodyPr wrap="square" lIns="0" tIns="0" rIns="0" bIns="0" rtlCol="0" anchor="ctr"/>
          <a:lstStyle/>
          <a:p>
            <a:r>
              <a:rPr lang="en-US" sz="900" b="1" dirty="0">
                <a:solidFill>
                  <a:srgbClr val="007B83"/>
                </a:solidFill>
                <a:latin typeface="Aptos" pitchFamily="34" charset="0"/>
                <a:ea typeface="Aptos" pitchFamily="34" charset="-122"/>
                <a:cs typeface="Aptos" pitchFamily="34" charset="-120"/>
              </a:rPr>
              <a:t>DEVELOPMENT PROCESS</a:t>
            </a:r>
            <a:endParaRPr lang="en-US" sz="900" dirty="0">
              <a:solidFill>
                <a:prstClr val="black"/>
              </a:solidFill>
              <a:latin typeface="Aptos"/>
            </a:endParaRPr>
          </a:p>
        </p:txBody>
      </p:sp>
      <p:sp>
        <p:nvSpPr>
          <p:cNvPr id="39" name="Text 1">
            <a:extLst>
              <a:ext uri="{FF2B5EF4-FFF2-40B4-BE49-F238E27FC236}">
                <a16:creationId xmlns:a16="http://schemas.microsoft.com/office/drawing/2014/main" id="{5E708462-945B-CB78-48C7-7F1B801F95B6}"/>
              </a:ext>
            </a:extLst>
          </p:cNvPr>
          <p:cNvSpPr/>
          <p:nvPr/>
        </p:nvSpPr>
        <p:spPr>
          <a:xfrm>
            <a:off x="502920" y="576072"/>
            <a:ext cx="11064240" cy="502920"/>
          </a:xfrm>
          <a:prstGeom prst="rect">
            <a:avLst/>
          </a:prstGeom>
          <a:noFill/>
          <a:ln/>
        </p:spPr>
        <p:txBody>
          <a:bodyPr wrap="square" lIns="0" tIns="0" rIns="0" bIns="0" rtlCol="0" anchor="ctr">
            <a:normAutofit/>
          </a:bodyPr>
          <a:lstStyle/>
          <a:p>
            <a:r>
              <a:rPr lang="en-US" sz="2800" b="1" dirty="0">
                <a:solidFill>
                  <a:srgbClr val="1E293B"/>
                </a:solidFill>
                <a:latin typeface="Aptos Display" pitchFamily="34" charset="0"/>
                <a:ea typeface="Aptos Display" pitchFamily="34" charset="-122"/>
                <a:cs typeface="Aptos Display" pitchFamily="34" charset="-120"/>
              </a:rPr>
              <a:t>How the project evolved across nine iterations</a:t>
            </a:r>
            <a:endParaRPr lang="en-US" sz="2800" dirty="0">
              <a:solidFill>
                <a:prstClr val="black"/>
              </a:solidFill>
              <a:latin typeface="Aptos"/>
            </a:endParaRPr>
          </a:p>
        </p:txBody>
      </p:sp>
      <p:sp>
        <p:nvSpPr>
          <p:cNvPr id="40" name="Shape 2">
            <a:extLst>
              <a:ext uri="{FF2B5EF4-FFF2-40B4-BE49-F238E27FC236}">
                <a16:creationId xmlns:a16="http://schemas.microsoft.com/office/drawing/2014/main" id="{0422F9AF-E04D-A4B4-C87A-44C73076C8A1}"/>
              </a:ext>
            </a:extLst>
          </p:cNvPr>
          <p:cNvSpPr/>
          <p:nvPr/>
        </p:nvSpPr>
        <p:spPr>
          <a:xfrm>
            <a:off x="502920" y="1124712"/>
            <a:ext cx="11064240" cy="0"/>
          </a:xfrm>
          <a:prstGeom prst="line">
            <a:avLst/>
          </a:prstGeom>
          <a:noFill/>
          <a:ln w="12700">
            <a:solidFill>
              <a:srgbClr val="E2E8F0"/>
            </a:solidFill>
            <a:prstDash val="solid"/>
          </a:ln>
        </p:spPr>
        <p:txBody>
          <a:bodyPr/>
          <a:lstStyle/>
          <a:p>
            <a:endParaRPr lang="en-US">
              <a:solidFill>
                <a:prstClr val="black"/>
              </a:solidFill>
              <a:latin typeface="Aptos"/>
            </a:endParaRPr>
          </a:p>
        </p:txBody>
      </p:sp>
      <p:sp>
        <p:nvSpPr>
          <p:cNvPr id="41" name="Text 3">
            <a:extLst>
              <a:ext uri="{FF2B5EF4-FFF2-40B4-BE49-F238E27FC236}">
                <a16:creationId xmlns:a16="http://schemas.microsoft.com/office/drawing/2014/main" id="{5F41F216-53C3-DC13-B8D4-8803AEDE2F41}"/>
              </a:ext>
            </a:extLst>
          </p:cNvPr>
          <p:cNvSpPr/>
          <p:nvPr/>
        </p:nvSpPr>
        <p:spPr>
          <a:xfrm>
            <a:off x="438912" y="6528816"/>
            <a:ext cx="5760720" cy="201168"/>
          </a:xfrm>
          <a:prstGeom prst="rect">
            <a:avLst/>
          </a:prstGeom>
          <a:noFill/>
          <a:ln/>
        </p:spPr>
        <p:txBody>
          <a:bodyPr wrap="square" lIns="0" tIns="0" rIns="0" bIns="0" rtlCol="0" anchor="ctr"/>
          <a:lstStyle/>
          <a:p>
            <a:r>
              <a:rPr lang="en-US" sz="750" dirty="0">
                <a:solidFill>
                  <a:srgbClr val="64748B"/>
                </a:solidFill>
                <a:latin typeface="Aptos" pitchFamily="34" charset="0"/>
                <a:ea typeface="Aptos" pitchFamily="34" charset="-122"/>
                <a:cs typeface="Aptos" pitchFamily="34" charset="-120"/>
              </a:rPr>
              <a:t>Predicting Student Romantic Relationship Status</a:t>
            </a:r>
            <a:endParaRPr lang="en-US" sz="750" dirty="0">
              <a:solidFill>
                <a:prstClr val="black"/>
              </a:solidFill>
              <a:latin typeface="Aptos"/>
            </a:endParaRPr>
          </a:p>
        </p:txBody>
      </p:sp>
      <p:sp>
        <p:nvSpPr>
          <p:cNvPr id="42" name="Text 4">
            <a:extLst>
              <a:ext uri="{FF2B5EF4-FFF2-40B4-BE49-F238E27FC236}">
                <a16:creationId xmlns:a16="http://schemas.microsoft.com/office/drawing/2014/main" id="{B8D0DA05-E5BE-8D1C-D7DF-DCB69CAF5B52}"/>
              </a:ext>
            </a:extLst>
          </p:cNvPr>
          <p:cNvSpPr/>
          <p:nvPr/>
        </p:nvSpPr>
        <p:spPr>
          <a:xfrm>
            <a:off x="11539728" y="6510528"/>
            <a:ext cx="320040" cy="201168"/>
          </a:xfrm>
          <a:prstGeom prst="rect">
            <a:avLst/>
          </a:prstGeom>
          <a:noFill/>
          <a:ln/>
        </p:spPr>
        <p:txBody>
          <a:bodyPr wrap="square" lIns="0" tIns="0" rIns="0" bIns="0" rtlCol="0" anchor="ctr"/>
          <a:lstStyle/>
          <a:p>
            <a:pPr algn="r"/>
            <a:r>
              <a:rPr lang="en-US" sz="750" dirty="0">
                <a:solidFill>
                  <a:srgbClr val="64748B"/>
                </a:solidFill>
                <a:latin typeface="Aptos" pitchFamily="34" charset="0"/>
                <a:ea typeface="Aptos" pitchFamily="34" charset="-122"/>
                <a:cs typeface="Aptos" pitchFamily="34" charset="-120"/>
              </a:rPr>
              <a:t>03</a:t>
            </a:r>
            <a:endParaRPr lang="en-US" sz="750" dirty="0">
              <a:solidFill>
                <a:prstClr val="black"/>
              </a:solidFill>
              <a:latin typeface="Aptos"/>
            </a:endParaRPr>
          </a:p>
        </p:txBody>
      </p:sp>
      <p:sp>
        <p:nvSpPr>
          <p:cNvPr id="43" name="Shape 5">
            <a:extLst>
              <a:ext uri="{FF2B5EF4-FFF2-40B4-BE49-F238E27FC236}">
                <a16:creationId xmlns:a16="http://schemas.microsoft.com/office/drawing/2014/main" id="{54B6020C-D629-2C22-C089-819A13661E0F}"/>
              </a:ext>
            </a:extLst>
          </p:cNvPr>
          <p:cNvSpPr/>
          <p:nvPr/>
        </p:nvSpPr>
        <p:spPr>
          <a:xfrm>
            <a:off x="960120" y="4069080"/>
            <a:ext cx="10012680" cy="0"/>
          </a:xfrm>
          <a:prstGeom prst="line">
            <a:avLst/>
          </a:prstGeom>
          <a:noFill/>
          <a:ln w="25400">
            <a:solidFill>
              <a:srgbClr val="CBD5E1"/>
            </a:solidFill>
            <a:prstDash val="solid"/>
          </a:ln>
        </p:spPr>
        <p:txBody>
          <a:bodyPr/>
          <a:lstStyle/>
          <a:p>
            <a:endParaRPr lang="en-US">
              <a:solidFill>
                <a:prstClr val="black"/>
              </a:solidFill>
              <a:latin typeface="Aptos"/>
            </a:endParaRPr>
          </a:p>
        </p:txBody>
      </p:sp>
      <p:sp>
        <p:nvSpPr>
          <p:cNvPr id="44" name="Shape 6">
            <a:extLst>
              <a:ext uri="{FF2B5EF4-FFF2-40B4-BE49-F238E27FC236}">
                <a16:creationId xmlns:a16="http://schemas.microsoft.com/office/drawing/2014/main" id="{2E2AFB34-0758-1DF5-9406-B4BAA9EB05FB}"/>
              </a:ext>
            </a:extLst>
          </p:cNvPr>
          <p:cNvSpPr/>
          <p:nvPr/>
        </p:nvSpPr>
        <p:spPr>
          <a:xfrm>
            <a:off x="777240" y="3950208"/>
            <a:ext cx="256032" cy="256032"/>
          </a:xfrm>
          <a:prstGeom prst="ellipse">
            <a:avLst/>
          </a:prstGeom>
          <a:solidFill>
            <a:srgbClr val="0F9DA6"/>
          </a:solidFill>
          <a:ln w="12700">
            <a:solidFill>
              <a:srgbClr val="FFFFFF"/>
            </a:solidFill>
            <a:prstDash val="solid"/>
          </a:ln>
        </p:spPr>
        <p:txBody>
          <a:bodyPr/>
          <a:lstStyle/>
          <a:p>
            <a:endParaRPr lang="en-US">
              <a:solidFill>
                <a:prstClr val="black"/>
              </a:solidFill>
              <a:latin typeface="Aptos"/>
            </a:endParaRPr>
          </a:p>
        </p:txBody>
      </p:sp>
      <p:sp>
        <p:nvSpPr>
          <p:cNvPr id="45" name="Text 7">
            <a:extLst>
              <a:ext uri="{FF2B5EF4-FFF2-40B4-BE49-F238E27FC236}">
                <a16:creationId xmlns:a16="http://schemas.microsoft.com/office/drawing/2014/main" id="{D8413234-209F-6D0F-3401-2043D4F52F21}"/>
              </a:ext>
            </a:extLst>
          </p:cNvPr>
          <p:cNvSpPr/>
          <p:nvPr/>
        </p:nvSpPr>
        <p:spPr>
          <a:xfrm>
            <a:off x="393192" y="4325112"/>
            <a:ext cx="1051560" cy="640080"/>
          </a:xfrm>
          <a:prstGeom prst="rect">
            <a:avLst/>
          </a:prstGeom>
          <a:noFill/>
          <a:ln/>
        </p:spPr>
        <p:txBody>
          <a:bodyPr wrap="square" lIns="508" tIns="508" rIns="508" bIns="508" rtlCol="0" anchor="t">
            <a:normAutofit/>
          </a:bodyPr>
          <a:lstStyle/>
          <a:p>
            <a:pPr algn="ctr">
              <a:lnSpc>
                <a:spcPct val="90000"/>
              </a:lnSpc>
            </a:pPr>
            <a:r>
              <a:rPr lang="en-US" sz="1050" b="1" dirty="0">
                <a:solidFill>
                  <a:srgbClr val="1E293B"/>
                </a:solidFill>
                <a:latin typeface="Aptos" pitchFamily="34" charset="0"/>
                <a:ea typeface="Aptos" pitchFamily="34" charset="-122"/>
                <a:cs typeface="Aptos" pitchFamily="34" charset="-120"/>
              </a:rPr>
              <a:t>Raw</a:t>
            </a:r>
            <a:endParaRPr lang="en-US" sz="1050" dirty="0">
              <a:solidFill>
                <a:prstClr val="black"/>
              </a:solidFill>
              <a:latin typeface="Aptos"/>
            </a:endParaRPr>
          </a:p>
          <a:p>
            <a:pPr algn="ctr">
              <a:lnSpc>
                <a:spcPct val="90000"/>
              </a:lnSpc>
            </a:pPr>
            <a:r>
              <a:rPr lang="en-US" sz="1050" b="1" dirty="0">
                <a:solidFill>
                  <a:srgbClr val="1E293B"/>
                </a:solidFill>
                <a:latin typeface="Aptos" pitchFamily="34" charset="0"/>
                <a:ea typeface="Aptos" pitchFamily="34" charset="-122"/>
                <a:cs typeface="Aptos" pitchFamily="34" charset="-120"/>
              </a:rPr>
              <a:t>models</a:t>
            </a:r>
            <a:endParaRPr lang="en-US" sz="1050" dirty="0">
              <a:solidFill>
                <a:prstClr val="black"/>
              </a:solidFill>
              <a:latin typeface="Aptos"/>
            </a:endParaRPr>
          </a:p>
        </p:txBody>
      </p:sp>
      <p:sp>
        <p:nvSpPr>
          <p:cNvPr id="46" name="Shape 8">
            <a:extLst>
              <a:ext uri="{FF2B5EF4-FFF2-40B4-BE49-F238E27FC236}">
                <a16:creationId xmlns:a16="http://schemas.microsoft.com/office/drawing/2014/main" id="{E86B21EF-FD06-7FF6-0D86-4438EE9D2A5C}"/>
              </a:ext>
            </a:extLst>
          </p:cNvPr>
          <p:cNvSpPr/>
          <p:nvPr/>
        </p:nvSpPr>
        <p:spPr>
          <a:xfrm>
            <a:off x="2057400" y="3950208"/>
            <a:ext cx="256032" cy="256032"/>
          </a:xfrm>
          <a:prstGeom prst="ellipse">
            <a:avLst/>
          </a:prstGeom>
          <a:solidFill>
            <a:srgbClr val="0F9DA6"/>
          </a:solidFill>
          <a:ln w="12700">
            <a:solidFill>
              <a:srgbClr val="FFFFFF"/>
            </a:solidFill>
            <a:prstDash val="solid"/>
          </a:ln>
        </p:spPr>
        <p:txBody>
          <a:bodyPr/>
          <a:lstStyle/>
          <a:p>
            <a:endParaRPr lang="en-US">
              <a:solidFill>
                <a:prstClr val="black"/>
              </a:solidFill>
              <a:latin typeface="Aptos"/>
            </a:endParaRPr>
          </a:p>
        </p:txBody>
      </p:sp>
      <p:sp>
        <p:nvSpPr>
          <p:cNvPr id="47" name="Text 9">
            <a:extLst>
              <a:ext uri="{FF2B5EF4-FFF2-40B4-BE49-F238E27FC236}">
                <a16:creationId xmlns:a16="http://schemas.microsoft.com/office/drawing/2014/main" id="{6532C690-4632-074E-49CF-19EB341610D4}"/>
              </a:ext>
            </a:extLst>
          </p:cNvPr>
          <p:cNvSpPr/>
          <p:nvPr/>
        </p:nvSpPr>
        <p:spPr>
          <a:xfrm>
            <a:off x="1673352" y="4325112"/>
            <a:ext cx="1051560" cy="640080"/>
          </a:xfrm>
          <a:prstGeom prst="rect">
            <a:avLst/>
          </a:prstGeom>
          <a:noFill/>
          <a:ln/>
        </p:spPr>
        <p:txBody>
          <a:bodyPr wrap="square" lIns="508" tIns="508" rIns="508" bIns="508" rtlCol="0" anchor="t">
            <a:normAutofit/>
          </a:bodyPr>
          <a:lstStyle/>
          <a:p>
            <a:pPr algn="ctr">
              <a:lnSpc>
                <a:spcPct val="90000"/>
              </a:lnSpc>
            </a:pPr>
            <a:r>
              <a:rPr lang="en-US" sz="1050" b="1" dirty="0">
                <a:solidFill>
                  <a:srgbClr val="1E293B"/>
                </a:solidFill>
                <a:latin typeface="Aptos" pitchFamily="34" charset="0"/>
                <a:ea typeface="Aptos" pitchFamily="34" charset="-122"/>
                <a:cs typeface="Aptos" pitchFamily="34" charset="-120"/>
              </a:rPr>
              <a:t>Merge</a:t>
            </a:r>
            <a:endParaRPr lang="en-US" sz="1050" dirty="0">
              <a:solidFill>
                <a:prstClr val="black"/>
              </a:solidFill>
              <a:latin typeface="Aptos"/>
            </a:endParaRPr>
          </a:p>
          <a:p>
            <a:pPr algn="ctr">
              <a:lnSpc>
                <a:spcPct val="90000"/>
              </a:lnSpc>
            </a:pPr>
            <a:r>
              <a:rPr lang="en-US" sz="1050" b="1" dirty="0">
                <a:solidFill>
                  <a:srgbClr val="1E293B"/>
                </a:solidFill>
                <a:latin typeface="Aptos" pitchFamily="34" charset="0"/>
                <a:ea typeface="Aptos" pitchFamily="34" charset="-122"/>
                <a:cs typeface="Aptos" pitchFamily="34" charset="-120"/>
              </a:rPr>
              <a:t>duplicates</a:t>
            </a:r>
            <a:endParaRPr lang="en-US" sz="1050" dirty="0">
              <a:solidFill>
                <a:prstClr val="black"/>
              </a:solidFill>
              <a:latin typeface="Aptos"/>
            </a:endParaRPr>
          </a:p>
        </p:txBody>
      </p:sp>
      <p:sp>
        <p:nvSpPr>
          <p:cNvPr id="48" name="Shape 10">
            <a:extLst>
              <a:ext uri="{FF2B5EF4-FFF2-40B4-BE49-F238E27FC236}">
                <a16:creationId xmlns:a16="http://schemas.microsoft.com/office/drawing/2014/main" id="{B54F20FB-1AA8-4F73-468E-8ECBAD4094B8}"/>
              </a:ext>
            </a:extLst>
          </p:cNvPr>
          <p:cNvSpPr/>
          <p:nvPr/>
        </p:nvSpPr>
        <p:spPr>
          <a:xfrm>
            <a:off x="3337560" y="3950208"/>
            <a:ext cx="256032" cy="256032"/>
          </a:xfrm>
          <a:prstGeom prst="ellipse">
            <a:avLst/>
          </a:prstGeom>
          <a:solidFill>
            <a:srgbClr val="0F9DA6"/>
          </a:solidFill>
          <a:ln w="12700">
            <a:solidFill>
              <a:srgbClr val="FFFFFF"/>
            </a:solidFill>
            <a:prstDash val="solid"/>
          </a:ln>
        </p:spPr>
        <p:txBody>
          <a:bodyPr/>
          <a:lstStyle/>
          <a:p>
            <a:endParaRPr lang="en-US">
              <a:solidFill>
                <a:prstClr val="black"/>
              </a:solidFill>
              <a:latin typeface="Aptos"/>
            </a:endParaRPr>
          </a:p>
        </p:txBody>
      </p:sp>
      <p:sp>
        <p:nvSpPr>
          <p:cNvPr id="49" name="Text 11">
            <a:extLst>
              <a:ext uri="{FF2B5EF4-FFF2-40B4-BE49-F238E27FC236}">
                <a16:creationId xmlns:a16="http://schemas.microsoft.com/office/drawing/2014/main" id="{F80D4FC9-ED9A-4E5F-2F5D-C88B6546AFFE}"/>
              </a:ext>
            </a:extLst>
          </p:cNvPr>
          <p:cNvSpPr/>
          <p:nvPr/>
        </p:nvSpPr>
        <p:spPr>
          <a:xfrm>
            <a:off x="2953512" y="4325112"/>
            <a:ext cx="1051560" cy="640080"/>
          </a:xfrm>
          <a:prstGeom prst="rect">
            <a:avLst/>
          </a:prstGeom>
          <a:noFill/>
          <a:ln/>
        </p:spPr>
        <p:txBody>
          <a:bodyPr wrap="square" lIns="508" tIns="508" rIns="508" bIns="508" rtlCol="0" anchor="t">
            <a:normAutofit/>
          </a:bodyPr>
          <a:lstStyle/>
          <a:p>
            <a:pPr algn="ctr">
              <a:lnSpc>
                <a:spcPct val="90000"/>
              </a:lnSpc>
            </a:pPr>
            <a:r>
              <a:rPr lang="en-US" sz="1050" b="1" dirty="0">
                <a:solidFill>
                  <a:srgbClr val="1E293B"/>
                </a:solidFill>
                <a:latin typeface="Aptos" pitchFamily="34" charset="0"/>
                <a:ea typeface="Aptos" pitchFamily="34" charset="-122"/>
                <a:cs typeface="Aptos" pitchFamily="34" charset="-120"/>
              </a:rPr>
              <a:t>Feature</a:t>
            </a:r>
            <a:endParaRPr lang="en-US" sz="1050" dirty="0">
              <a:solidFill>
                <a:prstClr val="black"/>
              </a:solidFill>
              <a:latin typeface="Aptos"/>
            </a:endParaRPr>
          </a:p>
          <a:p>
            <a:pPr algn="ctr">
              <a:lnSpc>
                <a:spcPct val="90000"/>
              </a:lnSpc>
            </a:pPr>
            <a:r>
              <a:rPr lang="en-US" sz="1050" b="1" dirty="0">
                <a:solidFill>
                  <a:srgbClr val="1E293B"/>
                </a:solidFill>
                <a:latin typeface="Aptos" pitchFamily="34" charset="0"/>
                <a:ea typeface="Aptos" pitchFamily="34" charset="-122"/>
                <a:cs typeface="Aptos" pitchFamily="34" charset="-120"/>
              </a:rPr>
              <a:t>engineering</a:t>
            </a:r>
            <a:endParaRPr lang="en-US" sz="1050" dirty="0">
              <a:solidFill>
                <a:prstClr val="black"/>
              </a:solidFill>
              <a:latin typeface="Aptos"/>
            </a:endParaRPr>
          </a:p>
        </p:txBody>
      </p:sp>
      <p:sp>
        <p:nvSpPr>
          <p:cNvPr id="50" name="Shape 12">
            <a:extLst>
              <a:ext uri="{FF2B5EF4-FFF2-40B4-BE49-F238E27FC236}">
                <a16:creationId xmlns:a16="http://schemas.microsoft.com/office/drawing/2014/main" id="{FEB43A48-5E70-8B09-1600-6EF2789A2D20}"/>
              </a:ext>
            </a:extLst>
          </p:cNvPr>
          <p:cNvSpPr/>
          <p:nvPr/>
        </p:nvSpPr>
        <p:spPr>
          <a:xfrm>
            <a:off x="4617720" y="3950208"/>
            <a:ext cx="256032" cy="256032"/>
          </a:xfrm>
          <a:prstGeom prst="ellipse">
            <a:avLst/>
          </a:prstGeom>
          <a:solidFill>
            <a:srgbClr val="0F9DA6"/>
          </a:solidFill>
          <a:ln w="12700">
            <a:solidFill>
              <a:srgbClr val="FFFFFF"/>
            </a:solidFill>
            <a:prstDash val="solid"/>
          </a:ln>
        </p:spPr>
        <p:txBody>
          <a:bodyPr/>
          <a:lstStyle/>
          <a:p>
            <a:endParaRPr lang="en-US">
              <a:solidFill>
                <a:prstClr val="black"/>
              </a:solidFill>
              <a:latin typeface="Aptos"/>
            </a:endParaRPr>
          </a:p>
        </p:txBody>
      </p:sp>
      <p:sp>
        <p:nvSpPr>
          <p:cNvPr id="51" name="Text 13">
            <a:extLst>
              <a:ext uri="{FF2B5EF4-FFF2-40B4-BE49-F238E27FC236}">
                <a16:creationId xmlns:a16="http://schemas.microsoft.com/office/drawing/2014/main" id="{6009DE13-2267-24A4-5C39-D7B95E8CA2EF}"/>
              </a:ext>
            </a:extLst>
          </p:cNvPr>
          <p:cNvSpPr/>
          <p:nvPr/>
        </p:nvSpPr>
        <p:spPr>
          <a:xfrm>
            <a:off x="4233672" y="4325112"/>
            <a:ext cx="1051560" cy="640080"/>
          </a:xfrm>
          <a:prstGeom prst="rect">
            <a:avLst/>
          </a:prstGeom>
          <a:noFill/>
          <a:ln/>
        </p:spPr>
        <p:txBody>
          <a:bodyPr wrap="square" lIns="508" tIns="508" rIns="508" bIns="508" rtlCol="0" anchor="t">
            <a:normAutofit/>
          </a:bodyPr>
          <a:lstStyle/>
          <a:p>
            <a:pPr algn="ctr">
              <a:lnSpc>
                <a:spcPct val="90000"/>
              </a:lnSpc>
            </a:pPr>
            <a:r>
              <a:rPr lang="en-US" sz="1050" b="1" dirty="0">
                <a:solidFill>
                  <a:srgbClr val="1E293B"/>
                </a:solidFill>
                <a:latin typeface="Aptos" pitchFamily="34" charset="0"/>
                <a:ea typeface="Aptos" pitchFamily="34" charset="-122"/>
                <a:cs typeface="Aptos" pitchFamily="34" charset="-120"/>
              </a:rPr>
              <a:t>Sex-specific</a:t>
            </a:r>
            <a:endParaRPr lang="en-US" sz="1050" dirty="0">
              <a:solidFill>
                <a:prstClr val="black"/>
              </a:solidFill>
              <a:latin typeface="Aptos"/>
            </a:endParaRPr>
          </a:p>
          <a:p>
            <a:pPr algn="ctr">
              <a:lnSpc>
                <a:spcPct val="90000"/>
              </a:lnSpc>
            </a:pPr>
            <a:r>
              <a:rPr lang="en-US" sz="1050" b="1" dirty="0">
                <a:solidFill>
                  <a:srgbClr val="1E293B"/>
                </a:solidFill>
                <a:latin typeface="Aptos" pitchFamily="34" charset="0"/>
                <a:ea typeface="Aptos" pitchFamily="34" charset="-122"/>
                <a:cs typeface="Aptos" pitchFamily="34" charset="-120"/>
              </a:rPr>
              <a:t>models</a:t>
            </a:r>
            <a:endParaRPr lang="en-US" sz="1050" dirty="0">
              <a:solidFill>
                <a:prstClr val="black"/>
              </a:solidFill>
              <a:latin typeface="Aptos"/>
            </a:endParaRPr>
          </a:p>
        </p:txBody>
      </p:sp>
      <p:sp>
        <p:nvSpPr>
          <p:cNvPr id="52" name="Shape 14">
            <a:extLst>
              <a:ext uri="{FF2B5EF4-FFF2-40B4-BE49-F238E27FC236}">
                <a16:creationId xmlns:a16="http://schemas.microsoft.com/office/drawing/2014/main" id="{33A260AD-091C-B15E-79C1-9DB69979F7A2}"/>
              </a:ext>
            </a:extLst>
          </p:cNvPr>
          <p:cNvSpPr/>
          <p:nvPr/>
        </p:nvSpPr>
        <p:spPr>
          <a:xfrm>
            <a:off x="5989320" y="3950208"/>
            <a:ext cx="256032" cy="256032"/>
          </a:xfrm>
          <a:prstGeom prst="ellipse">
            <a:avLst/>
          </a:prstGeom>
          <a:solidFill>
            <a:srgbClr val="0F9DA6"/>
          </a:solidFill>
          <a:ln w="12700">
            <a:solidFill>
              <a:srgbClr val="FFFFFF"/>
            </a:solidFill>
            <a:prstDash val="solid"/>
          </a:ln>
        </p:spPr>
        <p:txBody>
          <a:bodyPr/>
          <a:lstStyle/>
          <a:p>
            <a:endParaRPr lang="en-US">
              <a:solidFill>
                <a:prstClr val="black"/>
              </a:solidFill>
              <a:latin typeface="Aptos"/>
            </a:endParaRPr>
          </a:p>
        </p:txBody>
      </p:sp>
      <p:sp>
        <p:nvSpPr>
          <p:cNvPr id="53" name="Text 15">
            <a:extLst>
              <a:ext uri="{FF2B5EF4-FFF2-40B4-BE49-F238E27FC236}">
                <a16:creationId xmlns:a16="http://schemas.microsoft.com/office/drawing/2014/main" id="{892BF1B5-D77D-988A-89E8-A2AB3DD7AF21}"/>
              </a:ext>
            </a:extLst>
          </p:cNvPr>
          <p:cNvSpPr/>
          <p:nvPr/>
        </p:nvSpPr>
        <p:spPr>
          <a:xfrm>
            <a:off x="5605272" y="4325112"/>
            <a:ext cx="1051560" cy="640080"/>
          </a:xfrm>
          <a:prstGeom prst="rect">
            <a:avLst/>
          </a:prstGeom>
          <a:noFill/>
          <a:ln/>
        </p:spPr>
        <p:txBody>
          <a:bodyPr wrap="square" lIns="508" tIns="508" rIns="508" bIns="508" rtlCol="0" anchor="t">
            <a:normAutofit/>
          </a:bodyPr>
          <a:lstStyle/>
          <a:p>
            <a:pPr algn="ctr">
              <a:lnSpc>
                <a:spcPct val="90000"/>
              </a:lnSpc>
            </a:pPr>
            <a:r>
              <a:rPr lang="en-US" sz="1050" b="1" dirty="0">
                <a:solidFill>
                  <a:srgbClr val="1E293B"/>
                </a:solidFill>
                <a:latin typeface="Aptos" pitchFamily="34" charset="0"/>
                <a:ea typeface="Aptos" pitchFamily="34" charset="-122"/>
                <a:cs typeface="Aptos" pitchFamily="34" charset="-120"/>
              </a:rPr>
              <a:t>Course-level</a:t>
            </a:r>
            <a:endParaRPr lang="en-US" sz="1050" dirty="0">
              <a:solidFill>
                <a:prstClr val="black"/>
              </a:solidFill>
              <a:latin typeface="Aptos"/>
            </a:endParaRPr>
          </a:p>
          <a:p>
            <a:pPr algn="ctr">
              <a:lnSpc>
                <a:spcPct val="90000"/>
              </a:lnSpc>
            </a:pPr>
            <a:r>
              <a:rPr lang="en-US" sz="1050" b="1" dirty="0">
                <a:solidFill>
                  <a:srgbClr val="1E293B"/>
                </a:solidFill>
                <a:latin typeface="Aptos" pitchFamily="34" charset="0"/>
                <a:ea typeface="Aptos" pitchFamily="34" charset="-122"/>
                <a:cs typeface="Aptos" pitchFamily="34" charset="-120"/>
              </a:rPr>
              <a:t>check</a:t>
            </a:r>
            <a:endParaRPr lang="en-US" sz="1050" dirty="0">
              <a:solidFill>
                <a:prstClr val="black"/>
              </a:solidFill>
              <a:latin typeface="Aptos"/>
            </a:endParaRPr>
          </a:p>
        </p:txBody>
      </p:sp>
      <p:sp>
        <p:nvSpPr>
          <p:cNvPr id="54" name="Shape 16">
            <a:extLst>
              <a:ext uri="{FF2B5EF4-FFF2-40B4-BE49-F238E27FC236}">
                <a16:creationId xmlns:a16="http://schemas.microsoft.com/office/drawing/2014/main" id="{F880636C-9797-9276-5E44-189BE293B73C}"/>
              </a:ext>
            </a:extLst>
          </p:cNvPr>
          <p:cNvSpPr/>
          <p:nvPr/>
        </p:nvSpPr>
        <p:spPr>
          <a:xfrm>
            <a:off x="7360920" y="3950208"/>
            <a:ext cx="256032" cy="256032"/>
          </a:xfrm>
          <a:prstGeom prst="ellipse">
            <a:avLst/>
          </a:prstGeom>
          <a:solidFill>
            <a:srgbClr val="0F9DA6"/>
          </a:solidFill>
          <a:ln w="12700">
            <a:solidFill>
              <a:srgbClr val="FFFFFF"/>
            </a:solidFill>
            <a:prstDash val="solid"/>
          </a:ln>
        </p:spPr>
        <p:txBody>
          <a:bodyPr/>
          <a:lstStyle/>
          <a:p>
            <a:endParaRPr lang="en-US">
              <a:solidFill>
                <a:prstClr val="black"/>
              </a:solidFill>
              <a:latin typeface="Aptos"/>
            </a:endParaRPr>
          </a:p>
        </p:txBody>
      </p:sp>
      <p:sp>
        <p:nvSpPr>
          <p:cNvPr id="55" name="Text 17">
            <a:extLst>
              <a:ext uri="{FF2B5EF4-FFF2-40B4-BE49-F238E27FC236}">
                <a16:creationId xmlns:a16="http://schemas.microsoft.com/office/drawing/2014/main" id="{0A48265D-8773-13D0-CCBC-A34CEFA53455}"/>
              </a:ext>
            </a:extLst>
          </p:cNvPr>
          <p:cNvSpPr/>
          <p:nvPr/>
        </p:nvSpPr>
        <p:spPr>
          <a:xfrm>
            <a:off x="6976872" y="4325112"/>
            <a:ext cx="1051560" cy="640080"/>
          </a:xfrm>
          <a:prstGeom prst="rect">
            <a:avLst/>
          </a:prstGeom>
          <a:noFill/>
          <a:ln/>
        </p:spPr>
        <p:txBody>
          <a:bodyPr wrap="square" lIns="508" tIns="508" rIns="508" bIns="508" rtlCol="0" anchor="t">
            <a:normAutofit/>
          </a:bodyPr>
          <a:lstStyle/>
          <a:p>
            <a:pPr algn="ctr">
              <a:lnSpc>
                <a:spcPct val="90000"/>
              </a:lnSpc>
            </a:pPr>
            <a:r>
              <a:rPr lang="en-US" sz="1050" b="1" dirty="0">
                <a:solidFill>
                  <a:srgbClr val="1E293B"/>
                </a:solidFill>
                <a:latin typeface="Aptos" pitchFamily="34" charset="0"/>
                <a:ea typeface="Aptos" pitchFamily="34" charset="-122"/>
                <a:cs typeface="Aptos" pitchFamily="34" charset="-120"/>
              </a:rPr>
              <a:t>Pooled +</a:t>
            </a:r>
            <a:endParaRPr lang="en-US" sz="1050" dirty="0">
              <a:solidFill>
                <a:prstClr val="black"/>
              </a:solidFill>
              <a:latin typeface="Aptos"/>
            </a:endParaRPr>
          </a:p>
          <a:p>
            <a:pPr algn="ctr">
              <a:lnSpc>
                <a:spcPct val="90000"/>
              </a:lnSpc>
            </a:pPr>
            <a:r>
              <a:rPr lang="en-US" sz="1050" b="1" dirty="0">
                <a:solidFill>
                  <a:srgbClr val="1E293B"/>
                </a:solidFill>
                <a:latin typeface="Aptos" pitchFamily="34" charset="0"/>
                <a:ea typeface="Aptos" pitchFamily="34" charset="-122"/>
                <a:cs typeface="Aptos" pitchFamily="34" charset="-120"/>
              </a:rPr>
              <a:t>sex variable</a:t>
            </a:r>
            <a:endParaRPr lang="en-US" sz="1050" dirty="0">
              <a:solidFill>
                <a:prstClr val="black"/>
              </a:solidFill>
              <a:latin typeface="Aptos"/>
            </a:endParaRPr>
          </a:p>
        </p:txBody>
      </p:sp>
      <p:sp>
        <p:nvSpPr>
          <p:cNvPr id="56" name="Shape 18">
            <a:extLst>
              <a:ext uri="{FF2B5EF4-FFF2-40B4-BE49-F238E27FC236}">
                <a16:creationId xmlns:a16="http://schemas.microsoft.com/office/drawing/2014/main" id="{21339CE4-4B1B-A4A7-95FE-14C382CD41F6}"/>
              </a:ext>
            </a:extLst>
          </p:cNvPr>
          <p:cNvSpPr/>
          <p:nvPr/>
        </p:nvSpPr>
        <p:spPr>
          <a:xfrm>
            <a:off x="8732520" y="3950208"/>
            <a:ext cx="256032" cy="256032"/>
          </a:xfrm>
          <a:prstGeom prst="ellipse">
            <a:avLst/>
          </a:prstGeom>
          <a:solidFill>
            <a:srgbClr val="0F9DA6"/>
          </a:solidFill>
          <a:ln w="12700">
            <a:solidFill>
              <a:srgbClr val="FFFFFF"/>
            </a:solidFill>
            <a:prstDash val="solid"/>
          </a:ln>
        </p:spPr>
        <p:txBody>
          <a:bodyPr/>
          <a:lstStyle/>
          <a:p>
            <a:endParaRPr lang="en-US">
              <a:solidFill>
                <a:prstClr val="black"/>
              </a:solidFill>
              <a:latin typeface="Aptos"/>
            </a:endParaRPr>
          </a:p>
        </p:txBody>
      </p:sp>
      <p:sp>
        <p:nvSpPr>
          <p:cNvPr id="57" name="Text 19">
            <a:extLst>
              <a:ext uri="{FF2B5EF4-FFF2-40B4-BE49-F238E27FC236}">
                <a16:creationId xmlns:a16="http://schemas.microsoft.com/office/drawing/2014/main" id="{F9AB5829-7F2C-367D-0CD1-91BC75A1BB06}"/>
              </a:ext>
            </a:extLst>
          </p:cNvPr>
          <p:cNvSpPr/>
          <p:nvPr/>
        </p:nvSpPr>
        <p:spPr>
          <a:xfrm>
            <a:off x="8348472" y="4325112"/>
            <a:ext cx="1051560" cy="640080"/>
          </a:xfrm>
          <a:prstGeom prst="rect">
            <a:avLst/>
          </a:prstGeom>
          <a:noFill/>
          <a:ln/>
        </p:spPr>
        <p:txBody>
          <a:bodyPr wrap="square" lIns="508" tIns="508" rIns="508" bIns="508" rtlCol="0" anchor="t">
            <a:normAutofit/>
          </a:bodyPr>
          <a:lstStyle/>
          <a:p>
            <a:pPr algn="ctr">
              <a:lnSpc>
                <a:spcPct val="90000"/>
              </a:lnSpc>
            </a:pPr>
            <a:r>
              <a:rPr lang="en-US" sz="1050" b="1" dirty="0">
                <a:solidFill>
                  <a:srgbClr val="1E293B"/>
                </a:solidFill>
                <a:latin typeface="Aptos" pitchFamily="34" charset="0"/>
                <a:ea typeface="Aptos" pitchFamily="34" charset="-122"/>
                <a:cs typeface="Aptos" pitchFamily="34" charset="-120"/>
              </a:rPr>
              <a:t>Ensemble +</a:t>
            </a:r>
            <a:endParaRPr lang="en-US" sz="1050" dirty="0">
              <a:solidFill>
                <a:prstClr val="black"/>
              </a:solidFill>
              <a:latin typeface="Aptos"/>
            </a:endParaRPr>
          </a:p>
          <a:p>
            <a:pPr algn="ctr">
              <a:lnSpc>
                <a:spcPct val="90000"/>
              </a:lnSpc>
            </a:pPr>
            <a:r>
              <a:rPr lang="en-US" sz="1050" b="1" dirty="0">
                <a:solidFill>
                  <a:srgbClr val="1E293B"/>
                </a:solidFill>
                <a:latin typeface="Aptos" pitchFamily="34" charset="0"/>
                <a:ea typeface="Aptos" pitchFamily="34" charset="-122"/>
                <a:cs typeface="Aptos" pitchFamily="34" charset="-120"/>
              </a:rPr>
              <a:t>calibration</a:t>
            </a:r>
            <a:endParaRPr lang="en-US" sz="1050" dirty="0">
              <a:solidFill>
                <a:prstClr val="black"/>
              </a:solidFill>
              <a:latin typeface="Aptos"/>
            </a:endParaRPr>
          </a:p>
        </p:txBody>
      </p:sp>
      <p:sp>
        <p:nvSpPr>
          <p:cNvPr id="58" name="Shape 20">
            <a:extLst>
              <a:ext uri="{FF2B5EF4-FFF2-40B4-BE49-F238E27FC236}">
                <a16:creationId xmlns:a16="http://schemas.microsoft.com/office/drawing/2014/main" id="{4F3615FB-166E-B07F-4416-8AD0F2EF82FB}"/>
              </a:ext>
            </a:extLst>
          </p:cNvPr>
          <p:cNvSpPr/>
          <p:nvPr/>
        </p:nvSpPr>
        <p:spPr>
          <a:xfrm>
            <a:off x="10149840" y="3950208"/>
            <a:ext cx="256032" cy="256032"/>
          </a:xfrm>
          <a:prstGeom prst="ellipse">
            <a:avLst/>
          </a:prstGeom>
          <a:solidFill>
            <a:srgbClr val="F87171"/>
          </a:solidFill>
          <a:ln w="12700">
            <a:solidFill>
              <a:srgbClr val="FFFFFF"/>
            </a:solidFill>
            <a:prstDash val="solid"/>
          </a:ln>
        </p:spPr>
        <p:txBody>
          <a:bodyPr/>
          <a:lstStyle/>
          <a:p>
            <a:endParaRPr lang="en-US">
              <a:solidFill>
                <a:prstClr val="black"/>
              </a:solidFill>
              <a:latin typeface="Aptos"/>
            </a:endParaRPr>
          </a:p>
        </p:txBody>
      </p:sp>
      <p:sp>
        <p:nvSpPr>
          <p:cNvPr id="59" name="Text 21">
            <a:extLst>
              <a:ext uri="{FF2B5EF4-FFF2-40B4-BE49-F238E27FC236}">
                <a16:creationId xmlns:a16="http://schemas.microsoft.com/office/drawing/2014/main" id="{7155F3A5-F82A-A38E-8395-BE93B5B3A3F3}"/>
              </a:ext>
            </a:extLst>
          </p:cNvPr>
          <p:cNvSpPr/>
          <p:nvPr/>
        </p:nvSpPr>
        <p:spPr>
          <a:xfrm>
            <a:off x="9765792" y="4325112"/>
            <a:ext cx="1051560" cy="640080"/>
          </a:xfrm>
          <a:prstGeom prst="rect">
            <a:avLst/>
          </a:prstGeom>
          <a:noFill/>
          <a:ln/>
        </p:spPr>
        <p:txBody>
          <a:bodyPr wrap="square" lIns="508" tIns="508" rIns="508" bIns="508" rtlCol="0" anchor="t">
            <a:normAutofit/>
          </a:bodyPr>
          <a:lstStyle/>
          <a:p>
            <a:pPr algn="ctr">
              <a:lnSpc>
                <a:spcPct val="90000"/>
              </a:lnSpc>
            </a:pPr>
            <a:r>
              <a:rPr lang="en-US" sz="1050" b="1" dirty="0">
                <a:solidFill>
                  <a:srgbClr val="1E293B"/>
                </a:solidFill>
                <a:latin typeface="Aptos" pitchFamily="34" charset="0"/>
                <a:ea typeface="Aptos" pitchFamily="34" charset="-122"/>
                <a:cs typeface="Aptos" pitchFamily="34" charset="-120"/>
              </a:rPr>
              <a:t>Final</a:t>
            </a:r>
            <a:endParaRPr lang="en-US" sz="1050" dirty="0">
              <a:solidFill>
                <a:prstClr val="black"/>
              </a:solidFill>
              <a:latin typeface="Aptos"/>
            </a:endParaRPr>
          </a:p>
          <a:p>
            <a:pPr algn="ctr">
              <a:lnSpc>
                <a:spcPct val="90000"/>
              </a:lnSpc>
            </a:pPr>
            <a:r>
              <a:rPr lang="en-US" sz="1050" b="1" dirty="0">
                <a:solidFill>
                  <a:srgbClr val="1E293B"/>
                </a:solidFill>
                <a:latin typeface="Aptos" pitchFamily="34" charset="0"/>
                <a:ea typeface="Aptos" pitchFamily="34" charset="-122"/>
                <a:cs typeface="Aptos" pitchFamily="34" charset="-120"/>
              </a:rPr>
              <a:t>report</a:t>
            </a:r>
            <a:endParaRPr lang="en-US" sz="1050" dirty="0">
              <a:solidFill>
                <a:prstClr val="black"/>
              </a:solidFill>
              <a:latin typeface="Aptos"/>
            </a:endParaRPr>
          </a:p>
        </p:txBody>
      </p:sp>
      <p:sp>
        <p:nvSpPr>
          <p:cNvPr id="60" name="Shape 22">
            <a:extLst>
              <a:ext uri="{FF2B5EF4-FFF2-40B4-BE49-F238E27FC236}">
                <a16:creationId xmlns:a16="http://schemas.microsoft.com/office/drawing/2014/main" id="{E58814FC-3910-31F0-17A7-21F3C832950D}"/>
              </a:ext>
            </a:extLst>
          </p:cNvPr>
          <p:cNvSpPr/>
          <p:nvPr/>
        </p:nvSpPr>
        <p:spPr>
          <a:xfrm>
            <a:off x="713232" y="1417320"/>
            <a:ext cx="45720" cy="1051560"/>
          </a:xfrm>
          <a:prstGeom prst="rect">
            <a:avLst/>
          </a:prstGeom>
          <a:solidFill>
            <a:srgbClr val="007B83"/>
          </a:solidFill>
          <a:ln w="12700">
            <a:solidFill>
              <a:srgbClr val="007B83"/>
            </a:solidFill>
            <a:prstDash val="solid"/>
          </a:ln>
        </p:spPr>
        <p:txBody>
          <a:bodyPr/>
          <a:lstStyle/>
          <a:p>
            <a:endParaRPr lang="en-US">
              <a:solidFill>
                <a:prstClr val="black"/>
              </a:solidFill>
              <a:latin typeface="Aptos"/>
            </a:endParaRPr>
          </a:p>
        </p:txBody>
      </p:sp>
      <p:sp>
        <p:nvSpPr>
          <p:cNvPr id="61" name="Text 23">
            <a:extLst>
              <a:ext uri="{FF2B5EF4-FFF2-40B4-BE49-F238E27FC236}">
                <a16:creationId xmlns:a16="http://schemas.microsoft.com/office/drawing/2014/main" id="{973379ED-1E29-69DD-5B4A-2354EC620EBB}"/>
              </a:ext>
            </a:extLst>
          </p:cNvPr>
          <p:cNvSpPr/>
          <p:nvPr/>
        </p:nvSpPr>
        <p:spPr>
          <a:xfrm>
            <a:off x="832104" y="1417320"/>
            <a:ext cx="5276088" cy="1051560"/>
          </a:xfrm>
          <a:prstGeom prst="rect">
            <a:avLst/>
          </a:prstGeom>
          <a:noFill/>
          <a:ln/>
        </p:spPr>
        <p:txBody>
          <a:bodyPr wrap="square" lIns="381" tIns="381" rIns="381" bIns="381" rtlCol="0" anchor="ctr">
            <a:normAutofit/>
          </a:bodyPr>
          <a:lstStyle/>
          <a:p>
            <a:r>
              <a:rPr lang="en-US" sz="1400" dirty="0">
                <a:solidFill>
                  <a:srgbClr val="475569"/>
                </a:solidFill>
                <a:latin typeface="Aptos" pitchFamily="34" charset="0"/>
                <a:ea typeface="Aptos" pitchFamily="34" charset="-122"/>
                <a:cs typeface="Aptos" pitchFamily="34" charset="-120"/>
              </a:rPr>
              <a:t>Key lesson: adding complexity did not automatically improve accuracy. The strongest final design used a merged student-level sample, pooled modeling, sex as a predictor, and probability diagnostics.</a:t>
            </a:r>
            <a:endParaRPr lang="en-US" sz="1400" dirty="0">
              <a:solidFill>
                <a:prstClr val="black"/>
              </a:solidFill>
              <a:latin typeface="Aptos"/>
            </a:endParaRPr>
          </a:p>
        </p:txBody>
      </p:sp>
      <p:sp>
        <p:nvSpPr>
          <p:cNvPr id="62" name="Text 24">
            <a:extLst>
              <a:ext uri="{FF2B5EF4-FFF2-40B4-BE49-F238E27FC236}">
                <a16:creationId xmlns:a16="http://schemas.microsoft.com/office/drawing/2014/main" id="{B8F64227-F02A-23E0-FF0B-7C3CA7A7801A}"/>
              </a:ext>
            </a:extLst>
          </p:cNvPr>
          <p:cNvSpPr/>
          <p:nvPr/>
        </p:nvSpPr>
        <p:spPr>
          <a:xfrm>
            <a:off x="6446520" y="1417320"/>
            <a:ext cx="4937760" cy="2011680"/>
          </a:xfrm>
          <a:prstGeom prst="rect">
            <a:avLst/>
          </a:prstGeom>
          <a:noFill/>
          <a:ln/>
        </p:spPr>
        <p:txBody>
          <a:bodyPr wrap="square" lIns="508" tIns="508" rIns="508" bIns="508" rtlCol="0" anchor="t">
            <a:normAutofit/>
          </a:bodyPr>
          <a:lstStyle/>
          <a:p>
            <a:pPr marL="152400" indent="-152400">
              <a:buSzPct val="100000"/>
              <a:buFontTx/>
              <a:buChar char="•"/>
            </a:pPr>
            <a:r>
              <a:rPr lang="en-US" sz="1420" dirty="0">
                <a:solidFill>
                  <a:srgbClr val="475569"/>
                </a:solidFill>
                <a:latin typeface="Aptos" pitchFamily="34" charset="0"/>
                <a:ea typeface="Aptos" pitchFamily="34" charset="-122"/>
                <a:cs typeface="Aptos" pitchFamily="34" charset="-120"/>
              </a:rPr>
              <a:t>Tried separate male/female pipelines; male accuracy was sometimes high but unstable</a:t>
            </a:r>
            <a:endParaRPr lang="en-US" sz="1420" dirty="0">
              <a:solidFill>
                <a:prstClr val="black"/>
              </a:solidFill>
              <a:latin typeface="Aptos"/>
            </a:endParaRPr>
          </a:p>
          <a:p>
            <a:pPr marL="152400" indent="-152400">
              <a:buSzPct val="100000"/>
              <a:buFontTx/>
              <a:buChar char="•"/>
            </a:pPr>
            <a:r>
              <a:rPr lang="en-US" sz="1420" dirty="0">
                <a:solidFill>
                  <a:srgbClr val="475569"/>
                </a:solidFill>
                <a:latin typeface="Aptos" pitchFamily="34" charset="0"/>
                <a:ea typeface="Aptos" pitchFamily="34" charset="-122"/>
                <a:cs typeface="Aptos" pitchFamily="34" charset="-120"/>
              </a:rPr>
              <a:t>Tried course-level grouped analysis; it was stricter but reduced All/Female accuracy</a:t>
            </a:r>
            <a:endParaRPr lang="en-US" sz="1420" dirty="0">
              <a:solidFill>
                <a:prstClr val="black"/>
              </a:solidFill>
              <a:latin typeface="Aptos"/>
            </a:endParaRPr>
          </a:p>
          <a:p>
            <a:pPr marL="152400" indent="-152400">
              <a:buSzPct val="100000"/>
              <a:buFontTx/>
              <a:buChar char="•"/>
            </a:pPr>
            <a:r>
              <a:rPr lang="en-US" sz="1420" dirty="0">
                <a:solidFill>
                  <a:srgbClr val="475569"/>
                </a:solidFill>
                <a:latin typeface="Aptos" pitchFamily="34" charset="0"/>
                <a:ea typeface="Aptos" pitchFamily="34" charset="-122"/>
                <a:cs typeface="Aptos" pitchFamily="34" charset="-120"/>
              </a:rPr>
              <a:t>Explored kNN; removed it from the main table because pooled threshold results were weak</a:t>
            </a:r>
            <a:endParaRPr lang="en-US" sz="1420" dirty="0">
              <a:solidFill>
                <a:prstClr val="black"/>
              </a:solidFill>
              <a:latin typeface="Aptos"/>
            </a:endParaRPr>
          </a:p>
          <a:p>
            <a:pPr marL="152400" indent="-152400">
              <a:buSzPct val="100000"/>
              <a:buFontTx/>
              <a:buChar char="•"/>
            </a:pPr>
            <a:r>
              <a:rPr lang="en-US" sz="1420" dirty="0">
                <a:solidFill>
                  <a:srgbClr val="475569"/>
                </a:solidFill>
                <a:latin typeface="Aptos" pitchFamily="34" charset="0"/>
                <a:ea typeface="Aptos" pitchFamily="34" charset="-122"/>
                <a:cs typeface="Aptos" pitchFamily="34" charset="-120"/>
              </a:rPr>
              <a:t>Kept ensemble/stacking to show technical breadth, but selected results by held-out performance</a:t>
            </a:r>
            <a:endParaRPr lang="en-US" sz="1420" dirty="0">
              <a:solidFill>
                <a:prstClr val="black"/>
              </a:solidFill>
              <a:latin typeface="Aptos"/>
            </a:endParaRPr>
          </a:p>
        </p:txBody>
      </p:sp>
    </p:spTree>
    <p:extLst>
      <p:ext uri="{BB962C8B-B14F-4D97-AF65-F5344CB8AC3E}">
        <p14:creationId xmlns:p14="http://schemas.microsoft.com/office/powerpoint/2010/main" val="354925585"/>
      </p:ext>
    </p:extLst>
  </p:cSld>
  <p:clrMapOvr>
    <a:masterClrMapping/>
  </p:clrMapOvr>
  <p:transition spd="slow">
    <p:comb/>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图片 46" descr="e7d195523061f1c03a90ee8e42cb24248e56383cd534985688F9F494128731F165EE95AB4B0C0A38076AAEA07667B1565C446FC45FF01DFB0E885BCDBDF3A284F3DB14DA61DD97F0BAB2E6C668FB493187E5C5FDF083ADBDF78C8B43347D6AF35582F3E571D15D569395BE140F5E5E7AD78A776D8053828B7F0DBCC303A1467E48F8A6D5D211210D7C52903204C4C167"/>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2316842" y="-3959746"/>
            <a:ext cx="8534762" cy="8520315"/>
          </a:xfrm>
          <a:prstGeom prst="rect">
            <a:avLst/>
          </a:prstGeom>
        </p:spPr>
      </p:pic>
      <p:grpSp>
        <p:nvGrpSpPr>
          <p:cNvPr id="33" name="组合 32" descr="e7d195523061f1c03a90ee8e42cb24248e56383cd534985688F9F494128731F165EE95AB4B0C0A38076AAEA07667B1565C446FC45FF01DFB0E885BCDBDF3A284F3DB14DA61DD97F0BAB2E6C668FB493187E5C5FDF083ADBDF78C8B43347D6AF35582F3E571D15D569395BE140F5E5E7AD78A776D8053828B7F0DBCC303A1467E48F8A6D5D211210D7C52903204C4C167"/>
          <p:cNvGrpSpPr/>
          <p:nvPr/>
        </p:nvGrpSpPr>
        <p:grpSpPr>
          <a:xfrm rot="16200000">
            <a:off x="11326585" y="5710799"/>
            <a:ext cx="408219" cy="538373"/>
            <a:chOff x="6878807" y="358926"/>
            <a:chExt cx="821728" cy="1083724"/>
          </a:xfrm>
        </p:grpSpPr>
        <p:sp>
          <p:nvSpPr>
            <p:cNvPr id="34" name="椭圆 33"/>
            <p:cNvSpPr/>
            <p:nvPr/>
          </p:nvSpPr>
          <p:spPr>
            <a:xfrm>
              <a:off x="7468412" y="1210527"/>
              <a:ext cx="232123" cy="232123"/>
            </a:xfrm>
            <a:prstGeom prst="ellipse">
              <a:avLst/>
            </a:prstGeom>
            <a:gradFill>
              <a:gsLst>
                <a:gs pos="2000">
                  <a:schemeClr val="accent3">
                    <a:lumMod val="60000"/>
                    <a:lumOff val="40000"/>
                  </a:schemeClr>
                </a:gs>
                <a:gs pos="100000">
                  <a:schemeClr val="accent3"/>
                </a:gs>
              </a:gsLst>
              <a:lin ang="0" scaled="1"/>
            </a:gradFill>
            <a:ln>
              <a:noFill/>
            </a:ln>
            <a:effectLst>
              <a:outerShdw blurRad="152400" dist="63500" dir="5400000" algn="ctr" rotWithShape="0">
                <a:schemeClr val="accent3">
                  <a:lumMod val="60000"/>
                  <a:lumOff val="40000"/>
                  <a:alpha val="7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endParaRPr>
            </a:p>
          </p:txBody>
        </p:sp>
        <p:sp>
          <p:nvSpPr>
            <p:cNvPr id="35" name="椭圆 34"/>
            <p:cNvSpPr/>
            <p:nvPr/>
          </p:nvSpPr>
          <p:spPr>
            <a:xfrm>
              <a:off x="6878807" y="358926"/>
              <a:ext cx="232123" cy="232123"/>
            </a:xfrm>
            <a:prstGeom prst="ellipse">
              <a:avLst/>
            </a:prstGeom>
            <a:gradFill>
              <a:gsLst>
                <a:gs pos="2000">
                  <a:schemeClr val="accent3">
                    <a:lumMod val="60000"/>
                    <a:lumOff val="40000"/>
                  </a:schemeClr>
                </a:gs>
                <a:gs pos="100000">
                  <a:schemeClr val="accent3"/>
                </a:gs>
              </a:gsLst>
              <a:lin ang="0" scaled="1"/>
            </a:gradFill>
            <a:ln>
              <a:noFill/>
            </a:ln>
            <a:effectLst>
              <a:outerShdw blurRad="152400" dist="63500" dir="5400000" algn="ctr" rotWithShape="0">
                <a:schemeClr val="accent3">
                  <a:lumMod val="60000"/>
                  <a:lumOff val="40000"/>
                  <a:alpha val="7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endParaRPr>
            </a:p>
          </p:txBody>
        </p:sp>
        <p:cxnSp>
          <p:nvCxnSpPr>
            <p:cNvPr id="36" name="直接箭头连接符 35"/>
            <p:cNvCxnSpPr>
              <a:stCxn id="35" idx="5"/>
              <a:endCxn id="34" idx="1"/>
            </p:cNvCxnSpPr>
            <p:nvPr/>
          </p:nvCxnSpPr>
          <p:spPr>
            <a:xfrm>
              <a:off x="7076936" y="557056"/>
              <a:ext cx="425469" cy="687465"/>
            </a:xfrm>
            <a:prstGeom prst="straightConnector1">
              <a:avLst/>
            </a:prstGeom>
            <a:ln w="3175">
              <a:headEnd type="none" w="med" len="med"/>
              <a:tailEnd type="none" w="med" len="med"/>
            </a:ln>
          </p:spPr>
          <p:style>
            <a:lnRef idx="1">
              <a:schemeClr val="accent3"/>
            </a:lnRef>
            <a:fillRef idx="0">
              <a:schemeClr val="accent3"/>
            </a:fillRef>
            <a:effectRef idx="0">
              <a:schemeClr val="accent3"/>
            </a:effectRef>
            <a:fontRef idx="minor">
              <a:schemeClr val="tx1"/>
            </a:fontRef>
          </p:style>
        </p:cxnSp>
      </p:grpSp>
      <p:sp>
        <p:nvSpPr>
          <p:cNvPr id="48" name="e7d195523061f1c0" descr="e7d195523061f1c03a90ee8e42cb24248e56383cd534985688F9F494128731F165EE95AB4B0C0A38076AAEA07667B1565C446FC45FF01DFB0E885BCDBDF3A284F3DB14DA61DD97F0BAB2E6C668FB493187E5C5FDF083ADBDF78C8B43347D6AF35582F3E571D15D569395BE140F5E5E7AD78A776D8053828B7F0DBCC303A1467E48F8A6D5D211210D7C52903204C4C167" hidden="1"/>
          <p:cNvSpPr txBox="1"/>
          <p:nvPr/>
        </p:nvSpPr>
        <p:spPr>
          <a:xfrm>
            <a:off x="-355600" y="1803400"/>
            <a:ext cx="322909" cy="1016000"/>
          </a:xfrm>
          <a:prstGeom prst="rect">
            <a:avLst/>
          </a:prstGeom>
          <a:noFill/>
        </p:spPr>
        <p:txBody>
          <a:bodyPr vert="wordArtVert"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 b="0" i="0" u="none" strike="noStrike" kern="1200" cap="none" spc="0" normalizeH="0" baseline="0" noProof="0">
                <a:ln>
                  <a:noFill/>
                </a:ln>
                <a:solidFill>
                  <a:srgbClr val="000000"/>
                </a:solidFill>
                <a:effectLst/>
                <a:uLnTx/>
                <a:uFillTx/>
                <a:latin typeface="微软雅黑"/>
                <a:ea typeface="微软雅黑"/>
                <a:cs typeface="+mn-cs"/>
              </a:rPr>
              <a:t>e7d195523061f1c03a90ee8e42cb24248e56383cd534985688F9F494128731F165EE95AB4B0C0A38076AAEA07667B1565C446FC45FF01DFB0E885BCDBDF3A284F3DB14DA61DD97F0BAB2E6C668FB493187E5C5FDF083ADBDF78C8B43347D6AF35582F3E571D15D569395BE140F5E5E7AD78A776D8053828B7F0DBCC303A1467E48F8A6D5D211210D7C52903204C4C167</a:t>
            </a:r>
            <a:endParaRPr kumimoji="0" lang="zh-CN" altLang="en-US" sz="100" b="0" i="0" u="none" strike="noStrike" kern="1200" cap="none" spc="0" normalizeH="0" baseline="0" noProof="0">
              <a:ln>
                <a:noFill/>
              </a:ln>
              <a:solidFill>
                <a:srgbClr val="000000"/>
              </a:solidFill>
              <a:effectLst/>
              <a:uLnTx/>
              <a:uFillTx/>
              <a:latin typeface="微软雅黑"/>
              <a:ea typeface="微软雅黑"/>
              <a:cs typeface="+mn-cs"/>
            </a:endParaRPr>
          </a:p>
        </p:txBody>
      </p:sp>
      <p:sp>
        <p:nvSpPr>
          <p:cNvPr id="2" name="Text 0">
            <a:extLst>
              <a:ext uri="{FF2B5EF4-FFF2-40B4-BE49-F238E27FC236}">
                <a16:creationId xmlns:a16="http://schemas.microsoft.com/office/drawing/2014/main" id="{F7AE4217-F943-0EC0-15E9-0C20A7ACCEA0}"/>
              </a:ext>
            </a:extLst>
          </p:cNvPr>
          <p:cNvSpPr/>
          <p:nvPr/>
        </p:nvSpPr>
        <p:spPr>
          <a:xfrm>
            <a:off x="502920" y="320040"/>
            <a:ext cx="5029200" cy="201168"/>
          </a:xfrm>
          <a:prstGeom prst="rect">
            <a:avLst/>
          </a:prstGeom>
          <a:noFill/>
          <a:ln/>
        </p:spPr>
        <p:txBody>
          <a:bodyPr wrap="square" lIns="0" tIns="0" rIns="0" bIns="0" rtlCol="0" anchor="ctr"/>
          <a:lstStyle/>
          <a:p>
            <a:r>
              <a:rPr lang="en-US" sz="900" b="1" dirty="0">
                <a:solidFill>
                  <a:srgbClr val="007B83"/>
                </a:solidFill>
                <a:latin typeface="Aptos" pitchFamily="34" charset="0"/>
                <a:ea typeface="Aptos" pitchFamily="34" charset="-122"/>
                <a:cs typeface="Aptos" pitchFamily="34" charset="-120"/>
              </a:rPr>
              <a:t>WHAT THE PLOTS SHOW</a:t>
            </a:r>
            <a:endParaRPr lang="en-US" sz="900" dirty="0">
              <a:solidFill>
                <a:prstClr val="black"/>
              </a:solidFill>
              <a:latin typeface="Aptos"/>
            </a:endParaRPr>
          </a:p>
        </p:txBody>
      </p:sp>
      <p:sp>
        <p:nvSpPr>
          <p:cNvPr id="3" name="Text 1">
            <a:extLst>
              <a:ext uri="{FF2B5EF4-FFF2-40B4-BE49-F238E27FC236}">
                <a16:creationId xmlns:a16="http://schemas.microsoft.com/office/drawing/2014/main" id="{E8C57AE9-4614-F731-FF6A-C7CC6441EC01}"/>
              </a:ext>
            </a:extLst>
          </p:cNvPr>
          <p:cNvSpPr/>
          <p:nvPr/>
        </p:nvSpPr>
        <p:spPr>
          <a:xfrm>
            <a:off x="502920" y="576072"/>
            <a:ext cx="11064240" cy="502920"/>
          </a:xfrm>
          <a:prstGeom prst="rect">
            <a:avLst/>
          </a:prstGeom>
          <a:noFill/>
          <a:ln/>
        </p:spPr>
        <p:txBody>
          <a:bodyPr wrap="square" lIns="0" tIns="0" rIns="0" bIns="0" rtlCol="0" anchor="ctr">
            <a:normAutofit/>
          </a:bodyPr>
          <a:lstStyle/>
          <a:p>
            <a:r>
              <a:rPr lang="en-US" sz="2800" b="1" dirty="0">
                <a:solidFill>
                  <a:srgbClr val="1E293B"/>
                </a:solidFill>
                <a:latin typeface="Aptos Display" pitchFamily="34" charset="0"/>
                <a:ea typeface="Aptos Display" pitchFamily="34" charset="-122"/>
                <a:cs typeface="Aptos Display" pitchFamily="34" charset="-120"/>
              </a:rPr>
              <a:t>Descriptive findings before modeling</a:t>
            </a:r>
            <a:endParaRPr lang="en-US" sz="2800" dirty="0">
              <a:solidFill>
                <a:prstClr val="black"/>
              </a:solidFill>
              <a:latin typeface="Aptos"/>
            </a:endParaRPr>
          </a:p>
        </p:txBody>
      </p:sp>
      <p:sp>
        <p:nvSpPr>
          <p:cNvPr id="4" name="Shape 2">
            <a:extLst>
              <a:ext uri="{FF2B5EF4-FFF2-40B4-BE49-F238E27FC236}">
                <a16:creationId xmlns:a16="http://schemas.microsoft.com/office/drawing/2014/main" id="{907CCF17-01AA-E532-81CA-DE43E7FC332A}"/>
              </a:ext>
            </a:extLst>
          </p:cNvPr>
          <p:cNvSpPr/>
          <p:nvPr/>
        </p:nvSpPr>
        <p:spPr>
          <a:xfrm>
            <a:off x="502920" y="1124712"/>
            <a:ext cx="11064240" cy="0"/>
          </a:xfrm>
          <a:prstGeom prst="line">
            <a:avLst/>
          </a:prstGeom>
          <a:noFill/>
          <a:ln w="12700">
            <a:solidFill>
              <a:srgbClr val="E2E8F0"/>
            </a:solidFill>
            <a:prstDash val="solid"/>
          </a:ln>
        </p:spPr>
        <p:txBody>
          <a:bodyPr/>
          <a:lstStyle/>
          <a:p>
            <a:endParaRPr lang="en-US">
              <a:solidFill>
                <a:prstClr val="black"/>
              </a:solidFill>
              <a:latin typeface="Aptos"/>
            </a:endParaRPr>
          </a:p>
        </p:txBody>
      </p:sp>
      <p:sp>
        <p:nvSpPr>
          <p:cNvPr id="5" name="Text 3">
            <a:extLst>
              <a:ext uri="{FF2B5EF4-FFF2-40B4-BE49-F238E27FC236}">
                <a16:creationId xmlns:a16="http://schemas.microsoft.com/office/drawing/2014/main" id="{7BAD30FB-2EF3-26E0-F1D9-ED968EDFE85A}"/>
              </a:ext>
            </a:extLst>
          </p:cNvPr>
          <p:cNvSpPr/>
          <p:nvPr/>
        </p:nvSpPr>
        <p:spPr>
          <a:xfrm>
            <a:off x="438912" y="6528816"/>
            <a:ext cx="5760720" cy="201168"/>
          </a:xfrm>
          <a:prstGeom prst="rect">
            <a:avLst/>
          </a:prstGeom>
          <a:noFill/>
          <a:ln/>
        </p:spPr>
        <p:txBody>
          <a:bodyPr wrap="square" lIns="0" tIns="0" rIns="0" bIns="0" rtlCol="0" anchor="ctr"/>
          <a:lstStyle/>
          <a:p>
            <a:r>
              <a:rPr lang="en-US" sz="750" dirty="0">
                <a:solidFill>
                  <a:srgbClr val="64748B"/>
                </a:solidFill>
                <a:latin typeface="Aptos" pitchFamily="34" charset="0"/>
                <a:ea typeface="Aptos" pitchFamily="34" charset="-122"/>
                <a:cs typeface="Aptos" pitchFamily="34" charset="-120"/>
              </a:rPr>
              <a:t>Predicting Student Romantic Relationship Status</a:t>
            </a:r>
            <a:endParaRPr lang="en-US" sz="750" dirty="0">
              <a:solidFill>
                <a:prstClr val="black"/>
              </a:solidFill>
              <a:latin typeface="Aptos"/>
            </a:endParaRPr>
          </a:p>
        </p:txBody>
      </p:sp>
      <p:sp>
        <p:nvSpPr>
          <p:cNvPr id="6" name="Text 4">
            <a:extLst>
              <a:ext uri="{FF2B5EF4-FFF2-40B4-BE49-F238E27FC236}">
                <a16:creationId xmlns:a16="http://schemas.microsoft.com/office/drawing/2014/main" id="{A875F2E6-C3FC-C969-ED39-BBA7590B9375}"/>
              </a:ext>
            </a:extLst>
          </p:cNvPr>
          <p:cNvSpPr/>
          <p:nvPr/>
        </p:nvSpPr>
        <p:spPr>
          <a:xfrm>
            <a:off x="11539728" y="6510528"/>
            <a:ext cx="320040" cy="201168"/>
          </a:xfrm>
          <a:prstGeom prst="rect">
            <a:avLst/>
          </a:prstGeom>
          <a:noFill/>
          <a:ln/>
        </p:spPr>
        <p:txBody>
          <a:bodyPr wrap="square" lIns="0" tIns="0" rIns="0" bIns="0" rtlCol="0" anchor="ctr"/>
          <a:lstStyle/>
          <a:p>
            <a:pPr algn="r"/>
            <a:r>
              <a:rPr lang="en-US" sz="750" dirty="0">
                <a:solidFill>
                  <a:srgbClr val="64748B"/>
                </a:solidFill>
                <a:latin typeface="Aptos" pitchFamily="34" charset="0"/>
                <a:ea typeface="Aptos" pitchFamily="34" charset="-122"/>
                <a:cs typeface="Aptos" pitchFamily="34" charset="-120"/>
              </a:rPr>
              <a:t>04</a:t>
            </a:r>
            <a:endParaRPr lang="en-US" sz="750" dirty="0">
              <a:solidFill>
                <a:prstClr val="black"/>
              </a:solidFill>
              <a:latin typeface="Aptos"/>
            </a:endParaRPr>
          </a:p>
        </p:txBody>
      </p:sp>
      <p:sp>
        <p:nvSpPr>
          <p:cNvPr id="10" name="Shape 5">
            <a:extLst>
              <a:ext uri="{FF2B5EF4-FFF2-40B4-BE49-F238E27FC236}">
                <a16:creationId xmlns:a16="http://schemas.microsoft.com/office/drawing/2014/main" id="{79803190-9164-B128-F8BA-C34F84E16920}"/>
              </a:ext>
            </a:extLst>
          </p:cNvPr>
          <p:cNvSpPr/>
          <p:nvPr/>
        </p:nvSpPr>
        <p:spPr>
          <a:xfrm>
            <a:off x="710597" y="4690680"/>
            <a:ext cx="45720" cy="502920"/>
          </a:xfrm>
          <a:prstGeom prst="rect">
            <a:avLst/>
          </a:prstGeom>
          <a:solidFill>
            <a:srgbClr val="F87171"/>
          </a:solidFill>
          <a:ln w="12700">
            <a:solidFill>
              <a:srgbClr val="F87171"/>
            </a:solidFill>
            <a:prstDash val="solid"/>
          </a:ln>
        </p:spPr>
        <p:txBody>
          <a:bodyPr/>
          <a:lstStyle/>
          <a:p>
            <a:endParaRPr lang="en-US">
              <a:solidFill>
                <a:prstClr val="black"/>
              </a:solidFill>
              <a:latin typeface="Aptos"/>
            </a:endParaRPr>
          </a:p>
        </p:txBody>
      </p:sp>
      <p:sp>
        <p:nvSpPr>
          <p:cNvPr id="12" name="Text 6">
            <a:extLst>
              <a:ext uri="{FF2B5EF4-FFF2-40B4-BE49-F238E27FC236}">
                <a16:creationId xmlns:a16="http://schemas.microsoft.com/office/drawing/2014/main" id="{346B88D7-E5AB-5856-97D6-D079E6C9816E}"/>
              </a:ext>
            </a:extLst>
          </p:cNvPr>
          <p:cNvSpPr/>
          <p:nvPr/>
        </p:nvSpPr>
        <p:spPr>
          <a:xfrm>
            <a:off x="928116" y="4680287"/>
            <a:ext cx="4178808" cy="502920"/>
          </a:xfrm>
          <a:prstGeom prst="rect">
            <a:avLst/>
          </a:prstGeom>
          <a:noFill/>
          <a:ln/>
        </p:spPr>
        <p:txBody>
          <a:bodyPr wrap="square" lIns="381" tIns="381" rIns="381" bIns="381" rtlCol="0" anchor="ctr">
            <a:normAutofit/>
          </a:bodyPr>
          <a:lstStyle/>
          <a:p>
            <a:r>
              <a:rPr lang="en-US" sz="1400" dirty="0">
                <a:solidFill>
                  <a:srgbClr val="475569"/>
                </a:solidFill>
                <a:latin typeface="Aptos" pitchFamily="34" charset="0"/>
                <a:ea typeface="Aptos" pitchFamily="34" charset="-122"/>
                <a:cs typeface="Aptos" pitchFamily="34" charset="-120"/>
              </a:rPr>
              <a:t>Sex matters: female students report romantic relationships more often than male students.</a:t>
            </a:r>
            <a:endParaRPr lang="en-US" sz="1400" dirty="0">
              <a:solidFill>
                <a:prstClr val="black"/>
              </a:solidFill>
              <a:latin typeface="Aptos"/>
            </a:endParaRPr>
          </a:p>
        </p:txBody>
      </p:sp>
      <p:sp>
        <p:nvSpPr>
          <p:cNvPr id="18" name="Text 9">
            <a:extLst>
              <a:ext uri="{FF2B5EF4-FFF2-40B4-BE49-F238E27FC236}">
                <a16:creationId xmlns:a16="http://schemas.microsoft.com/office/drawing/2014/main" id="{73FF356B-BE95-98E0-53D0-66DEA8284C5C}"/>
              </a:ext>
            </a:extLst>
          </p:cNvPr>
          <p:cNvSpPr/>
          <p:nvPr/>
        </p:nvSpPr>
        <p:spPr>
          <a:xfrm>
            <a:off x="2011680" y="5623560"/>
            <a:ext cx="8412480" cy="411480"/>
          </a:xfrm>
          <a:prstGeom prst="rect">
            <a:avLst/>
          </a:prstGeom>
          <a:noFill/>
          <a:ln/>
        </p:spPr>
        <p:txBody>
          <a:bodyPr wrap="square" lIns="508" tIns="508" rIns="508" bIns="508" rtlCol="0" anchor="t">
            <a:normAutofit/>
          </a:bodyPr>
          <a:lstStyle/>
          <a:p>
            <a:pPr algn="ctr">
              <a:lnSpc>
                <a:spcPct val="90000"/>
              </a:lnSpc>
            </a:pPr>
            <a:r>
              <a:rPr lang="en-US" b="1" dirty="0">
                <a:solidFill>
                  <a:srgbClr val="1E293B"/>
                </a:solidFill>
                <a:latin typeface="Aptos" pitchFamily="34" charset="0"/>
                <a:ea typeface="Aptos" pitchFamily="34" charset="-122"/>
                <a:cs typeface="Aptos" pitchFamily="34" charset="-120"/>
              </a:rPr>
              <a:t>Interpretation: the outcome is linked to social context and opportunity</a:t>
            </a:r>
            <a:endParaRPr lang="en-US" dirty="0">
              <a:solidFill>
                <a:prstClr val="black"/>
              </a:solidFill>
              <a:latin typeface="Aptos"/>
            </a:endParaRPr>
          </a:p>
        </p:txBody>
      </p:sp>
      <p:pic>
        <p:nvPicPr>
          <p:cNvPr id="11" name="图片 10">
            <a:extLst>
              <a:ext uri="{FF2B5EF4-FFF2-40B4-BE49-F238E27FC236}">
                <a16:creationId xmlns:a16="http://schemas.microsoft.com/office/drawing/2014/main" id="{8162F556-27D6-DDEB-B9A5-0F333B947CB0}"/>
              </a:ext>
            </a:extLst>
          </p:cNvPr>
          <p:cNvPicPr>
            <a:picLocks noChangeAspect="1"/>
          </p:cNvPicPr>
          <p:nvPr/>
        </p:nvPicPr>
        <p:blipFill>
          <a:blip r:embed="rId4"/>
          <a:stretch>
            <a:fillRect/>
          </a:stretch>
        </p:blipFill>
        <p:spPr>
          <a:xfrm>
            <a:off x="503970" y="1321780"/>
            <a:ext cx="4484541" cy="2717795"/>
          </a:xfrm>
          <a:prstGeom prst="rect">
            <a:avLst/>
          </a:prstGeom>
        </p:spPr>
      </p:pic>
      <p:pic>
        <p:nvPicPr>
          <p:cNvPr id="8" name="图片 7">
            <a:extLst>
              <a:ext uri="{FF2B5EF4-FFF2-40B4-BE49-F238E27FC236}">
                <a16:creationId xmlns:a16="http://schemas.microsoft.com/office/drawing/2014/main" id="{DF455385-7F11-03A4-BF01-33C4B7F9F610}"/>
              </a:ext>
            </a:extLst>
          </p:cNvPr>
          <p:cNvPicPr>
            <a:picLocks noChangeAspect="1"/>
          </p:cNvPicPr>
          <p:nvPr/>
        </p:nvPicPr>
        <p:blipFill>
          <a:blip r:embed="rId5"/>
          <a:stretch>
            <a:fillRect/>
          </a:stretch>
        </p:blipFill>
        <p:spPr>
          <a:xfrm>
            <a:off x="6389226" y="1438929"/>
            <a:ext cx="5295342" cy="2880946"/>
          </a:xfrm>
          <a:prstGeom prst="rect">
            <a:avLst/>
          </a:prstGeom>
        </p:spPr>
      </p:pic>
      <p:sp>
        <p:nvSpPr>
          <p:cNvPr id="13" name="Text 8">
            <a:extLst>
              <a:ext uri="{FF2B5EF4-FFF2-40B4-BE49-F238E27FC236}">
                <a16:creationId xmlns:a16="http://schemas.microsoft.com/office/drawing/2014/main" id="{C46E7CF5-7CA7-BBEF-8559-9E190D6E92D4}"/>
              </a:ext>
            </a:extLst>
          </p:cNvPr>
          <p:cNvSpPr/>
          <p:nvPr/>
        </p:nvSpPr>
        <p:spPr>
          <a:xfrm>
            <a:off x="7822418" y="4589799"/>
            <a:ext cx="3496747" cy="608084"/>
          </a:xfrm>
          <a:prstGeom prst="rect">
            <a:avLst/>
          </a:prstGeom>
          <a:noFill/>
          <a:ln/>
        </p:spPr>
        <p:txBody>
          <a:bodyPr wrap="square" lIns="381" tIns="381" rIns="381" bIns="381" rtlCol="0" anchor="ctr">
            <a:normAutofit lnSpcReduction="10000"/>
          </a:bodyPr>
          <a:lstStyle/>
          <a:p>
            <a:r>
              <a:rPr lang="en-US" sz="1400" dirty="0">
                <a:solidFill>
                  <a:srgbClr val="475569"/>
                </a:solidFill>
                <a:latin typeface="Aptos" pitchFamily="34" charset="0"/>
                <a:ea typeface="Aptos" pitchFamily="34" charset="-122"/>
                <a:cs typeface="Aptos" pitchFamily="34" charset="-120"/>
              </a:rPr>
              <a:t>Grade context matters: G1–G3 were strong RF predictors, and relationship rates vary across average grade bands.</a:t>
            </a:r>
            <a:endParaRPr lang="en-US" sz="1400" dirty="0">
              <a:solidFill>
                <a:prstClr val="black"/>
              </a:solidFill>
              <a:latin typeface="Aptos"/>
            </a:endParaRPr>
          </a:p>
        </p:txBody>
      </p:sp>
      <p:sp>
        <p:nvSpPr>
          <p:cNvPr id="14" name="Shape 5">
            <a:extLst>
              <a:ext uri="{FF2B5EF4-FFF2-40B4-BE49-F238E27FC236}">
                <a16:creationId xmlns:a16="http://schemas.microsoft.com/office/drawing/2014/main" id="{58A9BF48-25D2-66E9-6BAA-CC91D93D247B}"/>
              </a:ext>
            </a:extLst>
          </p:cNvPr>
          <p:cNvSpPr/>
          <p:nvPr/>
        </p:nvSpPr>
        <p:spPr>
          <a:xfrm flipH="1">
            <a:off x="7672554" y="4610849"/>
            <a:ext cx="45719" cy="502920"/>
          </a:xfrm>
          <a:prstGeom prst="rect">
            <a:avLst/>
          </a:prstGeom>
          <a:solidFill>
            <a:srgbClr val="F87171"/>
          </a:solidFill>
          <a:ln w="12700">
            <a:solidFill>
              <a:srgbClr val="F87171"/>
            </a:solidFill>
            <a:prstDash val="solid"/>
          </a:ln>
        </p:spPr>
        <p:txBody>
          <a:bodyPr/>
          <a:lstStyle/>
          <a:p>
            <a:endParaRPr lang="en-US">
              <a:solidFill>
                <a:prstClr val="black"/>
              </a:solidFill>
              <a:latin typeface="Aptos"/>
            </a:endParaRPr>
          </a:p>
        </p:txBody>
      </p:sp>
    </p:spTree>
    <p:extLst>
      <p:ext uri="{BB962C8B-B14F-4D97-AF65-F5344CB8AC3E}">
        <p14:creationId xmlns:p14="http://schemas.microsoft.com/office/powerpoint/2010/main" val="2254418130"/>
      </p:ext>
    </p:extLst>
  </p:cSld>
  <p:clrMapOvr>
    <a:masterClrMapping/>
  </p:clrMapOvr>
  <p:transition spd="slow">
    <p:comb/>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pic>
        <p:nvPicPr>
          <p:cNvPr id="12" name="图片占位符 48" descr="e7d195523061f1c03a90ee8e42cb24248e56383cd534985688F9F494128731F165EE95AB4B0C0A38076AAEA07667B1565C446FC45FF01DFB0E885BCDBDF3A284F3DB14DA61DD97F0BAB2E6C668FB49312D8A702330F6D99A32E431D743AEA352730A5DC99E77695B9E88E40D60C32BA28C17BB7CABD1A46AF23594DF6528BF791C5C014762CD5143DAF29347DE3D1A39">
            <a:extLst>
              <a:ext uri="{FF2B5EF4-FFF2-40B4-BE49-F238E27FC236}">
                <a16:creationId xmlns:a16="http://schemas.microsoft.com/office/drawing/2014/main" id="{5BC8B2FA-3263-2989-4B6E-7255B07B10E9}"/>
              </a:ext>
            </a:extLst>
          </p:cNvPr>
          <p:cNvPicPr>
            <a:picLocks noChangeAspect="1"/>
          </p:cNvPicPr>
          <p:nvPr/>
        </p:nvPicPr>
        <p:blipFill>
          <a:blip r:embed="rId3" cstate="print">
            <a:duotone>
              <a:srgbClr val="FFFFFF">
                <a:shade val="45000"/>
                <a:satMod val="135000"/>
              </a:srgbClr>
              <a:prstClr val="white"/>
            </a:duotone>
            <a:extLst>
              <a:ext uri="{28A0092B-C50C-407E-A947-70E740481C1C}">
                <a14:useLocalDpi xmlns:a14="http://schemas.microsoft.com/office/drawing/2010/main" val="0"/>
              </a:ext>
            </a:extLst>
          </a:blip>
          <a:srcRect t="21875" b="21875"/>
          <a:stretch>
            <a:fillRect/>
          </a:stretch>
        </p:blipFill>
        <p:spPr>
          <a:xfrm>
            <a:off x="100739" y="0"/>
            <a:ext cx="12192000" cy="6858000"/>
          </a:xfrm>
          <a:custGeom>
            <a:avLst/>
            <a:gdLst>
              <a:gd name="connsiteX0" fmla="*/ 0 w 4203290"/>
              <a:gd name="connsiteY0" fmla="*/ 0 h 6858000"/>
              <a:gd name="connsiteX1" fmla="*/ 4203290 w 4203290"/>
              <a:gd name="connsiteY1" fmla="*/ 0 h 6858000"/>
              <a:gd name="connsiteX2" fmla="*/ 4203290 w 4203290"/>
              <a:gd name="connsiteY2" fmla="*/ 6858000 h 6858000"/>
              <a:gd name="connsiteX3" fmla="*/ 0 w 420329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03290" h="6858000">
                <a:moveTo>
                  <a:pt x="0" y="0"/>
                </a:moveTo>
                <a:lnTo>
                  <a:pt x="4203290" y="0"/>
                </a:lnTo>
                <a:lnTo>
                  <a:pt x="4203290" y="6858000"/>
                </a:lnTo>
                <a:lnTo>
                  <a:pt x="0" y="6858000"/>
                </a:lnTo>
                <a:close/>
              </a:path>
            </a:pathLst>
          </a:custGeom>
          <a:solidFill>
            <a:srgbClr val="FFFFFF">
              <a:lumMod val="95000"/>
              <a:alpha val="40000"/>
            </a:srgbClr>
          </a:solidFill>
        </p:spPr>
      </p:pic>
      <p:sp>
        <p:nvSpPr>
          <p:cNvPr id="2" name="Text 0"/>
          <p:cNvSpPr/>
          <p:nvPr/>
        </p:nvSpPr>
        <p:spPr>
          <a:xfrm>
            <a:off x="502920" y="320040"/>
            <a:ext cx="5029200" cy="201168"/>
          </a:xfrm>
          <a:prstGeom prst="rect">
            <a:avLst/>
          </a:prstGeom>
          <a:noFill/>
          <a:ln/>
        </p:spPr>
        <p:txBody>
          <a:bodyPr wrap="square" lIns="0" tIns="0" rIns="0" bIns="0" rtlCol="0" anchor="ctr"/>
          <a:lstStyle/>
          <a:p>
            <a:pPr marL="0" indent="0">
              <a:buNone/>
            </a:pPr>
            <a:r>
              <a:rPr lang="en-US" sz="900" b="1" dirty="0">
                <a:solidFill>
                  <a:srgbClr val="007B83"/>
                </a:solidFill>
                <a:latin typeface="Aptos" pitchFamily="34" charset="0"/>
                <a:ea typeface="Aptos" pitchFamily="34" charset="-122"/>
                <a:cs typeface="Aptos" pitchFamily="34" charset="-120"/>
              </a:rPr>
              <a:t>DESCRIPTIVE MODEL PLOTS</a:t>
            </a:r>
            <a:endParaRPr lang="en-US" sz="900" dirty="0"/>
          </a:p>
        </p:txBody>
      </p:sp>
      <p:sp>
        <p:nvSpPr>
          <p:cNvPr id="3" name="Text 1"/>
          <p:cNvSpPr/>
          <p:nvPr/>
        </p:nvSpPr>
        <p:spPr>
          <a:xfrm>
            <a:off x="502920" y="576072"/>
            <a:ext cx="11064240" cy="502920"/>
          </a:xfrm>
          <a:prstGeom prst="rect">
            <a:avLst/>
          </a:prstGeom>
          <a:noFill/>
          <a:ln/>
        </p:spPr>
        <p:txBody>
          <a:bodyPr wrap="square" lIns="0" tIns="0" rIns="0" bIns="0" rtlCol="0" anchor="ctr">
            <a:normAutofit/>
          </a:bodyPr>
          <a:lstStyle/>
          <a:p>
            <a:pPr marL="0" indent="0">
              <a:buNone/>
            </a:pPr>
            <a:r>
              <a:rPr lang="en-US" sz="2800" b="1" dirty="0">
                <a:solidFill>
                  <a:srgbClr val="1E293B"/>
                </a:solidFill>
                <a:latin typeface="Aptos Display" pitchFamily="34" charset="0"/>
                <a:ea typeface="Aptos Display" pitchFamily="34" charset="-122"/>
                <a:cs typeface="Aptos Display" pitchFamily="34" charset="-120"/>
              </a:rPr>
              <a:t>Behavioral patterns were not purely linear</a:t>
            </a:r>
            <a:endParaRPr lang="en-US" sz="2800" dirty="0"/>
          </a:p>
        </p:txBody>
      </p:sp>
      <p:sp>
        <p:nvSpPr>
          <p:cNvPr id="4" name="Shape 2"/>
          <p:cNvSpPr/>
          <p:nvPr/>
        </p:nvSpPr>
        <p:spPr>
          <a:xfrm>
            <a:off x="502920" y="1124712"/>
            <a:ext cx="11064240" cy="0"/>
          </a:xfrm>
          <a:prstGeom prst="line">
            <a:avLst/>
          </a:prstGeom>
          <a:noFill/>
          <a:ln w="12700">
            <a:solidFill>
              <a:srgbClr val="E2E8F0"/>
            </a:solidFill>
            <a:prstDash val="solid"/>
          </a:ln>
        </p:spPr>
        <p:txBody>
          <a:bodyPr/>
          <a:lstStyle/>
          <a:p>
            <a:endParaRPr lang="en-US"/>
          </a:p>
        </p:txBody>
      </p:sp>
      <p:sp>
        <p:nvSpPr>
          <p:cNvPr id="5" name="Text 3"/>
          <p:cNvSpPr/>
          <p:nvPr/>
        </p:nvSpPr>
        <p:spPr>
          <a:xfrm>
            <a:off x="438912" y="6528816"/>
            <a:ext cx="5760720" cy="201168"/>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Predicting Student Romantic Relationship Status</a:t>
            </a:r>
            <a:endParaRPr lang="en-US" sz="750" dirty="0"/>
          </a:p>
        </p:txBody>
      </p:sp>
      <p:sp>
        <p:nvSpPr>
          <p:cNvPr id="6" name="Text 4"/>
          <p:cNvSpPr/>
          <p:nvPr/>
        </p:nvSpPr>
        <p:spPr>
          <a:xfrm>
            <a:off x="11539728" y="6510528"/>
            <a:ext cx="320040" cy="201168"/>
          </a:xfrm>
          <a:prstGeom prst="rect">
            <a:avLst/>
          </a:prstGeom>
          <a:noFill/>
          <a:ln/>
        </p:spPr>
        <p:txBody>
          <a:bodyPr wrap="square" lIns="0" tIns="0" rIns="0" bIns="0" rtlCol="0" anchor="ctr"/>
          <a:lstStyle/>
          <a:p>
            <a:pPr marL="0" indent="0" algn="r">
              <a:buNone/>
            </a:pPr>
            <a:r>
              <a:rPr lang="en-US" sz="750" dirty="0">
                <a:solidFill>
                  <a:srgbClr val="64748B"/>
                </a:solidFill>
                <a:latin typeface="Aptos" pitchFamily="34" charset="0"/>
                <a:ea typeface="Aptos" pitchFamily="34" charset="-122"/>
                <a:cs typeface="Aptos" pitchFamily="34" charset="-120"/>
              </a:rPr>
              <a:t>05</a:t>
            </a:r>
            <a:endParaRPr lang="en-US" sz="750" dirty="0"/>
          </a:p>
        </p:txBody>
      </p:sp>
      <p:pic>
        <p:nvPicPr>
          <p:cNvPr id="7" name="Image 0" descr="/mnt/data/final_ppt_assets/crops/absences_crop.png"/>
          <p:cNvPicPr>
            <a:picLocks noChangeAspect="1"/>
          </p:cNvPicPr>
          <p:nvPr/>
        </p:nvPicPr>
        <p:blipFill>
          <a:blip r:embed="rId4"/>
          <a:stretch>
            <a:fillRect/>
          </a:stretch>
        </p:blipFill>
        <p:spPr>
          <a:xfrm>
            <a:off x="591911" y="1325880"/>
            <a:ext cx="5125539" cy="3337560"/>
          </a:xfrm>
          <a:prstGeom prst="rect">
            <a:avLst/>
          </a:prstGeom>
        </p:spPr>
      </p:pic>
      <p:pic>
        <p:nvPicPr>
          <p:cNvPr id="8" name="Image 1" descr="/mnt/data/final_ppt_assets/crops/studytime_crop.png"/>
          <p:cNvPicPr>
            <a:picLocks noChangeAspect="1"/>
          </p:cNvPicPr>
          <p:nvPr/>
        </p:nvPicPr>
        <p:blipFill>
          <a:blip r:embed="rId5"/>
          <a:stretch>
            <a:fillRect/>
          </a:stretch>
        </p:blipFill>
        <p:spPr>
          <a:xfrm>
            <a:off x="6155871" y="1325880"/>
            <a:ext cx="5244737" cy="3337560"/>
          </a:xfrm>
          <a:prstGeom prst="rect">
            <a:avLst/>
          </a:prstGeom>
        </p:spPr>
      </p:pic>
      <p:sp>
        <p:nvSpPr>
          <p:cNvPr id="9" name="Text 5"/>
          <p:cNvSpPr/>
          <p:nvPr/>
        </p:nvSpPr>
        <p:spPr>
          <a:xfrm>
            <a:off x="658368" y="5047488"/>
            <a:ext cx="5120640" cy="594360"/>
          </a:xfrm>
          <a:prstGeom prst="rect">
            <a:avLst/>
          </a:prstGeom>
          <a:noFill/>
          <a:ln/>
        </p:spPr>
        <p:txBody>
          <a:bodyPr wrap="square" lIns="508" tIns="508" rIns="508" bIns="508" rtlCol="0" anchor="t">
            <a:normAutofit/>
          </a:bodyPr>
          <a:lstStyle/>
          <a:p>
            <a:pPr marL="0" indent="0" algn="l">
              <a:lnSpc>
                <a:spcPct val="90000"/>
              </a:lnSpc>
              <a:buNone/>
            </a:pPr>
            <a:r>
              <a:rPr lang="en-US" sz="1450" dirty="0">
                <a:solidFill>
                  <a:srgbClr val="475569"/>
                </a:solidFill>
                <a:latin typeface="Aptos" pitchFamily="34" charset="0"/>
                <a:ea typeface="Aptos" pitchFamily="34" charset="-122"/>
                <a:cs typeface="Aptos" pitchFamily="34" charset="-120"/>
              </a:rPr>
              <a:t>Absences: higher absence levels tend to align with higher predicted relationship probability.</a:t>
            </a:r>
            <a:endParaRPr lang="en-US" sz="1450" dirty="0"/>
          </a:p>
        </p:txBody>
      </p:sp>
      <p:sp>
        <p:nvSpPr>
          <p:cNvPr id="10" name="Text 6"/>
          <p:cNvSpPr/>
          <p:nvPr/>
        </p:nvSpPr>
        <p:spPr>
          <a:xfrm>
            <a:off x="6199632" y="5047488"/>
            <a:ext cx="5120640" cy="594360"/>
          </a:xfrm>
          <a:prstGeom prst="rect">
            <a:avLst/>
          </a:prstGeom>
          <a:noFill/>
          <a:ln/>
        </p:spPr>
        <p:txBody>
          <a:bodyPr wrap="square" lIns="508" tIns="508" rIns="508" bIns="508" rtlCol="0" anchor="t">
            <a:normAutofit/>
          </a:bodyPr>
          <a:lstStyle/>
          <a:p>
            <a:pPr marL="0" indent="0" algn="l">
              <a:lnSpc>
                <a:spcPct val="90000"/>
              </a:lnSpc>
              <a:buNone/>
            </a:pPr>
            <a:r>
              <a:rPr lang="en-US" sz="1450" dirty="0">
                <a:solidFill>
                  <a:srgbClr val="475569"/>
                </a:solidFill>
                <a:latin typeface="Aptos" pitchFamily="34" charset="0"/>
                <a:ea typeface="Aptos" pitchFamily="34" charset="-122"/>
                <a:cs typeface="Aptos" pitchFamily="34" charset="-120"/>
              </a:rPr>
              <a:t>Study time: moderate study levels show higher predicted probability than the most intensive group.</a:t>
            </a:r>
            <a:endParaRPr lang="en-US" sz="1450" dirty="0"/>
          </a:p>
        </p:txBody>
      </p:sp>
      <p:sp>
        <p:nvSpPr>
          <p:cNvPr id="11" name="Text 7"/>
          <p:cNvSpPr/>
          <p:nvPr/>
        </p:nvSpPr>
        <p:spPr>
          <a:xfrm>
            <a:off x="1143000" y="5806440"/>
            <a:ext cx="9692640" cy="457200"/>
          </a:xfrm>
          <a:prstGeom prst="rect">
            <a:avLst/>
          </a:prstGeom>
          <a:noFill/>
          <a:ln/>
        </p:spPr>
        <p:txBody>
          <a:bodyPr wrap="square" lIns="508" tIns="508" rIns="508" bIns="508" rtlCol="0" anchor="t">
            <a:normAutofit lnSpcReduction="10000"/>
          </a:bodyPr>
          <a:lstStyle/>
          <a:p>
            <a:pPr marL="0" indent="0" algn="ctr">
              <a:lnSpc>
                <a:spcPct val="90000"/>
              </a:lnSpc>
              <a:buNone/>
            </a:pPr>
            <a:r>
              <a:rPr lang="en-US" sz="1700" b="1" dirty="0">
                <a:solidFill>
                  <a:srgbClr val="1E293B"/>
                </a:solidFill>
                <a:latin typeface="Aptos" pitchFamily="34" charset="0"/>
                <a:ea typeface="Aptos" pitchFamily="34" charset="-122"/>
                <a:cs typeface="Aptos" pitchFamily="34" charset="-120"/>
              </a:rPr>
              <a:t>These patterns suggest that romantic involvement is connected to school engagement, daily routine, and social availability.</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pic>
        <p:nvPicPr>
          <p:cNvPr id="25" name="图片 13">
            <a:extLst>
              <a:ext uri="{FF2B5EF4-FFF2-40B4-BE49-F238E27FC236}">
                <a16:creationId xmlns:a16="http://schemas.microsoft.com/office/drawing/2014/main" id="{2F651F75-3FE6-C68B-07B5-E4C17B023C56}"/>
              </a:ext>
            </a:extLst>
          </p:cNvPr>
          <p:cNvPicPr>
            <a:picLocks noChangeAspect="1"/>
          </p:cNvPicPr>
          <p:nvPr/>
        </p:nvPicPr>
        <p:blipFill>
          <a:blip r:embed="rId3" cstate="email">
            <a:clrChange>
              <a:clrFrom>
                <a:srgbClr val="FFFFFF"/>
              </a:clrFrom>
              <a:clrTo>
                <a:srgbClr val="FFFFFF">
                  <a:alpha val="0"/>
                </a:srgbClr>
              </a:clrTo>
            </a:clrChange>
            <a:grayscl/>
            <a:extLst>
              <a:ext uri="{28A0092B-C50C-407E-A947-70E740481C1C}">
                <a14:useLocalDpi xmlns:a14="http://schemas.microsoft.com/office/drawing/2010/main"/>
              </a:ext>
            </a:extLst>
          </a:blip>
          <a:srcRect/>
          <a:stretch>
            <a:fillRect/>
          </a:stretch>
        </p:blipFill>
        <p:spPr bwMode="auto">
          <a:xfrm>
            <a:off x="-8705" y="4204032"/>
            <a:ext cx="12209409" cy="2578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 0"/>
          <p:cNvSpPr/>
          <p:nvPr/>
        </p:nvSpPr>
        <p:spPr>
          <a:xfrm>
            <a:off x="502920" y="320040"/>
            <a:ext cx="5029200" cy="201168"/>
          </a:xfrm>
          <a:prstGeom prst="rect">
            <a:avLst/>
          </a:prstGeom>
          <a:noFill/>
          <a:ln/>
        </p:spPr>
        <p:txBody>
          <a:bodyPr wrap="square" lIns="0" tIns="0" rIns="0" bIns="0" rtlCol="0" anchor="ctr"/>
          <a:lstStyle/>
          <a:p>
            <a:pPr marL="0" indent="0">
              <a:buNone/>
            </a:pPr>
            <a:r>
              <a:rPr lang="en-US" sz="900" b="1" dirty="0">
                <a:solidFill>
                  <a:srgbClr val="007B83"/>
                </a:solidFill>
                <a:latin typeface="Aptos" pitchFamily="34" charset="0"/>
                <a:ea typeface="Aptos" pitchFamily="34" charset="-122"/>
                <a:cs typeface="Aptos" pitchFamily="34" charset="-120"/>
              </a:rPr>
              <a:t>METHODS</a:t>
            </a:r>
            <a:endParaRPr lang="en-US" sz="900" dirty="0"/>
          </a:p>
        </p:txBody>
      </p:sp>
      <p:sp>
        <p:nvSpPr>
          <p:cNvPr id="3" name="Text 1"/>
          <p:cNvSpPr/>
          <p:nvPr/>
        </p:nvSpPr>
        <p:spPr>
          <a:xfrm>
            <a:off x="502920" y="576072"/>
            <a:ext cx="11064240" cy="502920"/>
          </a:xfrm>
          <a:prstGeom prst="rect">
            <a:avLst/>
          </a:prstGeom>
          <a:noFill/>
          <a:ln/>
        </p:spPr>
        <p:txBody>
          <a:bodyPr wrap="square" lIns="0" tIns="0" rIns="0" bIns="0" rtlCol="0" anchor="ctr">
            <a:normAutofit/>
          </a:bodyPr>
          <a:lstStyle/>
          <a:p>
            <a:pPr marL="0" indent="0">
              <a:buNone/>
            </a:pPr>
            <a:r>
              <a:rPr lang="en-US" sz="2800" b="1" dirty="0">
                <a:solidFill>
                  <a:srgbClr val="1E293B"/>
                </a:solidFill>
                <a:latin typeface="Aptos Display" pitchFamily="34" charset="0"/>
                <a:ea typeface="Aptos Display" pitchFamily="34" charset="-122"/>
                <a:cs typeface="Aptos Display" pitchFamily="34" charset="-120"/>
              </a:rPr>
              <a:t>Modeling strategy</a:t>
            </a:r>
            <a:endParaRPr lang="en-US" sz="2800" dirty="0"/>
          </a:p>
        </p:txBody>
      </p:sp>
      <p:sp>
        <p:nvSpPr>
          <p:cNvPr id="4" name="Shape 2"/>
          <p:cNvSpPr/>
          <p:nvPr/>
        </p:nvSpPr>
        <p:spPr>
          <a:xfrm>
            <a:off x="502920" y="1124712"/>
            <a:ext cx="11064240" cy="0"/>
          </a:xfrm>
          <a:prstGeom prst="line">
            <a:avLst/>
          </a:prstGeom>
          <a:noFill/>
          <a:ln w="12700">
            <a:solidFill>
              <a:srgbClr val="E2E8F0"/>
            </a:solidFill>
            <a:prstDash val="solid"/>
          </a:ln>
        </p:spPr>
        <p:txBody>
          <a:bodyPr/>
          <a:lstStyle/>
          <a:p>
            <a:endParaRPr lang="en-US"/>
          </a:p>
        </p:txBody>
      </p:sp>
      <p:sp>
        <p:nvSpPr>
          <p:cNvPr id="5" name="Text 3"/>
          <p:cNvSpPr/>
          <p:nvPr/>
        </p:nvSpPr>
        <p:spPr>
          <a:xfrm>
            <a:off x="438912" y="6528816"/>
            <a:ext cx="5760720" cy="201168"/>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Predicting Student Romantic Relationship Status</a:t>
            </a:r>
            <a:endParaRPr lang="en-US" sz="750" dirty="0"/>
          </a:p>
        </p:txBody>
      </p:sp>
      <p:sp>
        <p:nvSpPr>
          <p:cNvPr id="6" name="Text 4"/>
          <p:cNvSpPr/>
          <p:nvPr/>
        </p:nvSpPr>
        <p:spPr>
          <a:xfrm>
            <a:off x="11539728" y="6510528"/>
            <a:ext cx="320040" cy="201168"/>
          </a:xfrm>
          <a:prstGeom prst="rect">
            <a:avLst/>
          </a:prstGeom>
          <a:noFill/>
          <a:ln/>
        </p:spPr>
        <p:txBody>
          <a:bodyPr wrap="square" lIns="0" tIns="0" rIns="0" bIns="0" rtlCol="0" anchor="ctr"/>
          <a:lstStyle/>
          <a:p>
            <a:pPr marL="0" indent="0" algn="r">
              <a:buNone/>
            </a:pPr>
            <a:r>
              <a:rPr lang="en-US" sz="750" dirty="0">
                <a:solidFill>
                  <a:srgbClr val="64748B"/>
                </a:solidFill>
                <a:latin typeface="Aptos" pitchFamily="34" charset="0"/>
                <a:ea typeface="Aptos" pitchFamily="34" charset="-122"/>
                <a:cs typeface="Aptos" pitchFamily="34" charset="-120"/>
              </a:rPr>
              <a:t>06</a:t>
            </a:r>
            <a:endParaRPr lang="en-US" sz="750" dirty="0"/>
          </a:p>
        </p:txBody>
      </p:sp>
      <p:sp>
        <p:nvSpPr>
          <p:cNvPr id="7" name="Text 5"/>
          <p:cNvSpPr/>
          <p:nvPr/>
        </p:nvSpPr>
        <p:spPr>
          <a:xfrm>
            <a:off x="731520" y="1325880"/>
            <a:ext cx="1645920" cy="274320"/>
          </a:xfrm>
          <a:prstGeom prst="rect">
            <a:avLst/>
          </a:prstGeom>
          <a:noFill/>
          <a:ln/>
        </p:spPr>
        <p:txBody>
          <a:bodyPr wrap="square" lIns="508" tIns="508" rIns="508" bIns="508" rtlCol="0" anchor="t">
            <a:normAutofit/>
          </a:bodyPr>
          <a:lstStyle/>
          <a:p>
            <a:pPr marL="0" indent="0" algn="l">
              <a:lnSpc>
                <a:spcPct val="90000"/>
              </a:lnSpc>
              <a:buNone/>
            </a:pPr>
            <a:r>
              <a:rPr lang="en-US" sz="1600" b="1" dirty="0">
                <a:solidFill>
                  <a:srgbClr val="007B83"/>
                </a:solidFill>
                <a:latin typeface="Aptos" pitchFamily="34" charset="0"/>
                <a:ea typeface="Aptos" pitchFamily="34" charset="-122"/>
                <a:cs typeface="Aptos" pitchFamily="34" charset="-120"/>
              </a:rPr>
              <a:t>Pipeline</a:t>
            </a:r>
            <a:endParaRPr lang="en-US" sz="1600" dirty="0"/>
          </a:p>
        </p:txBody>
      </p:sp>
      <p:sp>
        <p:nvSpPr>
          <p:cNvPr id="8" name="Shape 6"/>
          <p:cNvSpPr/>
          <p:nvPr/>
        </p:nvSpPr>
        <p:spPr>
          <a:xfrm>
            <a:off x="960120" y="2148840"/>
            <a:ext cx="9966960" cy="0"/>
          </a:xfrm>
          <a:prstGeom prst="line">
            <a:avLst/>
          </a:prstGeom>
          <a:noFill/>
          <a:ln w="25400">
            <a:solidFill>
              <a:srgbClr val="CBD5E1"/>
            </a:solidFill>
            <a:prstDash val="solid"/>
          </a:ln>
        </p:spPr>
        <p:txBody>
          <a:bodyPr/>
          <a:lstStyle/>
          <a:p>
            <a:endParaRPr lang="en-US"/>
          </a:p>
        </p:txBody>
      </p:sp>
      <p:sp>
        <p:nvSpPr>
          <p:cNvPr id="9" name="Shape 7"/>
          <p:cNvSpPr/>
          <p:nvPr/>
        </p:nvSpPr>
        <p:spPr>
          <a:xfrm>
            <a:off x="685800" y="1965960"/>
            <a:ext cx="365760" cy="365760"/>
          </a:xfrm>
          <a:prstGeom prst="ellipse">
            <a:avLst/>
          </a:prstGeom>
          <a:solidFill>
            <a:srgbClr val="0F9DA6"/>
          </a:solidFill>
          <a:ln w="12700">
            <a:solidFill>
              <a:srgbClr val="FFFFFF"/>
            </a:solidFill>
            <a:prstDash val="solid"/>
          </a:ln>
        </p:spPr>
        <p:txBody>
          <a:bodyPr/>
          <a:lstStyle/>
          <a:p>
            <a:endParaRPr lang="en-US"/>
          </a:p>
        </p:txBody>
      </p:sp>
      <p:sp>
        <p:nvSpPr>
          <p:cNvPr id="10" name="Text 8"/>
          <p:cNvSpPr/>
          <p:nvPr/>
        </p:nvSpPr>
        <p:spPr>
          <a:xfrm>
            <a:off x="274320" y="2423160"/>
            <a:ext cx="1234440" cy="566928"/>
          </a:xfrm>
          <a:prstGeom prst="rect">
            <a:avLst/>
          </a:prstGeom>
          <a:noFill/>
          <a:ln/>
        </p:spPr>
        <p:txBody>
          <a:bodyPr wrap="square" lIns="508" tIns="508" rIns="508" bIns="508" rtlCol="0" anchor="t">
            <a:normAutofit/>
          </a:bodyPr>
          <a:lstStyle/>
          <a:p>
            <a:pPr marL="0" indent="0" algn="ctr">
              <a:lnSpc>
                <a:spcPct val="90000"/>
              </a:lnSpc>
              <a:buNone/>
            </a:pPr>
            <a:r>
              <a:rPr lang="en-US" sz="1050" b="1" dirty="0">
                <a:solidFill>
                  <a:srgbClr val="1E293B"/>
                </a:solidFill>
                <a:latin typeface="Aptos" pitchFamily="34" charset="0"/>
                <a:ea typeface="Aptos" pitchFamily="34" charset="-122"/>
                <a:cs typeface="Aptos" pitchFamily="34" charset="-120"/>
              </a:rPr>
              <a:t>Student-level</a:t>
            </a:r>
            <a:endParaRPr lang="en-US" sz="1050" dirty="0"/>
          </a:p>
          <a:p>
            <a:pPr marL="0" indent="0" algn="ctr">
              <a:lnSpc>
                <a:spcPct val="90000"/>
              </a:lnSpc>
              <a:buNone/>
            </a:pPr>
            <a:r>
              <a:rPr lang="en-US" sz="1050" b="1" dirty="0">
                <a:solidFill>
                  <a:srgbClr val="1E293B"/>
                </a:solidFill>
                <a:latin typeface="Aptos" pitchFamily="34" charset="0"/>
                <a:ea typeface="Aptos" pitchFamily="34" charset="-122"/>
                <a:cs typeface="Aptos" pitchFamily="34" charset="-120"/>
              </a:rPr>
              <a:t>merged data</a:t>
            </a:r>
            <a:endParaRPr lang="en-US" sz="1050" dirty="0"/>
          </a:p>
        </p:txBody>
      </p:sp>
      <p:sp>
        <p:nvSpPr>
          <p:cNvPr id="11" name="Shape 9"/>
          <p:cNvSpPr/>
          <p:nvPr/>
        </p:nvSpPr>
        <p:spPr>
          <a:xfrm>
            <a:off x="2331720" y="1965960"/>
            <a:ext cx="365760" cy="365760"/>
          </a:xfrm>
          <a:prstGeom prst="ellipse">
            <a:avLst/>
          </a:prstGeom>
          <a:solidFill>
            <a:srgbClr val="0F9DA6"/>
          </a:solidFill>
          <a:ln w="12700">
            <a:solidFill>
              <a:srgbClr val="FFFFFF"/>
            </a:solidFill>
            <a:prstDash val="solid"/>
          </a:ln>
        </p:spPr>
        <p:txBody>
          <a:bodyPr/>
          <a:lstStyle/>
          <a:p>
            <a:endParaRPr lang="en-US"/>
          </a:p>
        </p:txBody>
      </p:sp>
      <p:sp>
        <p:nvSpPr>
          <p:cNvPr id="12" name="Text 10"/>
          <p:cNvSpPr/>
          <p:nvPr/>
        </p:nvSpPr>
        <p:spPr>
          <a:xfrm>
            <a:off x="1920240" y="2423160"/>
            <a:ext cx="1234440" cy="566928"/>
          </a:xfrm>
          <a:prstGeom prst="rect">
            <a:avLst/>
          </a:prstGeom>
          <a:noFill/>
          <a:ln/>
        </p:spPr>
        <p:txBody>
          <a:bodyPr wrap="square" lIns="508" tIns="508" rIns="508" bIns="508" rtlCol="0" anchor="t">
            <a:normAutofit/>
          </a:bodyPr>
          <a:lstStyle/>
          <a:p>
            <a:pPr marL="0" indent="0" algn="ctr">
              <a:lnSpc>
                <a:spcPct val="90000"/>
              </a:lnSpc>
              <a:buNone/>
            </a:pPr>
            <a:r>
              <a:rPr lang="en-US" sz="1050" b="1" dirty="0">
                <a:solidFill>
                  <a:srgbClr val="1E293B"/>
                </a:solidFill>
                <a:latin typeface="Aptos" pitchFamily="34" charset="0"/>
                <a:ea typeface="Aptos" pitchFamily="34" charset="-122"/>
                <a:cs typeface="Aptos" pitchFamily="34" charset="-120"/>
              </a:rPr>
              <a:t>Feature</a:t>
            </a:r>
            <a:endParaRPr lang="en-US" sz="1050" dirty="0"/>
          </a:p>
          <a:p>
            <a:pPr marL="0" indent="0" algn="ctr">
              <a:lnSpc>
                <a:spcPct val="90000"/>
              </a:lnSpc>
              <a:buNone/>
            </a:pPr>
            <a:r>
              <a:rPr lang="en-US" sz="1050" b="1" dirty="0">
                <a:solidFill>
                  <a:srgbClr val="1E293B"/>
                </a:solidFill>
                <a:latin typeface="Aptos" pitchFamily="34" charset="0"/>
                <a:ea typeface="Aptos" pitchFamily="34" charset="-122"/>
                <a:cs typeface="Aptos" pitchFamily="34" charset="-120"/>
              </a:rPr>
              <a:t>engineering</a:t>
            </a:r>
            <a:endParaRPr lang="en-US" sz="1050" dirty="0"/>
          </a:p>
        </p:txBody>
      </p:sp>
      <p:sp>
        <p:nvSpPr>
          <p:cNvPr id="13" name="Shape 11"/>
          <p:cNvSpPr/>
          <p:nvPr/>
        </p:nvSpPr>
        <p:spPr>
          <a:xfrm>
            <a:off x="3977640" y="1965960"/>
            <a:ext cx="365760" cy="365760"/>
          </a:xfrm>
          <a:prstGeom prst="ellipse">
            <a:avLst/>
          </a:prstGeom>
          <a:solidFill>
            <a:srgbClr val="0F9DA6"/>
          </a:solidFill>
          <a:ln w="12700">
            <a:solidFill>
              <a:srgbClr val="FFFFFF"/>
            </a:solidFill>
            <a:prstDash val="solid"/>
          </a:ln>
        </p:spPr>
        <p:txBody>
          <a:bodyPr/>
          <a:lstStyle/>
          <a:p>
            <a:endParaRPr lang="en-US"/>
          </a:p>
        </p:txBody>
      </p:sp>
      <p:sp>
        <p:nvSpPr>
          <p:cNvPr id="14" name="Text 12"/>
          <p:cNvSpPr/>
          <p:nvPr/>
        </p:nvSpPr>
        <p:spPr>
          <a:xfrm>
            <a:off x="3566160" y="2423160"/>
            <a:ext cx="1234440" cy="566928"/>
          </a:xfrm>
          <a:prstGeom prst="rect">
            <a:avLst/>
          </a:prstGeom>
          <a:noFill/>
          <a:ln/>
        </p:spPr>
        <p:txBody>
          <a:bodyPr wrap="square" lIns="508" tIns="508" rIns="508" bIns="508" rtlCol="0" anchor="t">
            <a:normAutofit/>
          </a:bodyPr>
          <a:lstStyle/>
          <a:p>
            <a:pPr marL="0" indent="0" algn="ctr">
              <a:lnSpc>
                <a:spcPct val="90000"/>
              </a:lnSpc>
              <a:buNone/>
            </a:pPr>
            <a:r>
              <a:rPr lang="en-US" sz="1050" b="1" dirty="0">
                <a:solidFill>
                  <a:srgbClr val="1E293B"/>
                </a:solidFill>
                <a:latin typeface="Aptos" pitchFamily="34" charset="0"/>
                <a:ea typeface="Aptos" pitchFamily="34" charset="-122"/>
                <a:cs typeface="Aptos" pitchFamily="34" charset="-120"/>
              </a:rPr>
              <a:t>Recipe</a:t>
            </a:r>
            <a:endParaRPr lang="en-US" sz="1050" dirty="0"/>
          </a:p>
          <a:p>
            <a:pPr marL="0" indent="0" algn="ctr">
              <a:lnSpc>
                <a:spcPct val="90000"/>
              </a:lnSpc>
              <a:buNone/>
            </a:pPr>
            <a:r>
              <a:rPr lang="en-US" sz="1050" b="1" dirty="0">
                <a:solidFill>
                  <a:srgbClr val="1E293B"/>
                </a:solidFill>
                <a:latin typeface="Aptos" pitchFamily="34" charset="0"/>
                <a:ea typeface="Aptos" pitchFamily="34" charset="-122"/>
                <a:cs typeface="Aptos" pitchFamily="34" charset="-120"/>
              </a:rPr>
              <a:t>preprocessing</a:t>
            </a:r>
            <a:endParaRPr lang="en-US" sz="1050" dirty="0"/>
          </a:p>
        </p:txBody>
      </p:sp>
      <p:sp>
        <p:nvSpPr>
          <p:cNvPr id="15" name="Shape 13"/>
          <p:cNvSpPr/>
          <p:nvPr/>
        </p:nvSpPr>
        <p:spPr>
          <a:xfrm>
            <a:off x="5623560" y="1965960"/>
            <a:ext cx="365760" cy="365760"/>
          </a:xfrm>
          <a:prstGeom prst="ellipse">
            <a:avLst/>
          </a:prstGeom>
          <a:solidFill>
            <a:srgbClr val="0F9DA6"/>
          </a:solidFill>
          <a:ln w="12700">
            <a:solidFill>
              <a:srgbClr val="FFFFFF"/>
            </a:solidFill>
            <a:prstDash val="solid"/>
          </a:ln>
        </p:spPr>
        <p:txBody>
          <a:bodyPr/>
          <a:lstStyle/>
          <a:p>
            <a:endParaRPr lang="en-US"/>
          </a:p>
        </p:txBody>
      </p:sp>
      <p:sp>
        <p:nvSpPr>
          <p:cNvPr id="16" name="Text 14"/>
          <p:cNvSpPr/>
          <p:nvPr/>
        </p:nvSpPr>
        <p:spPr>
          <a:xfrm>
            <a:off x="5212080" y="2423160"/>
            <a:ext cx="1234440" cy="566928"/>
          </a:xfrm>
          <a:prstGeom prst="rect">
            <a:avLst/>
          </a:prstGeom>
          <a:noFill/>
          <a:ln/>
        </p:spPr>
        <p:txBody>
          <a:bodyPr wrap="square" lIns="508" tIns="508" rIns="508" bIns="508" rtlCol="0" anchor="t">
            <a:normAutofit/>
          </a:bodyPr>
          <a:lstStyle/>
          <a:p>
            <a:pPr marL="0" indent="0" algn="ctr">
              <a:lnSpc>
                <a:spcPct val="90000"/>
              </a:lnSpc>
              <a:buNone/>
            </a:pPr>
            <a:r>
              <a:rPr lang="en-US" sz="1050" b="1" dirty="0">
                <a:solidFill>
                  <a:srgbClr val="1E293B"/>
                </a:solidFill>
                <a:latin typeface="Aptos" pitchFamily="34" charset="0"/>
                <a:ea typeface="Aptos" pitchFamily="34" charset="-122"/>
                <a:cs typeface="Aptos" pitchFamily="34" charset="-120"/>
              </a:rPr>
              <a:t>Model</a:t>
            </a:r>
            <a:endParaRPr lang="en-US" sz="1050" dirty="0"/>
          </a:p>
          <a:p>
            <a:pPr marL="0" indent="0" algn="ctr">
              <a:lnSpc>
                <a:spcPct val="90000"/>
              </a:lnSpc>
              <a:buNone/>
            </a:pPr>
            <a:r>
              <a:rPr lang="en-US" sz="1050" b="1" dirty="0">
                <a:solidFill>
                  <a:srgbClr val="1E293B"/>
                </a:solidFill>
                <a:latin typeface="Aptos" pitchFamily="34" charset="0"/>
                <a:ea typeface="Aptos" pitchFamily="34" charset="-122"/>
                <a:cs typeface="Aptos" pitchFamily="34" charset="-120"/>
              </a:rPr>
              <a:t>tuning</a:t>
            </a:r>
            <a:endParaRPr lang="en-US" sz="1050" dirty="0"/>
          </a:p>
        </p:txBody>
      </p:sp>
      <p:sp>
        <p:nvSpPr>
          <p:cNvPr id="17" name="Shape 15"/>
          <p:cNvSpPr/>
          <p:nvPr/>
        </p:nvSpPr>
        <p:spPr>
          <a:xfrm>
            <a:off x="7269480" y="1965960"/>
            <a:ext cx="365760" cy="365760"/>
          </a:xfrm>
          <a:prstGeom prst="ellipse">
            <a:avLst/>
          </a:prstGeom>
          <a:solidFill>
            <a:srgbClr val="0F9DA6"/>
          </a:solidFill>
          <a:ln w="12700">
            <a:solidFill>
              <a:srgbClr val="FFFFFF"/>
            </a:solidFill>
            <a:prstDash val="solid"/>
          </a:ln>
        </p:spPr>
        <p:txBody>
          <a:bodyPr/>
          <a:lstStyle/>
          <a:p>
            <a:endParaRPr lang="en-US"/>
          </a:p>
        </p:txBody>
      </p:sp>
      <p:sp>
        <p:nvSpPr>
          <p:cNvPr id="18" name="Text 16"/>
          <p:cNvSpPr/>
          <p:nvPr/>
        </p:nvSpPr>
        <p:spPr>
          <a:xfrm>
            <a:off x="6858000" y="2423160"/>
            <a:ext cx="1234440" cy="566928"/>
          </a:xfrm>
          <a:prstGeom prst="rect">
            <a:avLst/>
          </a:prstGeom>
          <a:noFill/>
          <a:ln/>
        </p:spPr>
        <p:txBody>
          <a:bodyPr wrap="square" lIns="508" tIns="508" rIns="508" bIns="508" rtlCol="0" anchor="t">
            <a:normAutofit/>
          </a:bodyPr>
          <a:lstStyle/>
          <a:p>
            <a:pPr marL="0" indent="0" algn="ctr">
              <a:lnSpc>
                <a:spcPct val="90000"/>
              </a:lnSpc>
              <a:buNone/>
            </a:pPr>
            <a:r>
              <a:rPr lang="en-US" sz="1050" b="1" dirty="0">
                <a:solidFill>
                  <a:srgbClr val="1E293B"/>
                </a:solidFill>
                <a:latin typeface="Aptos" pitchFamily="34" charset="0"/>
                <a:ea typeface="Aptos" pitchFamily="34" charset="-122"/>
                <a:cs typeface="Aptos" pitchFamily="34" charset="-120"/>
              </a:rPr>
              <a:t>Held-out</a:t>
            </a:r>
            <a:endParaRPr lang="en-US" sz="1050" dirty="0"/>
          </a:p>
          <a:p>
            <a:pPr marL="0" indent="0" algn="ctr">
              <a:lnSpc>
                <a:spcPct val="90000"/>
              </a:lnSpc>
              <a:buNone/>
            </a:pPr>
            <a:r>
              <a:rPr lang="en-US" sz="1050" b="1" dirty="0">
                <a:solidFill>
                  <a:srgbClr val="1E293B"/>
                </a:solidFill>
                <a:latin typeface="Aptos" pitchFamily="34" charset="0"/>
                <a:ea typeface="Aptos" pitchFamily="34" charset="-122"/>
                <a:cs typeface="Aptos" pitchFamily="34" charset="-120"/>
              </a:rPr>
              <a:t>test set</a:t>
            </a:r>
            <a:endParaRPr lang="en-US" sz="1050" dirty="0"/>
          </a:p>
        </p:txBody>
      </p:sp>
      <p:sp>
        <p:nvSpPr>
          <p:cNvPr id="19" name="Shape 17"/>
          <p:cNvSpPr/>
          <p:nvPr/>
        </p:nvSpPr>
        <p:spPr>
          <a:xfrm>
            <a:off x="8915400" y="1965960"/>
            <a:ext cx="365760" cy="365760"/>
          </a:xfrm>
          <a:prstGeom prst="ellipse">
            <a:avLst/>
          </a:prstGeom>
          <a:solidFill>
            <a:srgbClr val="F87171"/>
          </a:solidFill>
          <a:ln w="12700">
            <a:solidFill>
              <a:srgbClr val="FFFFFF"/>
            </a:solidFill>
            <a:prstDash val="solid"/>
          </a:ln>
        </p:spPr>
        <p:txBody>
          <a:bodyPr/>
          <a:lstStyle/>
          <a:p>
            <a:endParaRPr lang="en-US"/>
          </a:p>
        </p:txBody>
      </p:sp>
      <p:sp>
        <p:nvSpPr>
          <p:cNvPr id="20" name="Text 18"/>
          <p:cNvSpPr/>
          <p:nvPr/>
        </p:nvSpPr>
        <p:spPr>
          <a:xfrm>
            <a:off x="8503920" y="2423160"/>
            <a:ext cx="1234440" cy="566928"/>
          </a:xfrm>
          <a:prstGeom prst="rect">
            <a:avLst/>
          </a:prstGeom>
          <a:noFill/>
          <a:ln/>
        </p:spPr>
        <p:txBody>
          <a:bodyPr wrap="square" lIns="508" tIns="508" rIns="508" bIns="508" rtlCol="0" anchor="t">
            <a:normAutofit/>
          </a:bodyPr>
          <a:lstStyle/>
          <a:p>
            <a:pPr marL="0" indent="0" algn="ctr">
              <a:lnSpc>
                <a:spcPct val="90000"/>
              </a:lnSpc>
              <a:buNone/>
            </a:pPr>
            <a:r>
              <a:rPr lang="en-US" sz="1050" b="1" dirty="0">
                <a:solidFill>
                  <a:srgbClr val="1E293B"/>
                </a:solidFill>
                <a:latin typeface="Aptos" pitchFamily="34" charset="0"/>
                <a:ea typeface="Aptos" pitchFamily="34" charset="-122"/>
                <a:cs typeface="Aptos" pitchFamily="34" charset="-120"/>
              </a:rPr>
              <a:t>Calibration</a:t>
            </a:r>
            <a:endParaRPr lang="en-US" sz="1050" dirty="0"/>
          </a:p>
          <a:p>
            <a:pPr marL="0" indent="0" algn="ctr">
              <a:lnSpc>
                <a:spcPct val="90000"/>
              </a:lnSpc>
              <a:buNone/>
            </a:pPr>
            <a:r>
              <a:rPr lang="en-US" sz="1050" b="1" dirty="0">
                <a:solidFill>
                  <a:srgbClr val="1E293B"/>
                </a:solidFill>
                <a:latin typeface="Aptos" pitchFamily="34" charset="0"/>
                <a:ea typeface="Aptos" pitchFamily="34" charset="-122"/>
                <a:cs typeface="Aptos" pitchFamily="34" charset="-120"/>
              </a:rPr>
              <a:t>diagnostics</a:t>
            </a:r>
            <a:endParaRPr lang="en-US" sz="1050" dirty="0"/>
          </a:p>
        </p:txBody>
      </p:sp>
      <p:sp>
        <p:nvSpPr>
          <p:cNvPr id="21" name="Text 19"/>
          <p:cNvSpPr/>
          <p:nvPr/>
        </p:nvSpPr>
        <p:spPr>
          <a:xfrm>
            <a:off x="731520" y="3657600"/>
            <a:ext cx="2194560" cy="274320"/>
          </a:xfrm>
          <a:prstGeom prst="rect">
            <a:avLst/>
          </a:prstGeom>
          <a:noFill/>
          <a:ln/>
        </p:spPr>
        <p:txBody>
          <a:bodyPr wrap="square" lIns="508" tIns="508" rIns="508" bIns="508" rtlCol="0" anchor="t">
            <a:normAutofit/>
          </a:bodyPr>
          <a:lstStyle/>
          <a:p>
            <a:pPr marL="0" indent="0" algn="l">
              <a:lnSpc>
                <a:spcPct val="90000"/>
              </a:lnSpc>
              <a:buNone/>
            </a:pPr>
            <a:r>
              <a:rPr lang="en-US" sz="1600" b="1" dirty="0">
                <a:solidFill>
                  <a:srgbClr val="007B83"/>
                </a:solidFill>
                <a:latin typeface="Aptos" pitchFamily="34" charset="0"/>
                <a:ea typeface="Aptos" pitchFamily="34" charset="-122"/>
                <a:cs typeface="Aptos" pitchFamily="34" charset="-120"/>
              </a:rPr>
              <a:t>Models compared</a:t>
            </a:r>
            <a:endParaRPr lang="en-US" sz="1600" dirty="0"/>
          </a:p>
        </p:txBody>
      </p:sp>
      <p:sp>
        <p:nvSpPr>
          <p:cNvPr id="22" name="Text 20"/>
          <p:cNvSpPr/>
          <p:nvPr/>
        </p:nvSpPr>
        <p:spPr>
          <a:xfrm>
            <a:off x="822960" y="4041648"/>
            <a:ext cx="5212080" cy="1600200"/>
          </a:xfrm>
          <a:prstGeom prst="rect">
            <a:avLst/>
          </a:prstGeom>
          <a:noFill/>
          <a:ln/>
        </p:spPr>
        <p:txBody>
          <a:bodyPr wrap="square" lIns="508" tIns="508" rIns="508" bIns="508" rtlCol="0" anchor="t">
            <a:normAutofit/>
          </a:bodyPr>
          <a:lstStyle/>
          <a:p>
            <a:pPr marL="152400" indent="-152400">
              <a:buSzPct val="100000"/>
              <a:buChar char="•"/>
            </a:pPr>
            <a:r>
              <a:rPr lang="en-US" sz="1350" dirty="0">
                <a:solidFill>
                  <a:srgbClr val="475569"/>
                </a:solidFill>
                <a:latin typeface="Aptos" pitchFamily="34" charset="0"/>
                <a:ea typeface="Aptos" pitchFamily="34" charset="-122"/>
                <a:cs typeface="Aptos" pitchFamily="34" charset="-120"/>
              </a:rPr>
              <a:t>Logistic baseline for interpretability</a:t>
            </a:r>
            <a:endParaRPr lang="en-US" sz="1350" dirty="0"/>
          </a:p>
          <a:p>
            <a:pPr marL="152400" indent="-152400">
              <a:buSzPct val="100000"/>
              <a:buChar char="•"/>
            </a:pPr>
            <a:r>
              <a:rPr lang="en-US" sz="1350" dirty="0">
                <a:solidFill>
                  <a:srgbClr val="475569"/>
                </a:solidFill>
                <a:latin typeface="Aptos" pitchFamily="34" charset="0"/>
                <a:ea typeface="Aptos" pitchFamily="34" charset="-122"/>
                <a:cs typeface="Aptos" pitchFamily="34" charset="-120"/>
              </a:rPr>
              <a:t>Random Forest, XGBoost, SVM, Elastic Net, MLP, Decision Tree</a:t>
            </a:r>
            <a:endParaRPr lang="en-US" sz="1350" dirty="0"/>
          </a:p>
          <a:p>
            <a:pPr marL="152400" indent="-152400">
              <a:buSzPct val="100000"/>
              <a:buChar char="•"/>
            </a:pPr>
            <a:r>
              <a:rPr lang="en-US" sz="1350" dirty="0">
                <a:solidFill>
                  <a:srgbClr val="475569"/>
                </a:solidFill>
                <a:latin typeface="Aptos" pitchFamily="34" charset="0"/>
                <a:ea typeface="Aptos" pitchFamily="34" charset="-122"/>
                <a:cs typeface="Aptos" pitchFamily="34" charset="-120"/>
              </a:rPr>
              <a:t>Average-probability ensemble and stacking layer</a:t>
            </a:r>
            <a:endParaRPr lang="en-US" sz="1350" dirty="0"/>
          </a:p>
          <a:p>
            <a:pPr marL="152400" indent="-152400">
              <a:buSzPct val="100000"/>
              <a:buChar char="•"/>
            </a:pPr>
            <a:r>
              <a:rPr lang="en-US" sz="1350" dirty="0">
                <a:solidFill>
                  <a:srgbClr val="475569"/>
                </a:solidFill>
                <a:latin typeface="Aptos" pitchFamily="34" charset="0"/>
                <a:ea typeface="Aptos" pitchFamily="34" charset="-122"/>
                <a:cs typeface="Aptos" pitchFamily="34" charset="-120"/>
              </a:rPr>
              <a:t>kNN was tested during development, then moved out of main results due weak pooled threshold performance</a:t>
            </a:r>
            <a:endParaRPr lang="en-US" sz="1350" dirty="0"/>
          </a:p>
        </p:txBody>
      </p:sp>
      <p:sp>
        <p:nvSpPr>
          <p:cNvPr id="23" name="Text 21"/>
          <p:cNvSpPr/>
          <p:nvPr/>
        </p:nvSpPr>
        <p:spPr>
          <a:xfrm>
            <a:off x="6537960" y="3657600"/>
            <a:ext cx="1188720" cy="274320"/>
          </a:xfrm>
          <a:prstGeom prst="rect">
            <a:avLst/>
          </a:prstGeom>
          <a:noFill/>
          <a:ln/>
        </p:spPr>
        <p:txBody>
          <a:bodyPr wrap="square" lIns="508" tIns="508" rIns="508" bIns="508" rtlCol="0" anchor="t">
            <a:normAutofit/>
          </a:bodyPr>
          <a:lstStyle/>
          <a:p>
            <a:pPr marL="0" indent="0" algn="l">
              <a:lnSpc>
                <a:spcPct val="90000"/>
              </a:lnSpc>
              <a:buNone/>
            </a:pPr>
            <a:r>
              <a:rPr lang="en-US" sz="1600" b="1" dirty="0">
                <a:solidFill>
                  <a:srgbClr val="007B83"/>
                </a:solidFill>
                <a:latin typeface="Aptos" pitchFamily="34" charset="0"/>
                <a:ea typeface="Aptos" pitchFamily="34" charset="-122"/>
                <a:cs typeface="Aptos" pitchFamily="34" charset="-120"/>
              </a:rPr>
              <a:t>Metrics</a:t>
            </a:r>
            <a:endParaRPr lang="en-US" sz="1600" dirty="0"/>
          </a:p>
        </p:txBody>
      </p:sp>
      <p:sp>
        <p:nvSpPr>
          <p:cNvPr id="24" name="Text 22"/>
          <p:cNvSpPr/>
          <p:nvPr/>
        </p:nvSpPr>
        <p:spPr>
          <a:xfrm>
            <a:off x="6629400" y="4041648"/>
            <a:ext cx="4617720" cy="1600200"/>
          </a:xfrm>
          <a:prstGeom prst="rect">
            <a:avLst/>
          </a:prstGeom>
          <a:noFill/>
          <a:ln/>
        </p:spPr>
        <p:txBody>
          <a:bodyPr wrap="square" lIns="508" tIns="508" rIns="508" bIns="508" rtlCol="0" anchor="t">
            <a:normAutofit/>
          </a:bodyPr>
          <a:lstStyle/>
          <a:p>
            <a:pPr marL="152400" indent="-152400">
              <a:buSzPct val="100000"/>
              <a:buChar char="•"/>
            </a:pPr>
            <a:r>
              <a:rPr lang="en-US" sz="1350" dirty="0">
                <a:solidFill>
                  <a:srgbClr val="475569"/>
                </a:solidFill>
                <a:latin typeface="Aptos" pitchFamily="34" charset="0"/>
                <a:ea typeface="Aptos" pitchFamily="34" charset="-122"/>
                <a:cs typeface="Aptos" pitchFamily="34" charset="-120"/>
              </a:rPr>
              <a:t>Accuracy: hard yes/no classification</a:t>
            </a:r>
            <a:endParaRPr lang="en-US" sz="1350" dirty="0"/>
          </a:p>
          <a:p>
            <a:pPr marL="152400" indent="-152400">
              <a:buSzPct val="100000"/>
              <a:buChar char="•"/>
            </a:pPr>
            <a:r>
              <a:rPr lang="en-US" sz="1350" dirty="0">
                <a:solidFill>
                  <a:srgbClr val="475569"/>
                </a:solidFill>
                <a:latin typeface="Aptos" pitchFamily="34" charset="0"/>
                <a:ea typeface="Aptos" pitchFamily="34" charset="-122"/>
                <a:cs typeface="Aptos" pitchFamily="34" charset="-120"/>
              </a:rPr>
              <a:t>F1: balance for the romantic = yes class</a:t>
            </a:r>
            <a:endParaRPr lang="en-US" sz="1350" dirty="0"/>
          </a:p>
          <a:p>
            <a:pPr marL="152400" indent="-152400">
              <a:buSzPct val="100000"/>
              <a:buChar char="•"/>
            </a:pPr>
            <a:r>
              <a:rPr lang="en-US" sz="1350" dirty="0">
                <a:solidFill>
                  <a:srgbClr val="475569"/>
                </a:solidFill>
                <a:latin typeface="Aptos" pitchFamily="34" charset="0"/>
                <a:ea typeface="Aptos" pitchFamily="34" charset="-122"/>
                <a:cs typeface="Aptos" pitchFamily="34" charset="-120"/>
              </a:rPr>
              <a:t>AUC: probability ranking ability</a:t>
            </a:r>
            <a:endParaRPr lang="en-US" sz="1350" dirty="0"/>
          </a:p>
          <a:p>
            <a:pPr marL="152400" indent="-152400">
              <a:buSzPct val="100000"/>
              <a:buChar char="•"/>
            </a:pPr>
            <a:r>
              <a:rPr lang="en-US" sz="1350" dirty="0">
                <a:solidFill>
                  <a:srgbClr val="475569"/>
                </a:solidFill>
                <a:latin typeface="Aptos" pitchFamily="34" charset="0"/>
                <a:ea typeface="Aptos" pitchFamily="34" charset="-122"/>
                <a:cs typeface="Aptos" pitchFamily="34" charset="-120"/>
              </a:rPr>
              <a:t>Brier / log loss / calibration gap: probability quality</a:t>
            </a:r>
            <a:endParaRPr lang="en-US" sz="13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2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pic>
        <p:nvPicPr>
          <p:cNvPr id="44" name="Picture 5" descr="C:\Users\Thinkpad\Desktop\植物\-_0047_图层-38.png">
            <a:extLst>
              <a:ext uri="{FF2B5EF4-FFF2-40B4-BE49-F238E27FC236}">
                <a16:creationId xmlns:a16="http://schemas.microsoft.com/office/drawing/2014/main" id="{BCDCD928-89F6-1778-DB89-FEF1E6B592A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9340948" y="3333481"/>
            <a:ext cx="2700996" cy="3538588"/>
          </a:xfrm>
          <a:prstGeom prst="rect">
            <a:avLst/>
          </a:prstGeom>
          <a:noFill/>
          <a:extLst>
            <a:ext uri="{909E8E84-426E-40DD-AFC4-6F175D3DCCD1}">
              <a14:hiddenFill xmlns:a14="http://schemas.microsoft.com/office/drawing/2010/main">
                <a:solidFill>
                  <a:srgbClr val="FFFFFF"/>
                </a:solidFill>
              </a14:hiddenFill>
            </a:ext>
          </a:extLst>
        </p:spPr>
      </p:pic>
      <p:sp>
        <p:nvSpPr>
          <p:cNvPr id="2" name="Text 0"/>
          <p:cNvSpPr/>
          <p:nvPr/>
        </p:nvSpPr>
        <p:spPr>
          <a:xfrm>
            <a:off x="502920" y="320040"/>
            <a:ext cx="5029200" cy="201168"/>
          </a:xfrm>
          <a:prstGeom prst="rect">
            <a:avLst/>
          </a:prstGeom>
          <a:noFill/>
          <a:ln/>
        </p:spPr>
        <p:txBody>
          <a:bodyPr wrap="square" lIns="0" tIns="0" rIns="0" bIns="0" rtlCol="0" anchor="ctr"/>
          <a:lstStyle/>
          <a:p>
            <a:pPr marL="0" indent="0">
              <a:buNone/>
            </a:pPr>
            <a:r>
              <a:rPr lang="en-US" sz="900" b="1" dirty="0">
                <a:solidFill>
                  <a:srgbClr val="007B83"/>
                </a:solidFill>
                <a:latin typeface="Aptos" pitchFamily="34" charset="0"/>
                <a:ea typeface="Aptos" pitchFamily="34" charset="-122"/>
                <a:cs typeface="Aptos" pitchFamily="34" charset="-120"/>
              </a:rPr>
              <a:t>MODEL PERFORMANCE</a:t>
            </a:r>
            <a:endParaRPr lang="en-US" sz="900" dirty="0"/>
          </a:p>
        </p:txBody>
      </p:sp>
      <p:sp>
        <p:nvSpPr>
          <p:cNvPr id="3" name="Text 1"/>
          <p:cNvSpPr/>
          <p:nvPr/>
        </p:nvSpPr>
        <p:spPr>
          <a:xfrm>
            <a:off x="502920" y="576072"/>
            <a:ext cx="11064240" cy="502920"/>
          </a:xfrm>
          <a:prstGeom prst="rect">
            <a:avLst/>
          </a:prstGeom>
          <a:noFill/>
          <a:ln/>
        </p:spPr>
        <p:txBody>
          <a:bodyPr wrap="square" lIns="0" tIns="0" rIns="0" bIns="0" rtlCol="0" anchor="ctr">
            <a:normAutofit/>
          </a:bodyPr>
          <a:lstStyle/>
          <a:p>
            <a:pPr marL="0" indent="0">
              <a:buNone/>
            </a:pPr>
            <a:r>
              <a:rPr lang="en-US" sz="2800" b="1" dirty="0">
                <a:solidFill>
                  <a:srgbClr val="1E293B"/>
                </a:solidFill>
                <a:latin typeface="Aptos Display" pitchFamily="34" charset="0"/>
                <a:ea typeface="Aptos Display" pitchFamily="34" charset="-122"/>
                <a:cs typeface="Aptos Display" pitchFamily="34" charset="-120"/>
              </a:rPr>
              <a:t>Held-out test results</a:t>
            </a:r>
            <a:endParaRPr lang="en-US" sz="2800" dirty="0"/>
          </a:p>
        </p:txBody>
      </p:sp>
      <p:sp>
        <p:nvSpPr>
          <p:cNvPr id="4" name="Shape 2"/>
          <p:cNvSpPr/>
          <p:nvPr/>
        </p:nvSpPr>
        <p:spPr>
          <a:xfrm>
            <a:off x="502920" y="1124712"/>
            <a:ext cx="11064240" cy="0"/>
          </a:xfrm>
          <a:prstGeom prst="line">
            <a:avLst/>
          </a:prstGeom>
          <a:noFill/>
          <a:ln w="12700">
            <a:solidFill>
              <a:srgbClr val="E2E8F0"/>
            </a:solidFill>
            <a:prstDash val="solid"/>
          </a:ln>
        </p:spPr>
        <p:txBody>
          <a:bodyPr/>
          <a:lstStyle/>
          <a:p>
            <a:endParaRPr lang="en-US"/>
          </a:p>
        </p:txBody>
      </p:sp>
      <p:sp>
        <p:nvSpPr>
          <p:cNvPr id="5" name="Text 3"/>
          <p:cNvSpPr/>
          <p:nvPr/>
        </p:nvSpPr>
        <p:spPr>
          <a:xfrm>
            <a:off x="438912" y="6528816"/>
            <a:ext cx="5760720" cy="201168"/>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Predicting Student Romantic Relationship Status</a:t>
            </a:r>
            <a:endParaRPr lang="en-US" sz="750" dirty="0"/>
          </a:p>
        </p:txBody>
      </p:sp>
      <p:sp>
        <p:nvSpPr>
          <p:cNvPr id="6" name="Text 4"/>
          <p:cNvSpPr/>
          <p:nvPr/>
        </p:nvSpPr>
        <p:spPr>
          <a:xfrm>
            <a:off x="11539728" y="6510528"/>
            <a:ext cx="320040" cy="201168"/>
          </a:xfrm>
          <a:prstGeom prst="rect">
            <a:avLst/>
          </a:prstGeom>
          <a:noFill/>
          <a:ln/>
        </p:spPr>
        <p:txBody>
          <a:bodyPr wrap="square" lIns="0" tIns="0" rIns="0" bIns="0" rtlCol="0" anchor="ctr"/>
          <a:lstStyle/>
          <a:p>
            <a:pPr marL="0" indent="0" algn="r">
              <a:buNone/>
            </a:pPr>
            <a:r>
              <a:rPr lang="en-US" sz="750" dirty="0">
                <a:solidFill>
                  <a:srgbClr val="64748B"/>
                </a:solidFill>
                <a:latin typeface="Aptos" pitchFamily="34" charset="0"/>
                <a:ea typeface="Aptos" pitchFamily="34" charset="-122"/>
                <a:cs typeface="Aptos" pitchFamily="34" charset="-120"/>
              </a:rPr>
              <a:t>07</a:t>
            </a:r>
            <a:endParaRPr lang="en-US" sz="750" dirty="0"/>
          </a:p>
        </p:txBody>
      </p:sp>
      <p:sp>
        <p:nvSpPr>
          <p:cNvPr id="7" name="Shape 5"/>
          <p:cNvSpPr/>
          <p:nvPr/>
        </p:nvSpPr>
        <p:spPr>
          <a:xfrm>
            <a:off x="731520" y="1417320"/>
            <a:ext cx="6629400" cy="438912"/>
          </a:xfrm>
          <a:prstGeom prst="rect">
            <a:avLst/>
          </a:prstGeom>
          <a:solidFill>
            <a:srgbClr val="1E293B"/>
          </a:solidFill>
          <a:ln w="12700">
            <a:solidFill>
              <a:srgbClr val="1E293B"/>
            </a:solidFill>
            <a:prstDash val="solid"/>
          </a:ln>
        </p:spPr>
        <p:txBody>
          <a:bodyPr/>
          <a:lstStyle/>
          <a:p>
            <a:endParaRPr lang="en-US"/>
          </a:p>
        </p:txBody>
      </p:sp>
      <p:sp>
        <p:nvSpPr>
          <p:cNvPr id="8" name="Text 6"/>
          <p:cNvSpPr/>
          <p:nvPr/>
        </p:nvSpPr>
        <p:spPr>
          <a:xfrm>
            <a:off x="804672" y="1508760"/>
            <a:ext cx="2880360" cy="219456"/>
          </a:xfrm>
          <a:prstGeom prst="rect">
            <a:avLst/>
          </a:prstGeom>
          <a:noFill/>
          <a:ln/>
        </p:spPr>
        <p:txBody>
          <a:bodyPr wrap="square" lIns="0" tIns="0" rIns="0" bIns="0" rtlCol="0" anchor="ctr"/>
          <a:lstStyle/>
          <a:p>
            <a:pPr marL="0" indent="0">
              <a:buNone/>
            </a:pPr>
            <a:r>
              <a:rPr lang="en-US" sz="1200" b="1" dirty="0">
                <a:solidFill>
                  <a:srgbClr val="FFFFFF"/>
                </a:solidFill>
                <a:latin typeface="Aptos" pitchFamily="34" charset="0"/>
                <a:ea typeface="Aptos" pitchFamily="34" charset="-122"/>
                <a:cs typeface="Aptos" pitchFamily="34" charset="-120"/>
              </a:rPr>
              <a:t>Model</a:t>
            </a:r>
            <a:endParaRPr lang="en-US" sz="1200" dirty="0"/>
          </a:p>
        </p:txBody>
      </p:sp>
      <p:sp>
        <p:nvSpPr>
          <p:cNvPr id="9" name="Text 7"/>
          <p:cNvSpPr/>
          <p:nvPr/>
        </p:nvSpPr>
        <p:spPr>
          <a:xfrm>
            <a:off x="3776472" y="1508760"/>
            <a:ext cx="1051560" cy="219456"/>
          </a:xfrm>
          <a:prstGeom prst="rect">
            <a:avLst/>
          </a:prstGeom>
          <a:noFill/>
          <a:ln/>
        </p:spPr>
        <p:txBody>
          <a:bodyPr wrap="square" lIns="0" tIns="0" rIns="0" bIns="0" rtlCol="0" anchor="ctr"/>
          <a:lstStyle/>
          <a:p>
            <a:pPr marL="0" indent="0">
              <a:buNone/>
            </a:pPr>
            <a:r>
              <a:rPr lang="en-US" sz="1200" b="1" dirty="0">
                <a:solidFill>
                  <a:srgbClr val="FFFFFF"/>
                </a:solidFill>
                <a:latin typeface="Aptos" pitchFamily="34" charset="0"/>
                <a:ea typeface="Aptos" pitchFamily="34" charset="-122"/>
                <a:cs typeface="Aptos" pitchFamily="34" charset="-120"/>
              </a:rPr>
              <a:t>Accuracy</a:t>
            </a:r>
            <a:endParaRPr lang="en-US" sz="1200" dirty="0"/>
          </a:p>
        </p:txBody>
      </p:sp>
      <p:sp>
        <p:nvSpPr>
          <p:cNvPr id="10" name="Text 8"/>
          <p:cNvSpPr/>
          <p:nvPr/>
        </p:nvSpPr>
        <p:spPr>
          <a:xfrm>
            <a:off x="4919472" y="1508760"/>
            <a:ext cx="822960" cy="219456"/>
          </a:xfrm>
          <a:prstGeom prst="rect">
            <a:avLst/>
          </a:prstGeom>
          <a:noFill/>
          <a:ln/>
        </p:spPr>
        <p:txBody>
          <a:bodyPr wrap="square" lIns="0" tIns="0" rIns="0" bIns="0" rtlCol="0" anchor="ctr"/>
          <a:lstStyle/>
          <a:p>
            <a:pPr marL="0" indent="0">
              <a:buNone/>
            </a:pPr>
            <a:r>
              <a:rPr lang="en-US" sz="1200" b="1" dirty="0">
                <a:solidFill>
                  <a:srgbClr val="FFFFFF"/>
                </a:solidFill>
                <a:latin typeface="Aptos" pitchFamily="34" charset="0"/>
                <a:ea typeface="Aptos" pitchFamily="34" charset="-122"/>
                <a:cs typeface="Aptos" pitchFamily="34" charset="-120"/>
              </a:rPr>
              <a:t>F1</a:t>
            </a:r>
            <a:endParaRPr lang="en-US" sz="1200" dirty="0"/>
          </a:p>
        </p:txBody>
      </p:sp>
      <p:sp>
        <p:nvSpPr>
          <p:cNvPr id="11" name="Text 9"/>
          <p:cNvSpPr/>
          <p:nvPr/>
        </p:nvSpPr>
        <p:spPr>
          <a:xfrm>
            <a:off x="5833872" y="1508760"/>
            <a:ext cx="822960" cy="219456"/>
          </a:xfrm>
          <a:prstGeom prst="rect">
            <a:avLst/>
          </a:prstGeom>
          <a:noFill/>
          <a:ln/>
        </p:spPr>
        <p:txBody>
          <a:bodyPr wrap="square" lIns="0" tIns="0" rIns="0" bIns="0" rtlCol="0" anchor="ctr"/>
          <a:lstStyle/>
          <a:p>
            <a:pPr marL="0" indent="0">
              <a:buNone/>
            </a:pPr>
            <a:r>
              <a:rPr lang="en-US" sz="1200" b="1" dirty="0">
                <a:solidFill>
                  <a:srgbClr val="FFFFFF"/>
                </a:solidFill>
                <a:latin typeface="Aptos" pitchFamily="34" charset="0"/>
                <a:ea typeface="Aptos" pitchFamily="34" charset="-122"/>
                <a:cs typeface="Aptos" pitchFamily="34" charset="-120"/>
              </a:rPr>
              <a:t>AUC</a:t>
            </a:r>
            <a:endParaRPr lang="en-US" sz="1200" dirty="0"/>
          </a:p>
        </p:txBody>
      </p:sp>
      <p:sp>
        <p:nvSpPr>
          <p:cNvPr id="12" name="Shape 10"/>
          <p:cNvSpPr/>
          <p:nvPr/>
        </p:nvSpPr>
        <p:spPr>
          <a:xfrm>
            <a:off x="731520" y="1856232"/>
            <a:ext cx="6629400" cy="438912"/>
          </a:xfrm>
          <a:prstGeom prst="rect">
            <a:avLst/>
          </a:prstGeom>
          <a:solidFill>
            <a:srgbClr val="FFFFFF"/>
          </a:solidFill>
          <a:ln w="6350">
            <a:solidFill>
              <a:srgbClr val="CBD5E1"/>
            </a:solidFill>
            <a:prstDash val="solid"/>
          </a:ln>
        </p:spPr>
        <p:txBody>
          <a:bodyPr/>
          <a:lstStyle/>
          <a:p>
            <a:endParaRPr lang="en-US"/>
          </a:p>
        </p:txBody>
      </p:sp>
      <p:sp>
        <p:nvSpPr>
          <p:cNvPr id="13" name="Text 11"/>
          <p:cNvSpPr/>
          <p:nvPr/>
        </p:nvSpPr>
        <p:spPr>
          <a:xfrm>
            <a:off x="804672" y="1947672"/>
            <a:ext cx="2880360" cy="219456"/>
          </a:xfrm>
          <a:prstGeom prst="rect">
            <a:avLst/>
          </a:prstGeom>
          <a:noFill/>
          <a:ln/>
        </p:spPr>
        <p:txBody>
          <a:bodyPr wrap="square" lIns="0" tIns="0" rIns="0" bIns="0" rtlCol="0" anchor="ctr"/>
          <a:lstStyle/>
          <a:p>
            <a:pPr marL="0" indent="0">
              <a:buNone/>
            </a:pPr>
            <a:r>
              <a:rPr lang="en-US" sz="1200" b="1" dirty="0">
                <a:solidFill>
                  <a:srgbClr val="1E293B"/>
                </a:solidFill>
                <a:latin typeface="Aptos" pitchFamily="34" charset="0"/>
                <a:ea typeface="Aptos" pitchFamily="34" charset="-122"/>
                <a:cs typeface="Aptos" pitchFamily="34" charset="-120"/>
              </a:rPr>
              <a:t>Random Forest (tuned)</a:t>
            </a:r>
            <a:endParaRPr lang="en-US" sz="1200" dirty="0"/>
          </a:p>
        </p:txBody>
      </p:sp>
      <p:sp>
        <p:nvSpPr>
          <p:cNvPr id="14" name="Text 12"/>
          <p:cNvSpPr/>
          <p:nvPr/>
        </p:nvSpPr>
        <p:spPr>
          <a:xfrm>
            <a:off x="3776472" y="1947672"/>
            <a:ext cx="1051560" cy="219456"/>
          </a:xfrm>
          <a:prstGeom prst="rect">
            <a:avLst/>
          </a:prstGeom>
          <a:noFill/>
          <a:ln/>
        </p:spPr>
        <p:txBody>
          <a:bodyPr wrap="square" lIns="0" tIns="0" rIns="0" bIns="0" rtlCol="0" anchor="ctr"/>
          <a:lstStyle/>
          <a:p>
            <a:pPr marL="0" indent="0">
              <a:buNone/>
            </a:pPr>
            <a:r>
              <a:rPr lang="en-US" sz="1200" dirty="0">
                <a:solidFill>
                  <a:srgbClr val="1E293B"/>
                </a:solidFill>
                <a:latin typeface="Aptos" pitchFamily="34" charset="0"/>
                <a:ea typeface="Aptos" pitchFamily="34" charset="-122"/>
                <a:cs typeface="Aptos" pitchFamily="34" charset="-120"/>
              </a:rPr>
              <a:t>0.684</a:t>
            </a:r>
            <a:endParaRPr lang="en-US" sz="1200" dirty="0"/>
          </a:p>
        </p:txBody>
      </p:sp>
      <p:sp>
        <p:nvSpPr>
          <p:cNvPr id="15" name="Text 13"/>
          <p:cNvSpPr/>
          <p:nvPr/>
        </p:nvSpPr>
        <p:spPr>
          <a:xfrm>
            <a:off x="4919472" y="1947672"/>
            <a:ext cx="822960" cy="219456"/>
          </a:xfrm>
          <a:prstGeom prst="rect">
            <a:avLst/>
          </a:prstGeom>
          <a:noFill/>
          <a:ln/>
        </p:spPr>
        <p:txBody>
          <a:bodyPr wrap="square" lIns="0" tIns="0" rIns="0" bIns="0" rtlCol="0" anchor="ctr"/>
          <a:lstStyle/>
          <a:p>
            <a:pPr marL="0" indent="0">
              <a:buNone/>
            </a:pPr>
            <a:r>
              <a:rPr lang="en-US" sz="1200" dirty="0">
                <a:solidFill>
                  <a:srgbClr val="1E293B"/>
                </a:solidFill>
                <a:latin typeface="Aptos" pitchFamily="34" charset="0"/>
                <a:ea typeface="Aptos" pitchFamily="34" charset="-122"/>
                <a:cs typeface="Aptos" pitchFamily="34" charset="-120"/>
              </a:rPr>
              <a:t>0.543</a:t>
            </a:r>
            <a:endParaRPr lang="en-US" sz="1200" dirty="0"/>
          </a:p>
        </p:txBody>
      </p:sp>
      <p:sp>
        <p:nvSpPr>
          <p:cNvPr id="16" name="Text 14"/>
          <p:cNvSpPr/>
          <p:nvPr/>
        </p:nvSpPr>
        <p:spPr>
          <a:xfrm>
            <a:off x="5833872" y="1947672"/>
            <a:ext cx="822960" cy="219456"/>
          </a:xfrm>
          <a:prstGeom prst="rect">
            <a:avLst/>
          </a:prstGeom>
          <a:noFill/>
          <a:ln/>
        </p:spPr>
        <p:txBody>
          <a:bodyPr wrap="square" lIns="0" tIns="0" rIns="0" bIns="0" rtlCol="0" anchor="ctr"/>
          <a:lstStyle/>
          <a:p>
            <a:pPr marL="0" indent="0">
              <a:buNone/>
            </a:pPr>
            <a:r>
              <a:rPr lang="en-US" sz="1200" dirty="0">
                <a:solidFill>
                  <a:srgbClr val="1E293B"/>
                </a:solidFill>
                <a:latin typeface="Aptos" pitchFamily="34" charset="0"/>
                <a:ea typeface="Aptos" pitchFamily="34" charset="-122"/>
                <a:cs typeface="Aptos" pitchFamily="34" charset="-120"/>
              </a:rPr>
              <a:t>0.686</a:t>
            </a:r>
            <a:endParaRPr lang="en-US" sz="1200" dirty="0"/>
          </a:p>
        </p:txBody>
      </p:sp>
      <p:sp>
        <p:nvSpPr>
          <p:cNvPr id="17" name="Shape 15"/>
          <p:cNvSpPr/>
          <p:nvPr/>
        </p:nvSpPr>
        <p:spPr>
          <a:xfrm>
            <a:off x="731520" y="2295144"/>
            <a:ext cx="6629400" cy="438912"/>
          </a:xfrm>
          <a:prstGeom prst="rect">
            <a:avLst/>
          </a:prstGeom>
          <a:solidFill>
            <a:srgbClr val="F1F5F9"/>
          </a:solidFill>
          <a:ln w="6350">
            <a:solidFill>
              <a:srgbClr val="CBD5E1"/>
            </a:solidFill>
            <a:prstDash val="solid"/>
          </a:ln>
        </p:spPr>
        <p:txBody>
          <a:bodyPr/>
          <a:lstStyle/>
          <a:p>
            <a:endParaRPr lang="en-US"/>
          </a:p>
        </p:txBody>
      </p:sp>
      <p:sp>
        <p:nvSpPr>
          <p:cNvPr id="18" name="Text 16"/>
          <p:cNvSpPr/>
          <p:nvPr/>
        </p:nvSpPr>
        <p:spPr>
          <a:xfrm>
            <a:off x="804672" y="2386584"/>
            <a:ext cx="2880360" cy="219456"/>
          </a:xfrm>
          <a:prstGeom prst="rect">
            <a:avLst/>
          </a:prstGeom>
          <a:noFill/>
          <a:ln/>
        </p:spPr>
        <p:txBody>
          <a:bodyPr wrap="square" lIns="0" tIns="0" rIns="0" bIns="0" rtlCol="0" anchor="ctr"/>
          <a:lstStyle/>
          <a:p>
            <a:pPr marL="0" indent="0">
              <a:buNone/>
            </a:pPr>
            <a:r>
              <a:rPr lang="en-US" sz="1200" b="1" dirty="0">
                <a:solidFill>
                  <a:srgbClr val="1E293B"/>
                </a:solidFill>
                <a:latin typeface="Aptos" pitchFamily="34" charset="0"/>
                <a:ea typeface="Aptos" pitchFamily="34" charset="-122"/>
                <a:cs typeface="Aptos" pitchFamily="34" charset="-120"/>
              </a:rPr>
              <a:t>Stacking Ensemble</a:t>
            </a:r>
            <a:endParaRPr lang="en-US" sz="1200" dirty="0"/>
          </a:p>
        </p:txBody>
      </p:sp>
      <p:sp>
        <p:nvSpPr>
          <p:cNvPr id="19" name="Text 17"/>
          <p:cNvSpPr/>
          <p:nvPr/>
        </p:nvSpPr>
        <p:spPr>
          <a:xfrm>
            <a:off x="3776472" y="2386584"/>
            <a:ext cx="1051560" cy="219456"/>
          </a:xfrm>
          <a:prstGeom prst="rect">
            <a:avLst/>
          </a:prstGeom>
          <a:noFill/>
          <a:ln/>
        </p:spPr>
        <p:txBody>
          <a:bodyPr wrap="square" lIns="0" tIns="0" rIns="0" bIns="0" rtlCol="0" anchor="ctr"/>
          <a:lstStyle/>
          <a:p>
            <a:pPr marL="0" indent="0">
              <a:buNone/>
            </a:pPr>
            <a:r>
              <a:rPr lang="en-US" sz="1200" dirty="0">
                <a:solidFill>
                  <a:srgbClr val="1E293B"/>
                </a:solidFill>
                <a:latin typeface="Aptos" pitchFamily="34" charset="0"/>
                <a:ea typeface="Aptos" pitchFamily="34" charset="-122"/>
                <a:cs typeface="Aptos" pitchFamily="34" charset="-120"/>
              </a:rPr>
              <a:t>0.684</a:t>
            </a:r>
            <a:endParaRPr lang="en-US" sz="1200" dirty="0"/>
          </a:p>
        </p:txBody>
      </p:sp>
      <p:sp>
        <p:nvSpPr>
          <p:cNvPr id="20" name="Text 18"/>
          <p:cNvSpPr/>
          <p:nvPr/>
        </p:nvSpPr>
        <p:spPr>
          <a:xfrm>
            <a:off x="4919472" y="2386584"/>
            <a:ext cx="822960" cy="219456"/>
          </a:xfrm>
          <a:prstGeom prst="rect">
            <a:avLst/>
          </a:prstGeom>
          <a:noFill/>
          <a:ln/>
        </p:spPr>
        <p:txBody>
          <a:bodyPr wrap="square" lIns="0" tIns="0" rIns="0" bIns="0" rtlCol="0" anchor="ctr"/>
          <a:lstStyle/>
          <a:p>
            <a:pPr marL="0" indent="0">
              <a:buNone/>
            </a:pPr>
            <a:r>
              <a:rPr lang="en-US" sz="1200" dirty="0">
                <a:solidFill>
                  <a:srgbClr val="1E293B"/>
                </a:solidFill>
                <a:latin typeface="Aptos" pitchFamily="34" charset="0"/>
                <a:ea typeface="Aptos" pitchFamily="34" charset="-122"/>
                <a:cs typeface="Aptos" pitchFamily="34" charset="-120"/>
              </a:rPr>
              <a:t>0.543</a:t>
            </a:r>
            <a:endParaRPr lang="en-US" sz="1200" dirty="0"/>
          </a:p>
        </p:txBody>
      </p:sp>
      <p:sp>
        <p:nvSpPr>
          <p:cNvPr id="21" name="Text 19"/>
          <p:cNvSpPr/>
          <p:nvPr/>
        </p:nvSpPr>
        <p:spPr>
          <a:xfrm>
            <a:off x="5833872" y="2386584"/>
            <a:ext cx="822960" cy="219456"/>
          </a:xfrm>
          <a:prstGeom prst="rect">
            <a:avLst/>
          </a:prstGeom>
          <a:noFill/>
          <a:ln/>
        </p:spPr>
        <p:txBody>
          <a:bodyPr wrap="square" lIns="0" tIns="0" rIns="0" bIns="0" rtlCol="0" anchor="ctr"/>
          <a:lstStyle/>
          <a:p>
            <a:pPr marL="0" indent="0">
              <a:buNone/>
            </a:pPr>
            <a:r>
              <a:rPr lang="en-US" sz="1200" dirty="0">
                <a:solidFill>
                  <a:srgbClr val="1E293B"/>
                </a:solidFill>
                <a:latin typeface="Aptos" pitchFamily="34" charset="0"/>
                <a:ea typeface="Aptos" pitchFamily="34" charset="-122"/>
                <a:cs typeface="Aptos" pitchFamily="34" charset="-120"/>
              </a:rPr>
              <a:t>0.686</a:t>
            </a:r>
            <a:endParaRPr lang="en-US" sz="1200" dirty="0"/>
          </a:p>
        </p:txBody>
      </p:sp>
      <p:sp>
        <p:nvSpPr>
          <p:cNvPr id="22" name="Shape 20"/>
          <p:cNvSpPr/>
          <p:nvPr/>
        </p:nvSpPr>
        <p:spPr>
          <a:xfrm>
            <a:off x="731520" y="2734056"/>
            <a:ext cx="6629400" cy="438912"/>
          </a:xfrm>
          <a:prstGeom prst="rect">
            <a:avLst/>
          </a:prstGeom>
          <a:solidFill>
            <a:srgbClr val="FFFFFF"/>
          </a:solidFill>
          <a:ln w="6350">
            <a:solidFill>
              <a:srgbClr val="CBD5E1"/>
            </a:solidFill>
            <a:prstDash val="solid"/>
          </a:ln>
        </p:spPr>
        <p:txBody>
          <a:bodyPr/>
          <a:lstStyle/>
          <a:p>
            <a:endParaRPr lang="en-US"/>
          </a:p>
        </p:txBody>
      </p:sp>
      <p:sp>
        <p:nvSpPr>
          <p:cNvPr id="23" name="Text 21"/>
          <p:cNvSpPr/>
          <p:nvPr/>
        </p:nvSpPr>
        <p:spPr>
          <a:xfrm>
            <a:off x="804672" y="2825496"/>
            <a:ext cx="2880360" cy="219456"/>
          </a:xfrm>
          <a:prstGeom prst="rect">
            <a:avLst/>
          </a:prstGeom>
          <a:noFill/>
          <a:ln/>
        </p:spPr>
        <p:txBody>
          <a:bodyPr wrap="square" lIns="0" tIns="0" rIns="0" bIns="0" rtlCol="0" anchor="ctr"/>
          <a:lstStyle/>
          <a:p>
            <a:pPr marL="0" indent="0">
              <a:buNone/>
            </a:pPr>
            <a:r>
              <a:rPr lang="en-US" sz="1200" dirty="0">
                <a:solidFill>
                  <a:srgbClr val="1E293B"/>
                </a:solidFill>
                <a:latin typeface="Aptos" pitchFamily="34" charset="0"/>
                <a:ea typeface="Aptos" pitchFamily="34" charset="-122"/>
                <a:cs typeface="Aptos" pitchFamily="34" charset="-120"/>
              </a:rPr>
              <a:t>SVM RBF</a:t>
            </a:r>
            <a:endParaRPr lang="en-US" sz="1200" dirty="0"/>
          </a:p>
        </p:txBody>
      </p:sp>
      <p:sp>
        <p:nvSpPr>
          <p:cNvPr id="24" name="Text 22"/>
          <p:cNvSpPr/>
          <p:nvPr/>
        </p:nvSpPr>
        <p:spPr>
          <a:xfrm>
            <a:off x="3776472" y="2825496"/>
            <a:ext cx="1051560" cy="219456"/>
          </a:xfrm>
          <a:prstGeom prst="rect">
            <a:avLst/>
          </a:prstGeom>
          <a:noFill/>
          <a:ln/>
        </p:spPr>
        <p:txBody>
          <a:bodyPr wrap="square" lIns="0" tIns="0" rIns="0" bIns="0" rtlCol="0" anchor="ctr"/>
          <a:lstStyle/>
          <a:p>
            <a:pPr marL="0" indent="0">
              <a:buNone/>
            </a:pPr>
            <a:r>
              <a:rPr lang="en-US" sz="1200" dirty="0">
                <a:solidFill>
                  <a:srgbClr val="1E293B"/>
                </a:solidFill>
                <a:latin typeface="Aptos" pitchFamily="34" charset="0"/>
                <a:ea typeface="Aptos" pitchFamily="34" charset="-122"/>
                <a:cs typeface="Aptos" pitchFamily="34" charset="-120"/>
              </a:rPr>
              <a:t>0.662</a:t>
            </a:r>
            <a:endParaRPr lang="en-US" sz="1200" dirty="0"/>
          </a:p>
        </p:txBody>
      </p:sp>
      <p:sp>
        <p:nvSpPr>
          <p:cNvPr id="25" name="Text 23"/>
          <p:cNvSpPr/>
          <p:nvPr/>
        </p:nvSpPr>
        <p:spPr>
          <a:xfrm>
            <a:off x="4919472" y="2825496"/>
            <a:ext cx="822960" cy="219456"/>
          </a:xfrm>
          <a:prstGeom prst="rect">
            <a:avLst/>
          </a:prstGeom>
          <a:noFill/>
          <a:ln/>
        </p:spPr>
        <p:txBody>
          <a:bodyPr wrap="square" lIns="0" tIns="0" rIns="0" bIns="0" rtlCol="0" anchor="ctr"/>
          <a:lstStyle/>
          <a:p>
            <a:pPr marL="0" indent="0">
              <a:buNone/>
            </a:pPr>
            <a:r>
              <a:rPr lang="en-US" sz="1200" dirty="0">
                <a:solidFill>
                  <a:srgbClr val="1E293B"/>
                </a:solidFill>
                <a:latin typeface="Aptos" pitchFamily="34" charset="0"/>
                <a:ea typeface="Aptos" pitchFamily="34" charset="-122"/>
                <a:cs typeface="Aptos" pitchFamily="34" charset="-120"/>
              </a:rPr>
              <a:t>0.483</a:t>
            </a:r>
            <a:endParaRPr lang="en-US" sz="1200" dirty="0"/>
          </a:p>
        </p:txBody>
      </p:sp>
      <p:sp>
        <p:nvSpPr>
          <p:cNvPr id="26" name="Text 24"/>
          <p:cNvSpPr/>
          <p:nvPr/>
        </p:nvSpPr>
        <p:spPr>
          <a:xfrm>
            <a:off x="5833872" y="2825496"/>
            <a:ext cx="822960" cy="219456"/>
          </a:xfrm>
          <a:prstGeom prst="rect">
            <a:avLst/>
          </a:prstGeom>
          <a:noFill/>
          <a:ln/>
        </p:spPr>
        <p:txBody>
          <a:bodyPr wrap="square" lIns="0" tIns="0" rIns="0" bIns="0" rtlCol="0" anchor="ctr"/>
          <a:lstStyle/>
          <a:p>
            <a:pPr marL="0" indent="0">
              <a:buNone/>
            </a:pPr>
            <a:r>
              <a:rPr lang="en-US" sz="1200" dirty="0">
                <a:solidFill>
                  <a:srgbClr val="1E293B"/>
                </a:solidFill>
                <a:latin typeface="Aptos" pitchFamily="34" charset="0"/>
                <a:ea typeface="Aptos" pitchFamily="34" charset="-122"/>
                <a:cs typeface="Aptos" pitchFamily="34" charset="-120"/>
              </a:rPr>
              <a:t>0.660</a:t>
            </a:r>
            <a:endParaRPr lang="en-US" sz="1200" dirty="0"/>
          </a:p>
        </p:txBody>
      </p:sp>
      <p:sp>
        <p:nvSpPr>
          <p:cNvPr id="27" name="Shape 25"/>
          <p:cNvSpPr/>
          <p:nvPr/>
        </p:nvSpPr>
        <p:spPr>
          <a:xfrm>
            <a:off x="731520" y="3172968"/>
            <a:ext cx="6629400" cy="438912"/>
          </a:xfrm>
          <a:prstGeom prst="rect">
            <a:avLst/>
          </a:prstGeom>
          <a:solidFill>
            <a:srgbClr val="F1F5F9"/>
          </a:solidFill>
          <a:ln w="6350">
            <a:solidFill>
              <a:srgbClr val="CBD5E1"/>
            </a:solidFill>
            <a:prstDash val="solid"/>
          </a:ln>
        </p:spPr>
        <p:txBody>
          <a:bodyPr/>
          <a:lstStyle/>
          <a:p>
            <a:endParaRPr lang="en-US"/>
          </a:p>
        </p:txBody>
      </p:sp>
      <p:sp>
        <p:nvSpPr>
          <p:cNvPr id="28" name="Text 26"/>
          <p:cNvSpPr/>
          <p:nvPr/>
        </p:nvSpPr>
        <p:spPr>
          <a:xfrm>
            <a:off x="804672" y="3264408"/>
            <a:ext cx="2880360" cy="219456"/>
          </a:xfrm>
          <a:prstGeom prst="rect">
            <a:avLst/>
          </a:prstGeom>
          <a:noFill/>
          <a:ln/>
        </p:spPr>
        <p:txBody>
          <a:bodyPr wrap="square" lIns="0" tIns="0" rIns="0" bIns="0" rtlCol="0" anchor="ctr"/>
          <a:lstStyle/>
          <a:p>
            <a:pPr marL="0" indent="0">
              <a:buNone/>
            </a:pPr>
            <a:r>
              <a:rPr lang="en-US" sz="1200" dirty="0">
                <a:solidFill>
                  <a:srgbClr val="1E293B"/>
                </a:solidFill>
                <a:latin typeface="Aptos" pitchFamily="34" charset="0"/>
                <a:ea typeface="Aptos" pitchFamily="34" charset="-122"/>
                <a:cs typeface="Aptos" pitchFamily="34" charset="-120"/>
              </a:rPr>
              <a:t>Logistic baseline</a:t>
            </a:r>
            <a:endParaRPr lang="en-US" sz="1200" dirty="0"/>
          </a:p>
        </p:txBody>
      </p:sp>
      <p:sp>
        <p:nvSpPr>
          <p:cNvPr id="29" name="Text 27"/>
          <p:cNvSpPr/>
          <p:nvPr/>
        </p:nvSpPr>
        <p:spPr>
          <a:xfrm>
            <a:off x="3776472" y="3264408"/>
            <a:ext cx="1051560" cy="219456"/>
          </a:xfrm>
          <a:prstGeom prst="rect">
            <a:avLst/>
          </a:prstGeom>
          <a:noFill/>
          <a:ln/>
        </p:spPr>
        <p:txBody>
          <a:bodyPr wrap="square" lIns="0" tIns="0" rIns="0" bIns="0" rtlCol="0" anchor="ctr"/>
          <a:lstStyle/>
          <a:p>
            <a:pPr marL="0" indent="0">
              <a:buNone/>
            </a:pPr>
            <a:r>
              <a:rPr lang="en-US" sz="1200" dirty="0">
                <a:solidFill>
                  <a:srgbClr val="1E293B"/>
                </a:solidFill>
                <a:latin typeface="Aptos" pitchFamily="34" charset="0"/>
                <a:ea typeface="Aptos" pitchFamily="34" charset="-122"/>
                <a:cs typeface="Aptos" pitchFamily="34" charset="-120"/>
              </a:rPr>
              <a:t>0.647</a:t>
            </a:r>
            <a:endParaRPr lang="en-US" sz="1200" dirty="0"/>
          </a:p>
        </p:txBody>
      </p:sp>
      <p:sp>
        <p:nvSpPr>
          <p:cNvPr id="30" name="Text 28"/>
          <p:cNvSpPr/>
          <p:nvPr/>
        </p:nvSpPr>
        <p:spPr>
          <a:xfrm>
            <a:off x="4919472" y="3264408"/>
            <a:ext cx="822960" cy="219456"/>
          </a:xfrm>
          <a:prstGeom prst="rect">
            <a:avLst/>
          </a:prstGeom>
          <a:noFill/>
          <a:ln/>
        </p:spPr>
        <p:txBody>
          <a:bodyPr wrap="square" lIns="0" tIns="0" rIns="0" bIns="0" rtlCol="0" anchor="ctr"/>
          <a:lstStyle/>
          <a:p>
            <a:pPr marL="0" indent="0">
              <a:buNone/>
            </a:pPr>
            <a:r>
              <a:rPr lang="en-US" sz="1200" dirty="0">
                <a:solidFill>
                  <a:srgbClr val="1E293B"/>
                </a:solidFill>
                <a:latin typeface="Aptos" pitchFamily="34" charset="0"/>
                <a:ea typeface="Aptos" pitchFamily="34" charset="-122"/>
                <a:cs typeface="Aptos" pitchFamily="34" charset="-120"/>
              </a:rPr>
              <a:t>0.420</a:t>
            </a:r>
            <a:endParaRPr lang="en-US" sz="1200" dirty="0"/>
          </a:p>
        </p:txBody>
      </p:sp>
      <p:sp>
        <p:nvSpPr>
          <p:cNvPr id="31" name="Text 29"/>
          <p:cNvSpPr/>
          <p:nvPr/>
        </p:nvSpPr>
        <p:spPr>
          <a:xfrm>
            <a:off x="5833872" y="3264408"/>
            <a:ext cx="822960" cy="219456"/>
          </a:xfrm>
          <a:prstGeom prst="rect">
            <a:avLst/>
          </a:prstGeom>
          <a:noFill/>
          <a:ln/>
        </p:spPr>
        <p:txBody>
          <a:bodyPr wrap="square" lIns="0" tIns="0" rIns="0" bIns="0" rtlCol="0" anchor="ctr"/>
          <a:lstStyle/>
          <a:p>
            <a:pPr marL="0" indent="0">
              <a:buNone/>
            </a:pPr>
            <a:r>
              <a:rPr lang="en-US" sz="1200" dirty="0">
                <a:solidFill>
                  <a:srgbClr val="1E293B"/>
                </a:solidFill>
                <a:latin typeface="Aptos" pitchFamily="34" charset="0"/>
                <a:ea typeface="Aptos" pitchFamily="34" charset="-122"/>
                <a:cs typeface="Aptos" pitchFamily="34" charset="-120"/>
              </a:rPr>
              <a:t>0.638</a:t>
            </a:r>
            <a:endParaRPr lang="en-US" sz="1200" dirty="0"/>
          </a:p>
        </p:txBody>
      </p:sp>
      <p:sp>
        <p:nvSpPr>
          <p:cNvPr id="32" name="Shape 30"/>
          <p:cNvSpPr/>
          <p:nvPr/>
        </p:nvSpPr>
        <p:spPr>
          <a:xfrm>
            <a:off x="731520" y="3611880"/>
            <a:ext cx="6629400" cy="438912"/>
          </a:xfrm>
          <a:prstGeom prst="rect">
            <a:avLst/>
          </a:prstGeom>
          <a:solidFill>
            <a:srgbClr val="FFFFFF"/>
          </a:solidFill>
          <a:ln w="6350">
            <a:solidFill>
              <a:srgbClr val="CBD5E1"/>
            </a:solidFill>
            <a:prstDash val="solid"/>
          </a:ln>
        </p:spPr>
        <p:txBody>
          <a:bodyPr/>
          <a:lstStyle/>
          <a:p>
            <a:endParaRPr lang="en-US"/>
          </a:p>
        </p:txBody>
      </p:sp>
      <p:sp>
        <p:nvSpPr>
          <p:cNvPr id="33" name="Text 31"/>
          <p:cNvSpPr/>
          <p:nvPr/>
        </p:nvSpPr>
        <p:spPr>
          <a:xfrm>
            <a:off x="804672" y="3703320"/>
            <a:ext cx="2880360" cy="219456"/>
          </a:xfrm>
          <a:prstGeom prst="rect">
            <a:avLst/>
          </a:prstGeom>
          <a:noFill/>
          <a:ln/>
        </p:spPr>
        <p:txBody>
          <a:bodyPr wrap="square" lIns="0" tIns="0" rIns="0" bIns="0" rtlCol="0" anchor="ctr"/>
          <a:lstStyle/>
          <a:p>
            <a:pPr marL="0" indent="0">
              <a:buNone/>
            </a:pPr>
            <a:r>
              <a:rPr lang="en-US" sz="1200" dirty="0">
                <a:solidFill>
                  <a:srgbClr val="1E293B"/>
                </a:solidFill>
                <a:latin typeface="Aptos" pitchFamily="34" charset="0"/>
                <a:ea typeface="Aptos" pitchFamily="34" charset="-122"/>
                <a:cs typeface="Aptos" pitchFamily="34" charset="-120"/>
              </a:rPr>
              <a:t>XGBoost</a:t>
            </a:r>
            <a:endParaRPr lang="en-US" sz="1200" dirty="0"/>
          </a:p>
        </p:txBody>
      </p:sp>
      <p:sp>
        <p:nvSpPr>
          <p:cNvPr id="34" name="Text 32"/>
          <p:cNvSpPr/>
          <p:nvPr/>
        </p:nvSpPr>
        <p:spPr>
          <a:xfrm>
            <a:off x="3776472" y="3703320"/>
            <a:ext cx="1051560" cy="219456"/>
          </a:xfrm>
          <a:prstGeom prst="rect">
            <a:avLst/>
          </a:prstGeom>
          <a:noFill/>
          <a:ln/>
        </p:spPr>
        <p:txBody>
          <a:bodyPr wrap="square" lIns="0" tIns="0" rIns="0" bIns="0" rtlCol="0" anchor="ctr"/>
          <a:lstStyle/>
          <a:p>
            <a:pPr marL="0" indent="0">
              <a:buNone/>
            </a:pPr>
            <a:r>
              <a:rPr lang="en-US" sz="1200" dirty="0">
                <a:solidFill>
                  <a:srgbClr val="1E293B"/>
                </a:solidFill>
                <a:latin typeface="Aptos" pitchFamily="34" charset="0"/>
                <a:ea typeface="Aptos" pitchFamily="34" charset="-122"/>
                <a:cs typeface="Aptos" pitchFamily="34" charset="-120"/>
              </a:rPr>
              <a:t>0.632</a:t>
            </a:r>
            <a:endParaRPr lang="en-US" sz="1200" dirty="0"/>
          </a:p>
        </p:txBody>
      </p:sp>
      <p:sp>
        <p:nvSpPr>
          <p:cNvPr id="35" name="Text 33"/>
          <p:cNvSpPr/>
          <p:nvPr/>
        </p:nvSpPr>
        <p:spPr>
          <a:xfrm>
            <a:off x="4919472" y="3703320"/>
            <a:ext cx="822960" cy="219456"/>
          </a:xfrm>
          <a:prstGeom prst="rect">
            <a:avLst/>
          </a:prstGeom>
          <a:noFill/>
          <a:ln/>
        </p:spPr>
        <p:txBody>
          <a:bodyPr wrap="square" lIns="0" tIns="0" rIns="0" bIns="0" rtlCol="0" anchor="ctr"/>
          <a:lstStyle/>
          <a:p>
            <a:pPr marL="0" indent="0">
              <a:buNone/>
            </a:pPr>
            <a:r>
              <a:rPr lang="en-US" sz="1200" dirty="0">
                <a:solidFill>
                  <a:srgbClr val="1E293B"/>
                </a:solidFill>
                <a:latin typeface="Aptos" pitchFamily="34" charset="0"/>
                <a:ea typeface="Aptos" pitchFamily="34" charset="-122"/>
                <a:cs typeface="Aptos" pitchFamily="34" charset="-120"/>
              </a:rPr>
              <a:t>0.290</a:t>
            </a:r>
            <a:endParaRPr lang="en-US" sz="1200" dirty="0"/>
          </a:p>
        </p:txBody>
      </p:sp>
      <p:sp>
        <p:nvSpPr>
          <p:cNvPr id="36" name="Text 34"/>
          <p:cNvSpPr/>
          <p:nvPr/>
        </p:nvSpPr>
        <p:spPr>
          <a:xfrm>
            <a:off x="5833872" y="3703320"/>
            <a:ext cx="822960" cy="219456"/>
          </a:xfrm>
          <a:prstGeom prst="rect">
            <a:avLst/>
          </a:prstGeom>
          <a:noFill/>
          <a:ln/>
        </p:spPr>
        <p:txBody>
          <a:bodyPr wrap="square" lIns="0" tIns="0" rIns="0" bIns="0" rtlCol="0" anchor="ctr"/>
          <a:lstStyle/>
          <a:p>
            <a:pPr marL="0" indent="0">
              <a:buNone/>
            </a:pPr>
            <a:r>
              <a:rPr lang="en-US" sz="1200" dirty="0">
                <a:solidFill>
                  <a:srgbClr val="1E293B"/>
                </a:solidFill>
                <a:latin typeface="Aptos" pitchFamily="34" charset="0"/>
                <a:ea typeface="Aptos" pitchFamily="34" charset="-122"/>
                <a:cs typeface="Aptos" pitchFamily="34" charset="-120"/>
              </a:rPr>
              <a:t>0.632</a:t>
            </a:r>
            <a:endParaRPr lang="en-US" sz="1200" dirty="0"/>
          </a:p>
        </p:txBody>
      </p:sp>
      <p:sp>
        <p:nvSpPr>
          <p:cNvPr id="37" name="Text 35"/>
          <p:cNvSpPr/>
          <p:nvPr/>
        </p:nvSpPr>
        <p:spPr>
          <a:xfrm>
            <a:off x="8001000" y="1508760"/>
            <a:ext cx="1554480" cy="457200"/>
          </a:xfrm>
          <a:prstGeom prst="rect">
            <a:avLst/>
          </a:prstGeom>
          <a:noFill/>
          <a:ln/>
        </p:spPr>
        <p:txBody>
          <a:bodyPr wrap="square" lIns="0" tIns="0" rIns="0" bIns="0" rtlCol="0" anchor="ctr"/>
          <a:lstStyle/>
          <a:p>
            <a:pPr marL="0" indent="0" algn="l">
              <a:buNone/>
            </a:pPr>
            <a:r>
              <a:rPr lang="en-US" sz="2900" b="1" dirty="0">
                <a:solidFill>
                  <a:srgbClr val="F87171"/>
                </a:solidFill>
                <a:latin typeface="Aptos Display" pitchFamily="34" charset="0"/>
                <a:ea typeface="Aptos Display" pitchFamily="34" charset="-122"/>
                <a:cs typeface="Aptos Display" pitchFamily="34" charset="-120"/>
              </a:rPr>
              <a:t>0.684</a:t>
            </a:r>
            <a:endParaRPr lang="en-US" sz="2900" dirty="0"/>
          </a:p>
        </p:txBody>
      </p:sp>
      <p:sp>
        <p:nvSpPr>
          <p:cNvPr id="38" name="Text 36"/>
          <p:cNvSpPr/>
          <p:nvPr/>
        </p:nvSpPr>
        <p:spPr>
          <a:xfrm>
            <a:off x="8001000" y="2011680"/>
            <a:ext cx="2057400" cy="384048"/>
          </a:xfrm>
          <a:prstGeom prst="rect">
            <a:avLst/>
          </a:prstGeom>
          <a:noFill/>
          <a:ln/>
        </p:spPr>
        <p:txBody>
          <a:bodyPr wrap="square" lIns="0" tIns="0" rIns="0" bIns="0" rtlCol="0" anchor="ctr"/>
          <a:lstStyle/>
          <a:p>
            <a:pPr marL="0" indent="0">
              <a:buNone/>
            </a:pPr>
            <a:r>
              <a:rPr lang="en-US" sz="1050" dirty="0">
                <a:solidFill>
                  <a:srgbClr val="475569"/>
                </a:solidFill>
                <a:latin typeface="Aptos" pitchFamily="34" charset="0"/>
                <a:ea typeface="Aptos" pitchFamily="34" charset="-122"/>
                <a:cs typeface="Aptos" pitchFamily="34" charset="-120"/>
              </a:rPr>
              <a:t>Best test Accuracy</a:t>
            </a:r>
            <a:endParaRPr lang="en-US" sz="1050" dirty="0"/>
          </a:p>
        </p:txBody>
      </p:sp>
      <p:sp>
        <p:nvSpPr>
          <p:cNvPr id="39" name="Text 37"/>
          <p:cNvSpPr/>
          <p:nvPr/>
        </p:nvSpPr>
        <p:spPr>
          <a:xfrm>
            <a:off x="8001000" y="2834640"/>
            <a:ext cx="1554480" cy="457200"/>
          </a:xfrm>
          <a:prstGeom prst="rect">
            <a:avLst/>
          </a:prstGeom>
          <a:noFill/>
          <a:ln/>
        </p:spPr>
        <p:txBody>
          <a:bodyPr wrap="square" lIns="0" tIns="0" rIns="0" bIns="0" rtlCol="0" anchor="ctr"/>
          <a:lstStyle/>
          <a:p>
            <a:pPr marL="0" indent="0" algn="l">
              <a:buNone/>
            </a:pPr>
            <a:r>
              <a:rPr lang="en-US" sz="2900" b="1" dirty="0">
                <a:solidFill>
                  <a:srgbClr val="007B83"/>
                </a:solidFill>
                <a:latin typeface="Aptos Display" pitchFamily="34" charset="0"/>
                <a:ea typeface="Aptos Display" pitchFamily="34" charset="-122"/>
                <a:cs typeface="Aptos Display" pitchFamily="34" charset="-120"/>
              </a:rPr>
              <a:t>0.686</a:t>
            </a:r>
            <a:endParaRPr lang="en-US" sz="2900" dirty="0"/>
          </a:p>
        </p:txBody>
      </p:sp>
      <p:sp>
        <p:nvSpPr>
          <p:cNvPr id="40" name="Text 38"/>
          <p:cNvSpPr/>
          <p:nvPr/>
        </p:nvSpPr>
        <p:spPr>
          <a:xfrm>
            <a:off x="8001000" y="3337560"/>
            <a:ext cx="2057400" cy="384048"/>
          </a:xfrm>
          <a:prstGeom prst="rect">
            <a:avLst/>
          </a:prstGeom>
          <a:noFill/>
          <a:ln/>
        </p:spPr>
        <p:txBody>
          <a:bodyPr wrap="square" lIns="0" tIns="0" rIns="0" bIns="0" rtlCol="0" anchor="ctr"/>
          <a:lstStyle/>
          <a:p>
            <a:pPr marL="0" indent="0">
              <a:buNone/>
            </a:pPr>
            <a:r>
              <a:rPr lang="en-US" sz="1050" dirty="0">
                <a:solidFill>
                  <a:srgbClr val="475569"/>
                </a:solidFill>
                <a:latin typeface="Aptos" pitchFamily="34" charset="0"/>
                <a:ea typeface="Aptos" pitchFamily="34" charset="-122"/>
                <a:cs typeface="Aptos" pitchFamily="34" charset="-120"/>
              </a:rPr>
              <a:t>Best AUC</a:t>
            </a:r>
            <a:endParaRPr lang="en-US" sz="1050" dirty="0"/>
          </a:p>
        </p:txBody>
      </p:sp>
      <p:sp>
        <p:nvSpPr>
          <p:cNvPr id="41" name="Text 39"/>
          <p:cNvSpPr/>
          <p:nvPr/>
        </p:nvSpPr>
        <p:spPr>
          <a:xfrm>
            <a:off x="6446520" y="4388489"/>
            <a:ext cx="3108960" cy="777240"/>
          </a:xfrm>
          <a:prstGeom prst="rect">
            <a:avLst/>
          </a:prstGeom>
          <a:noFill/>
          <a:ln/>
        </p:spPr>
        <p:txBody>
          <a:bodyPr wrap="square" lIns="508" tIns="508" rIns="508" bIns="508" rtlCol="0" anchor="t">
            <a:normAutofit/>
          </a:bodyPr>
          <a:lstStyle/>
          <a:p>
            <a:pPr marL="0" indent="0" algn="l">
              <a:lnSpc>
                <a:spcPct val="90000"/>
              </a:lnSpc>
              <a:buNone/>
            </a:pPr>
            <a:r>
              <a:rPr lang="en-US" sz="1500" dirty="0">
                <a:solidFill>
                  <a:srgbClr val="475569"/>
                </a:solidFill>
                <a:latin typeface="Aptos" pitchFamily="34" charset="0"/>
                <a:ea typeface="Aptos" pitchFamily="34" charset="-122"/>
                <a:cs typeface="Aptos" pitchFamily="34" charset="-120"/>
              </a:rPr>
              <a:t>Random Forest and Stacking tied on accuracy; Random Forest was selected as the simpler final model.</a:t>
            </a:r>
            <a:endParaRPr lang="en-US" sz="1500" dirty="0"/>
          </a:p>
        </p:txBody>
      </p:sp>
      <p:sp>
        <p:nvSpPr>
          <p:cNvPr id="42" name="Shape 40"/>
          <p:cNvSpPr/>
          <p:nvPr/>
        </p:nvSpPr>
        <p:spPr>
          <a:xfrm>
            <a:off x="731520" y="5138928"/>
            <a:ext cx="45720" cy="658368"/>
          </a:xfrm>
          <a:prstGeom prst="rect">
            <a:avLst/>
          </a:prstGeom>
          <a:solidFill>
            <a:srgbClr val="F2B705"/>
          </a:solidFill>
          <a:ln w="12700">
            <a:solidFill>
              <a:srgbClr val="F2B705"/>
            </a:solidFill>
            <a:prstDash val="solid"/>
          </a:ln>
        </p:spPr>
        <p:txBody>
          <a:bodyPr/>
          <a:lstStyle/>
          <a:p>
            <a:endParaRPr lang="en-US"/>
          </a:p>
        </p:txBody>
      </p:sp>
      <p:sp>
        <p:nvSpPr>
          <p:cNvPr id="43" name="Text 41"/>
          <p:cNvSpPr/>
          <p:nvPr/>
        </p:nvSpPr>
        <p:spPr>
          <a:xfrm>
            <a:off x="850392" y="5138928"/>
            <a:ext cx="10579608" cy="658368"/>
          </a:xfrm>
          <a:prstGeom prst="rect">
            <a:avLst/>
          </a:prstGeom>
          <a:noFill/>
          <a:ln/>
        </p:spPr>
        <p:txBody>
          <a:bodyPr wrap="square" lIns="381" tIns="381" rIns="381" bIns="381" rtlCol="0" anchor="ctr">
            <a:normAutofit/>
          </a:bodyPr>
          <a:lstStyle/>
          <a:p>
            <a:pPr marL="0" indent="0">
              <a:buNone/>
            </a:pPr>
            <a:r>
              <a:rPr lang="en-US" sz="1400" dirty="0">
                <a:solidFill>
                  <a:srgbClr val="475569"/>
                </a:solidFill>
                <a:latin typeface="Aptos" pitchFamily="34" charset="0"/>
                <a:ea typeface="Aptos" pitchFamily="34" charset="-122"/>
                <a:cs typeface="Aptos" pitchFamily="34" charset="-120"/>
              </a:rPr>
              <a:t>Interpretation: the model is useful but moderate. It is not a perfect classifier, so probability diagnostics are essential.</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pic>
        <p:nvPicPr>
          <p:cNvPr id="14" name="图片 13">
            <a:extLst>
              <a:ext uri="{FF2B5EF4-FFF2-40B4-BE49-F238E27FC236}">
                <a16:creationId xmlns:a16="http://schemas.microsoft.com/office/drawing/2014/main" id="{B66DDFED-FE4A-18B9-F82C-BFD3700B9AE9}"/>
              </a:ext>
            </a:extLst>
          </p:cNvPr>
          <p:cNvPicPr>
            <a:picLocks noChangeAspect="1"/>
          </p:cNvPicPr>
          <p:nvPr/>
        </p:nvPicPr>
        <p:blipFill>
          <a:blip r:embed="rId3" cstate="email">
            <a:clrChange>
              <a:clrFrom>
                <a:srgbClr val="FFFFFF"/>
              </a:clrFrom>
              <a:clrTo>
                <a:srgbClr val="FFFFFF">
                  <a:alpha val="0"/>
                </a:srgbClr>
              </a:clrTo>
            </a:clrChange>
            <a:grayscl/>
            <a:extLst>
              <a:ext uri="{28A0092B-C50C-407E-A947-70E740481C1C}">
                <a14:useLocalDpi xmlns:a14="http://schemas.microsoft.com/office/drawing/2010/main"/>
              </a:ext>
            </a:extLst>
          </a:blip>
          <a:srcRect/>
          <a:stretch>
            <a:fillRect/>
          </a:stretch>
        </p:blipFill>
        <p:spPr bwMode="auto">
          <a:xfrm>
            <a:off x="0" y="4283770"/>
            <a:ext cx="12209409" cy="2578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 0"/>
          <p:cNvSpPr/>
          <p:nvPr/>
        </p:nvSpPr>
        <p:spPr>
          <a:xfrm>
            <a:off x="502920" y="320040"/>
            <a:ext cx="5029200" cy="201168"/>
          </a:xfrm>
          <a:prstGeom prst="rect">
            <a:avLst/>
          </a:prstGeom>
          <a:noFill/>
          <a:ln/>
        </p:spPr>
        <p:txBody>
          <a:bodyPr wrap="square" lIns="0" tIns="0" rIns="0" bIns="0" rtlCol="0" anchor="ctr"/>
          <a:lstStyle/>
          <a:p>
            <a:pPr marL="0" indent="0">
              <a:buNone/>
            </a:pPr>
            <a:r>
              <a:rPr lang="en-US" sz="900" b="1" dirty="0">
                <a:solidFill>
                  <a:srgbClr val="007B83"/>
                </a:solidFill>
                <a:latin typeface="Aptos" pitchFamily="34" charset="0"/>
                <a:ea typeface="Aptos" pitchFamily="34" charset="-122"/>
                <a:cs typeface="Aptos" pitchFamily="34" charset="-120"/>
              </a:rPr>
              <a:t>MODEL INTERPRETATION</a:t>
            </a:r>
            <a:endParaRPr lang="en-US" sz="900" dirty="0"/>
          </a:p>
        </p:txBody>
      </p:sp>
      <p:sp>
        <p:nvSpPr>
          <p:cNvPr id="3" name="Text 1"/>
          <p:cNvSpPr/>
          <p:nvPr/>
        </p:nvSpPr>
        <p:spPr>
          <a:xfrm>
            <a:off x="502920" y="576072"/>
            <a:ext cx="11064240" cy="502920"/>
          </a:xfrm>
          <a:prstGeom prst="rect">
            <a:avLst/>
          </a:prstGeom>
          <a:noFill/>
          <a:ln/>
        </p:spPr>
        <p:txBody>
          <a:bodyPr wrap="square" lIns="0" tIns="0" rIns="0" bIns="0" rtlCol="0" anchor="ctr">
            <a:normAutofit/>
          </a:bodyPr>
          <a:lstStyle/>
          <a:p>
            <a:pPr marL="0" indent="0">
              <a:buNone/>
            </a:pPr>
            <a:r>
              <a:rPr lang="en-US" sz="2800" b="1" dirty="0">
                <a:solidFill>
                  <a:srgbClr val="1E293B"/>
                </a:solidFill>
                <a:latin typeface="Aptos Display" pitchFamily="34" charset="0"/>
                <a:ea typeface="Aptos Display" pitchFamily="34" charset="-122"/>
                <a:cs typeface="Aptos Display" pitchFamily="34" charset="-120"/>
              </a:rPr>
              <a:t>What predicts romantic status?</a:t>
            </a:r>
            <a:endParaRPr lang="en-US" sz="2800" dirty="0"/>
          </a:p>
        </p:txBody>
      </p:sp>
      <p:sp>
        <p:nvSpPr>
          <p:cNvPr id="4" name="Shape 2"/>
          <p:cNvSpPr/>
          <p:nvPr/>
        </p:nvSpPr>
        <p:spPr>
          <a:xfrm>
            <a:off x="502920" y="1124712"/>
            <a:ext cx="11064240" cy="0"/>
          </a:xfrm>
          <a:prstGeom prst="line">
            <a:avLst/>
          </a:prstGeom>
          <a:noFill/>
          <a:ln w="12700">
            <a:solidFill>
              <a:srgbClr val="E2E8F0"/>
            </a:solidFill>
            <a:prstDash val="solid"/>
          </a:ln>
        </p:spPr>
        <p:txBody>
          <a:bodyPr/>
          <a:lstStyle/>
          <a:p>
            <a:endParaRPr lang="en-US"/>
          </a:p>
        </p:txBody>
      </p:sp>
      <p:sp>
        <p:nvSpPr>
          <p:cNvPr id="5" name="Text 3"/>
          <p:cNvSpPr/>
          <p:nvPr/>
        </p:nvSpPr>
        <p:spPr>
          <a:xfrm>
            <a:off x="438912" y="6528816"/>
            <a:ext cx="5760720" cy="201168"/>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Predicting Student Romantic Relationship Status</a:t>
            </a:r>
            <a:endParaRPr lang="en-US" sz="750" dirty="0"/>
          </a:p>
        </p:txBody>
      </p:sp>
      <p:sp>
        <p:nvSpPr>
          <p:cNvPr id="6" name="Text 4"/>
          <p:cNvSpPr/>
          <p:nvPr/>
        </p:nvSpPr>
        <p:spPr>
          <a:xfrm>
            <a:off x="11539728" y="6510528"/>
            <a:ext cx="320040" cy="201168"/>
          </a:xfrm>
          <a:prstGeom prst="rect">
            <a:avLst/>
          </a:prstGeom>
          <a:noFill/>
          <a:ln/>
        </p:spPr>
        <p:txBody>
          <a:bodyPr wrap="square" lIns="0" tIns="0" rIns="0" bIns="0" rtlCol="0" anchor="ctr"/>
          <a:lstStyle/>
          <a:p>
            <a:pPr marL="0" indent="0" algn="r">
              <a:buNone/>
            </a:pPr>
            <a:r>
              <a:rPr lang="en-US" sz="750" dirty="0">
                <a:solidFill>
                  <a:srgbClr val="64748B"/>
                </a:solidFill>
                <a:latin typeface="Aptos" pitchFamily="34" charset="0"/>
                <a:ea typeface="Aptos" pitchFamily="34" charset="-122"/>
                <a:cs typeface="Aptos" pitchFamily="34" charset="-120"/>
              </a:rPr>
              <a:t>08</a:t>
            </a:r>
            <a:endParaRPr lang="en-US" sz="750" dirty="0"/>
          </a:p>
        </p:txBody>
      </p:sp>
      <p:pic>
        <p:nvPicPr>
          <p:cNvPr id="8" name="Image 1" descr="/mnt/data/final_ppt_assets/crops/xgb_imp_crop.png"/>
          <p:cNvPicPr>
            <a:picLocks noChangeAspect="1"/>
          </p:cNvPicPr>
          <p:nvPr/>
        </p:nvPicPr>
        <p:blipFill>
          <a:blip r:embed="rId4"/>
          <a:stretch>
            <a:fillRect/>
          </a:stretch>
        </p:blipFill>
        <p:spPr>
          <a:xfrm>
            <a:off x="6172200" y="1391458"/>
            <a:ext cx="5394960" cy="3160684"/>
          </a:xfrm>
          <a:prstGeom prst="rect">
            <a:avLst/>
          </a:prstGeom>
        </p:spPr>
      </p:pic>
      <p:sp>
        <p:nvSpPr>
          <p:cNvPr id="9" name="Shape 5"/>
          <p:cNvSpPr/>
          <p:nvPr/>
        </p:nvSpPr>
        <p:spPr>
          <a:xfrm>
            <a:off x="731520" y="4983480"/>
            <a:ext cx="45720" cy="502920"/>
          </a:xfrm>
          <a:prstGeom prst="rect">
            <a:avLst/>
          </a:prstGeom>
          <a:solidFill>
            <a:srgbClr val="007B83"/>
          </a:solidFill>
          <a:ln w="12700">
            <a:solidFill>
              <a:srgbClr val="007B83"/>
            </a:solidFill>
            <a:prstDash val="solid"/>
          </a:ln>
        </p:spPr>
        <p:txBody>
          <a:bodyPr/>
          <a:lstStyle/>
          <a:p>
            <a:endParaRPr lang="en-US"/>
          </a:p>
        </p:txBody>
      </p:sp>
      <p:sp>
        <p:nvSpPr>
          <p:cNvPr id="10" name="Text 6"/>
          <p:cNvSpPr/>
          <p:nvPr/>
        </p:nvSpPr>
        <p:spPr>
          <a:xfrm>
            <a:off x="850392" y="4983480"/>
            <a:ext cx="4818888" cy="502920"/>
          </a:xfrm>
          <a:prstGeom prst="rect">
            <a:avLst/>
          </a:prstGeom>
          <a:noFill/>
          <a:ln/>
        </p:spPr>
        <p:txBody>
          <a:bodyPr wrap="square" lIns="381" tIns="381" rIns="381" bIns="381" rtlCol="0" anchor="ctr">
            <a:normAutofit/>
          </a:bodyPr>
          <a:lstStyle/>
          <a:p>
            <a:pPr marL="0" indent="0">
              <a:buNone/>
            </a:pPr>
            <a:r>
              <a:rPr lang="en-US" sz="1400" dirty="0">
                <a:solidFill>
                  <a:srgbClr val="475569"/>
                </a:solidFill>
                <a:latin typeface="Aptos" pitchFamily="34" charset="0"/>
                <a:ea typeface="Aptos" pitchFamily="34" charset="-122"/>
                <a:cs typeface="Aptos" pitchFamily="34" charset="-120"/>
              </a:rPr>
              <a:t>Random Forest emphasizes absences and academic/behavioral variables.</a:t>
            </a:r>
            <a:endParaRPr lang="en-US" sz="1400" dirty="0"/>
          </a:p>
        </p:txBody>
      </p:sp>
      <p:sp>
        <p:nvSpPr>
          <p:cNvPr id="11" name="Shape 7"/>
          <p:cNvSpPr/>
          <p:nvPr/>
        </p:nvSpPr>
        <p:spPr>
          <a:xfrm>
            <a:off x="6217920" y="4983480"/>
            <a:ext cx="45720" cy="502920"/>
          </a:xfrm>
          <a:prstGeom prst="rect">
            <a:avLst/>
          </a:prstGeom>
          <a:solidFill>
            <a:srgbClr val="F87171"/>
          </a:solidFill>
          <a:ln w="12700">
            <a:solidFill>
              <a:srgbClr val="F87171"/>
            </a:solidFill>
            <a:prstDash val="solid"/>
          </a:ln>
        </p:spPr>
        <p:txBody>
          <a:bodyPr/>
          <a:lstStyle/>
          <a:p>
            <a:endParaRPr lang="en-US"/>
          </a:p>
        </p:txBody>
      </p:sp>
      <p:sp>
        <p:nvSpPr>
          <p:cNvPr id="12" name="Text 8"/>
          <p:cNvSpPr/>
          <p:nvPr/>
        </p:nvSpPr>
        <p:spPr>
          <a:xfrm>
            <a:off x="6336792" y="4983480"/>
            <a:ext cx="4818888" cy="502920"/>
          </a:xfrm>
          <a:prstGeom prst="rect">
            <a:avLst/>
          </a:prstGeom>
          <a:noFill/>
          <a:ln/>
        </p:spPr>
        <p:txBody>
          <a:bodyPr wrap="square" lIns="381" tIns="381" rIns="381" bIns="381" rtlCol="0" anchor="ctr">
            <a:normAutofit/>
          </a:bodyPr>
          <a:lstStyle/>
          <a:p>
            <a:pPr marL="0" indent="0">
              <a:buNone/>
            </a:pPr>
            <a:r>
              <a:rPr lang="en-US" sz="1400" dirty="0">
                <a:solidFill>
                  <a:srgbClr val="475569"/>
                </a:solidFill>
                <a:latin typeface="Aptos" pitchFamily="34" charset="0"/>
                <a:ea typeface="Aptos" pitchFamily="34" charset="-122"/>
                <a:cs typeface="Aptos" pitchFamily="34" charset="-120"/>
              </a:rPr>
              <a:t>XGBoost highlights sex, absences, activities, school, and grades.</a:t>
            </a:r>
            <a:endParaRPr lang="en-US" sz="1400" dirty="0"/>
          </a:p>
        </p:txBody>
      </p:sp>
      <p:sp>
        <p:nvSpPr>
          <p:cNvPr id="13" name="Text 9"/>
          <p:cNvSpPr/>
          <p:nvPr/>
        </p:nvSpPr>
        <p:spPr>
          <a:xfrm>
            <a:off x="1051560" y="5833872"/>
            <a:ext cx="10058400" cy="457200"/>
          </a:xfrm>
          <a:prstGeom prst="rect">
            <a:avLst/>
          </a:prstGeom>
          <a:noFill/>
          <a:ln/>
        </p:spPr>
        <p:txBody>
          <a:bodyPr wrap="square" lIns="508" tIns="508" rIns="508" bIns="508" rtlCol="0" anchor="t">
            <a:normAutofit/>
          </a:bodyPr>
          <a:lstStyle/>
          <a:p>
            <a:pPr marL="0" indent="0" algn="ctr">
              <a:lnSpc>
                <a:spcPct val="90000"/>
              </a:lnSpc>
              <a:buNone/>
            </a:pPr>
            <a:r>
              <a:rPr lang="en-US" sz="1650" b="1" dirty="0">
                <a:solidFill>
                  <a:srgbClr val="1E293B"/>
                </a:solidFill>
                <a:latin typeface="Aptos" pitchFamily="34" charset="0"/>
                <a:ea typeface="Aptos" pitchFamily="34" charset="-122"/>
                <a:cs typeface="Aptos" pitchFamily="34" charset="-120"/>
              </a:rPr>
              <a:t>Across models, the most useful predictors are behavioral, school-related, and opportunity variables — not one single family-background explanation.</a:t>
            </a:r>
            <a:endParaRPr lang="en-US" sz="1650" dirty="0"/>
          </a:p>
        </p:txBody>
      </p:sp>
      <p:pic>
        <p:nvPicPr>
          <p:cNvPr id="16" name="图片 15">
            <a:extLst>
              <a:ext uri="{FF2B5EF4-FFF2-40B4-BE49-F238E27FC236}">
                <a16:creationId xmlns:a16="http://schemas.microsoft.com/office/drawing/2014/main" id="{167E52C6-F49B-4951-D2A4-49412E7E50F4}"/>
              </a:ext>
            </a:extLst>
          </p:cNvPr>
          <p:cNvPicPr>
            <a:picLocks noChangeAspect="1"/>
          </p:cNvPicPr>
          <p:nvPr/>
        </p:nvPicPr>
        <p:blipFill>
          <a:blip r:embed="rId5"/>
          <a:stretch>
            <a:fillRect/>
          </a:stretch>
        </p:blipFill>
        <p:spPr>
          <a:xfrm>
            <a:off x="502920" y="1387668"/>
            <a:ext cx="5247465" cy="316068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02920" y="320040"/>
            <a:ext cx="5029200" cy="201168"/>
          </a:xfrm>
          <a:prstGeom prst="rect">
            <a:avLst/>
          </a:prstGeom>
          <a:noFill/>
          <a:ln/>
        </p:spPr>
        <p:txBody>
          <a:bodyPr wrap="square" lIns="0" tIns="0" rIns="0" bIns="0" rtlCol="0" anchor="ctr"/>
          <a:lstStyle/>
          <a:p>
            <a:pPr marL="0" indent="0">
              <a:buNone/>
            </a:pPr>
            <a:r>
              <a:rPr lang="en-US" sz="900" b="1" dirty="0">
                <a:solidFill>
                  <a:srgbClr val="007B83"/>
                </a:solidFill>
                <a:latin typeface="Aptos" pitchFamily="34" charset="0"/>
                <a:ea typeface="Aptos" pitchFamily="34" charset="-122"/>
                <a:cs typeface="Aptos" pitchFamily="34" charset="-120"/>
              </a:rPr>
              <a:t>CALIBRATION RESULT</a:t>
            </a:r>
            <a:endParaRPr lang="en-US" sz="900" dirty="0"/>
          </a:p>
        </p:txBody>
      </p:sp>
      <p:sp>
        <p:nvSpPr>
          <p:cNvPr id="3" name="Text 1"/>
          <p:cNvSpPr/>
          <p:nvPr/>
        </p:nvSpPr>
        <p:spPr>
          <a:xfrm>
            <a:off x="502920" y="576072"/>
            <a:ext cx="11064240" cy="502920"/>
          </a:xfrm>
          <a:prstGeom prst="rect">
            <a:avLst/>
          </a:prstGeom>
          <a:noFill/>
          <a:ln/>
        </p:spPr>
        <p:txBody>
          <a:bodyPr wrap="square" lIns="0" tIns="0" rIns="0" bIns="0" rtlCol="0" anchor="ctr">
            <a:normAutofit/>
          </a:bodyPr>
          <a:lstStyle/>
          <a:p>
            <a:r>
              <a:rPr lang="en-US" sz="2800" b="1" dirty="0">
                <a:solidFill>
                  <a:srgbClr val="1E293B"/>
                </a:solidFill>
                <a:latin typeface="Aptos Display" pitchFamily="34" charset="0"/>
                <a:ea typeface="Aptos Display" pitchFamily="34" charset="-122"/>
                <a:cs typeface="Aptos Display" pitchFamily="34" charset="-120"/>
              </a:rPr>
              <a:t>Can the model estimate relationship probability?</a:t>
            </a:r>
            <a:endParaRPr lang="en-US" sz="2800" dirty="0"/>
          </a:p>
        </p:txBody>
      </p:sp>
      <p:sp>
        <p:nvSpPr>
          <p:cNvPr id="4" name="Shape 2"/>
          <p:cNvSpPr/>
          <p:nvPr/>
        </p:nvSpPr>
        <p:spPr>
          <a:xfrm>
            <a:off x="502920" y="1124712"/>
            <a:ext cx="11064240" cy="0"/>
          </a:xfrm>
          <a:prstGeom prst="line">
            <a:avLst/>
          </a:prstGeom>
          <a:noFill/>
          <a:ln w="12700">
            <a:solidFill>
              <a:srgbClr val="E2E8F0"/>
            </a:solidFill>
            <a:prstDash val="solid"/>
          </a:ln>
        </p:spPr>
        <p:txBody>
          <a:bodyPr/>
          <a:lstStyle/>
          <a:p>
            <a:endParaRPr lang="en-US"/>
          </a:p>
        </p:txBody>
      </p:sp>
      <p:sp>
        <p:nvSpPr>
          <p:cNvPr id="5" name="Text 3"/>
          <p:cNvSpPr/>
          <p:nvPr/>
        </p:nvSpPr>
        <p:spPr>
          <a:xfrm>
            <a:off x="438912" y="6528816"/>
            <a:ext cx="5760720" cy="201168"/>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Predicting Student Romantic Relationship Status</a:t>
            </a:r>
            <a:endParaRPr lang="en-US" sz="750" dirty="0"/>
          </a:p>
        </p:txBody>
      </p:sp>
      <p:sp>
        <p:nvSpPr>
          <p:cNvPr id="6" name="Text 4"/>
          <p:cNvSpPr/>
          <p:nvPr/>
        </p:nvSpPr>
        <p:spPr>
          <a:xfrm>
            <a:off x="11539728" y="6510528"/>
            <a:ext cx="320040" cy="201168"/>
          </a:xfrm>
          <a:prstGeom prst="rect">
            <a:avLst/>
          </a:prstGeom>
          <a:noFill/>
          <a:ln/>
        </p:spPr>
        <p:txBody>
          <a:bodyPr wrap="square" lIns="0" tIns="0" rIns="0" bIns="0" rtlCol="0" anchor="ctr"/>
          <a:lstStyle/>
          <a:p>
            <a:pPr marL="0" indent="0" algn="r">
              <a:buNone/>
            </a:pPr>
            <a:r>
              <a:rPr lang="en-US" sz="750" dirty="0">
                <a:solidFill>
                  <a:srgbClr val="64748B"/>
                </a:solidFill>
                <a:latin typeface="Aptos" pitchFamily="34" charset="0"/>
                <a:ea typeface="Aptos" pitchFamily="34" charset="-122"/>
                <a:cs typeface="Aptos" pitchFamily="34" charset="-120"/>
              </a:rPr>
              <a:t>09</a:t>
            </a:r>
            <a:endParaRPr lang="en-US" sz="750" dirty="0"/>
          </a:p>
        </p:txBody>
      </p:sp>
      <p:sp>
        <p:nvSpPr>
          <p:cNvPr id="8" name="Text 5"/>
          <p:cNvSpPr/>
          <p:nvPr/>
        </p:nvSpPr>
        <p:spPr>
          <a:xfrm>
            <a:off x="7635240" y="1371600"/>
            <a:ext cx="2377440" cy="320040"/>
          </a:xfrm>
          <a:prstGeom prst="rect">
            <a:avLst/>
          </a:prstGeom>
          <a:noFill/>
          <a:ln/>
        </p:spPr>
        <p:txBody>
          <a:bodyPr wrap="square" lIns="508" tIns="508" rIns="508" bIns="508" rtlCol="0" anchor="t">
            <a:normAutofit/>
          </a:bodyPr>
          <a:lstStyle/>
          <a:p>
            <a:pPr marL="0" indent="0" algn="l">
              <a:lnSpc>
                <a:spcPct val="90000"/>
              </a:lnSpc>
              <a:buNone/>
            </a:pPr>
            <a:r>
              <a:rPr lang="en-US" sz="1600" b="1" dirty="0">
                <a:solidFill>
                  <a:srgbClr val="007B83"/>
                </a:solidFill>
                <a:latin typeface="Aptos" pitchFamily="34" charset="0"/>
                <a:ea typeface="Aptos" pitchFamily="34" charset="-122"/>
                <a:cs typeface="Aptos" pitchFamily="34" charset="-120"/>
              </a:rPr>
              <a:t>How to read it</a:t>
            </a:r>
            <a:endParaRPr lang="en-US" sz="1600" dirty="0"/>
          </a:p>
        </p:txBody>
      </p:sp>
      <p:sp>
        <p:nvSpPr>
          <p:cNvPr id="9" name="Text 6"/>
          <p:cNvSpPr/>
          <p:nvPr/>
        </p:nvSpPr>
        <p:spPr>
          <a:xfrm>
            <a:off x="7726680" y="1783080"/>
            <a:ext cx="3977640" cy="1645920"/>
          </a:xfrm>
          <a:prstGeom prst="rect">
            <a:avLst/>
          </a:prstGeom>
          <a:noFill/>
          <a:ln/>
        </p:spPr>
        <p:txBody>
          <a:bodyPr wrap="square" lIns="508" tIns="508" rIns="508" bIns="508" rtlCol="0" anchor="t">
            <a:normAutofit fontScale="85000" lnSpcReduction="20000"/>
          </a:bodyPr>
          <a:lstStyle/>
          <a:p>
            <a:pPr marL="152400" indent="-152400">
              <a:buSzPct val="100000"/>
              <a:buChar char="•"/>
            </a:pPr>
            <a:r>
              <a:rPr lang="en-US" sz="1320" dirty="0">
                <a:solidFill>
                  <a:srgbClr val="475569"/>
                </a:solidFill>
                <a:latin typeface="Aptos" pitchFamily="34" charset="0"/>
                <a:ea typeface="Aptos" pitchFamily="34" charset="-122"/>
                <a:cs typeface="Aptos" pitchFamily="34" charset="-120"/>
              </a:rPr>
              <a:t>• x-axis: unequal predicted-risk groups</a:t>
            </a:r>
          </a:p>
          <a:p>
            <a:pPr marL="152400" indent="-152400">
              <a:buSzPct val="100000"/>
              <a:buChar char="•"/>
            </a:pPr>
            <a:r>
              <a:rPr lang="en-US" sz="1320" dirty="0">
                <a:solidFill>
                  <a:srgbClr val="475569"/>
                </a:solidFill>
                <a:latin typeface="Aptos" pitchFamily="34" charset="0"/>
                <a:ea typeface="Aptos" pitchFamily="34" charset="-122"/>
                <a:cs typeface="Aptos" pitchFamily="34" charset="-120"/>
              </a:rPr>
              <a:t>  (middle range is narrower; sparse tail is merged)</a:t>
            </a:r>
          </a:p>
          <a:p>
            <a:pPr marL="152400" indent="-152400">
              <a:buSzPct val="100000"/>
              <a:buChar char="•"/>
            </a:pPr>
            <a:endParaRPr lang="en-US" sz="1320" dirty="0">
              <a:solidFill>
                <a:srgbClr val="475569"/>
              </a:solidFill>
              <a:latin typeface="Aptos" pitchFamily="34" charset="0"/>
              <a:ea typeface="Aptos" pitchFamily="34" charset="-122"/>
              <a:cs typeface="Aptos" pitchFamily="34" charset="-120"/>
            </a:endParaRPr>
          </a:p>
          <a:p>
            <a:pPr marL="152400" indent="-152400">
              <a:buSzPct val="100000"/>
              <a:buChar char="•"/>
            </a:pPr>
            <a:r>
              <a:rPr lang="en-US" sz="1320" dirty="0">
                <a:solidFill>
                  <a:srgbClr val="475569"/>
                </a:solidFill>
                <a:latin typeface="Aptos" pitchFamily="34" charset="0"/>
                <a:ea typeface="Aptos" pitchFamily="34" charset="-122"/>
                <a:cs typeface="Aptos" pitchFamily="34" charset="-120"/>
              </a:rPr>
              <a:t>• top line plot:</a:t>
            </a:r>
          </a:p>
          <a:p>
            <a:pPr marL="152400" indent="-152400">
              <a:buSzPct val="100000"/>
              <a:buChar char="•"/>
            </a:pPr>
            <a:r>
              <a:rPr lang="en-US" sz="1320" dirty="0">
                <a:solidFill>
                  <a:srgbClr val="475569"/>
                </a:solidFill>
                <a:latin typeface="Aptos" pitchFamily="34" charset="0"/>
                <a:ea typeface="Aptos" pitchFamily="34" charset="-122"/>
                <a:cs typeface="Aptos" pitchFamily="34" charset="-120"/>
              </a:rPr>
              <a:t>  orange = model’s mean predicted probability</a:t>
            </a:r>
          </a:p>
          <a:p>
            <a:pPr marL="152400" indent="-152400">
              <a:buSzPct val="100000"/>
              <a:buChar char="•"/>
            </a:pPr>
            <a:r>
              <a:rPr lang="en-US" sz="1320" dirty="0">
                <a:solidFill>
                  <a:srgbClr val="475569"/>
                </a:solidFill>
                <a:latin typeface="Aptos" pitchFamily="34" charset="0"/>
                <a:ea typeface="Aptos" pitchFamily="34" charset="-122"/>
                <a:cs typeface="Aptos" pitchFamily="34" charset="-120"/>
              </a:rPr>
              <a:t>  red = actual observed relationship rate</a:t>
            </a:r>
          </a:p>
          <a:p>
            <a:pPr marL="152400" indent="-152400">
              <a:buSzPct val="100000"/>
              <a:buChar char="•"/>
            </a:pPr>
            <a:endParaRPr lang="en-US" sz="1320" dirty="0">
              <a:solidFill>
                <a:srgbClr val="475569"/>
              </a:solidFill>
              <a:latin typeface="Aptos" pitchFamily="34" charset="0"/>
              <a:ea typeface="Aptos" pitchFamily="34" charset="-122"/>
              <a:cs typeface="Aptos" pitchFamily="34" charset="-120"/>
            </a:endParaRPr>
          </a:p>
          <a:p>
            <a:pPr marL="152400" indent="-152400">
              <a:buSzPct val="100000"/>
              <a:buChar char="•"/>
            </a:pPr>
            <a:r>
              <a:rPr lang="en-US" sz="1320" dirty="0">
                <a:solidFill>
                  <a:srgbClr val="475569"/>
                </a:solidFill>
                <a:latin typeface="Aptos" pitchFamily="34" charset="0"/>
                <a:ea typeface="Aptos" pitchFamily="34" charset="-122"/>
                <a:cs typeface="Aptos" pitchFamily="34" charset="-120"/>
              </a:rPr>
              <a:t>• bottom bar plot:</a:t>
            </a:r>
          </a:p>
          <a:p>
            <a:pPr marL="152400" indent="-152400">
              <a:buSzPct val="100000"/>
              <a:buChar char="•"/>
            </a:pPr>
            <a:r>
              <a:rPr lang="en-US" sz="1320" dirty="0">
                <a:solidFill>
                  <a:srgbClr val="475569"/>
                </a:solidFill>
                <a:latin typeface="Aptos" pitchFamily="34" charset="0"/>
                <a:ea typeface="Aptos" pitchFamily="34" charset="-122"/>
                <a:cs typeface="Aptos" pitchFamily="34" charset="-120"/>
              </a:rPr>
              <a:t>  shows the share of test-set students in each risk group</a:t>
            </a:r>
          </a:p>
          <a:p>
            <a:pPr marL="152400" indent="-152400">
              <a:buSzPct val="100000"/>
              <a:buChar char="•"/>
            </a:pPr>
            <a:endParaRPr lang="en-US" sz="1320" dirty="0">
              <a:solidFill>
                <a:srgbClr val="475569"/>
              </a:solidFill>
              <a:latin typeface="Aptos" pitchFamily="34" charset="0"/>
              <a:ea typeface="Aptos" pitchFamily="34" charset="-122"/>
              <a:cs typeface="Aptos" pitchFamily="34" charset="-120"/>
            </a:endParaRPr>
          </a:p>
          <a:p>
            <a:pPr marL="152400" indent="-152400">
              <a:buSzPct val="100000"/>
              <a:buChar char="•"/>
            </a:pPr>
            <a:r>
              <a:rPr lang="en-US" sz="1320" dirty="0">
                <a:solidFill>
                  <a:srgbClr val="475569"/>
                </a:solidFill>
                <a:latin typeface="Aptos" pitchFamily="34" charset="0"/>
                <a:ea typeface="Aptos" pitchFamily="34" charset="-122"/>
                <a:cs typeface="Aptos" pitchFamily="34" charset="-120"/>
              </a:rPr>
              <a:t>• N labels:</a:t>
            </a:r>
          </a:p>
          <a:p>
            <a:pPr marL="152400" indent="-152400">
              <a:buSzPct val="100000"/>
              <a:buChar char="•"/>
            </a:pPr>
            <a:r>
              <a:rPr lang="en-US" sz="1320" dirty="0">
                <a:solidFill>
                  <a:srgbClr val="475569"/>
                </a:solidFill>
                <a:latin typeface="Aptos" pitchFamily="34" charset="0"/>
                <a:ea typeface="Aptos" pitchFamily="34" charset="-122"/>
                <a:cs typeface="Aptos" pitchFamily="34" charset="-120"/>
              </a:rPr>
              <a:t>  number of students in each predicted-risk group</a:t>
            </a:r>
            <a:endParaRPr lang="en-US" sz="1320" dirty="0"/>
          </a:p>
        </p:txBody>
      </p:sp>
      <p:sp>
        <p:nvSpPr>
          <p:cNvPr id="10" name="Text 7"/>
          <p:cNvSpPr/>
          <p:nvPr/>
        </p:nvSpPr>
        <p:spPr>
          <a:xfrm>
            <a:off x="7726680" y="3886200"/>
            <a:ext cx="1554480" cy="457200"/>
          </a:xfrm>
          <a:prstGeom prst="rect">
            <a:avLst/>
          </a:prstGeom>
          <a:noFill/>
          <a:ln/>
        </p:spPr>
        <p:txBody>
          <a:bodyPr wrap="square" lIns="0" tIns="0" rIns="0" bIns="0" rtlCol="0" anchor="ctr"/>
          <a:lstStyle/>
          <a:p>
            <a:pPr marL="0" indent="0" algn="l">
              <a:buNone/>
            </a:pPr>
            <a:r>
              <a:rPr lang="en-US" sz="2900" b="1" dirty="0">
                <a:solidFill>
                  <a:srgbClr val="F87171"/>
                </a:solidFill>
                <a:latin typeface="Aptos Display" pitchFamily="34" charset="0"/>
                <a:ea typeface="Aptos Display" pitchFamily="34" charset="-122"/>
                <a:cs typeface="Aptos Display" pitchFamily="34" charset="-120"/>
              </a:rPr>
              <a:t>6%</a:t>
            </a:r>
            <a:endParaRPr lang="en-US" sz="2900" dirty="0"/>
          </a:p>
        </p:txBody>
      </p:sp>
      <p:sp>
        <p:nvSpPr>
          <p:cNvPr id="11" name="Text 8"/>
          <p:cNvSpPr/>
          <p:nvPr/>
        </p:nvSpPr>
        <p:spPr>
          <a:xfrm>
            <a:off x="7726680" y="4389120"/>
            <a:ext cx="2057400" cy="384048"/>
          </a:xfrm>
          <a:prstGeom prst="rect">
            <a:avLst/>
          </a:prstGeom>
          <a:noFill/>
          <a:ln/>
        </p:spPr>
        <p:txBody>
          <a:bodyPr wrap="square" lIns="0" tIns="0" rIns="0" bIns="0" rtlCol="0" anchor="ctr"/>
          <a:lstStyle/>
          <a:p>
            <a:pPr marL="0" indent="0">
              <a:buNone/>
            </a:pPr>
            <a:r>
              <a:rPr lang="en-US" sz="1050" dirty="0">
                <a:solidFill>
                  <a:srgbClr val="475569"/>
                </a:solidFill>
                <a:latin typeface="Aptos" pitchFamily="34" charset="0"/>
                <a:ea typeface="Aptos" pitchFamily="34" charset="-122"/>
                <a:cs typeface="Aptos" pitchFamily="34" charset="-120"/>
              </a:rPr>
              <a:t>average absolute calibration gap</a:t>
            </a:r>
            <a:endParaRPr lang="en-US" sz="1050" dirty="0"/>
          </a:p>
        </p:txBody>
      </p:sp>
      <p:sp>
        <p:nvSpPr>
          <p:cNvPr id="12" name="Text 9"/>
          <p:cNvSpPr/>
          <p:nvPr/>
        </p:nvSpPr>
        <p:spPr>
          <a:xfrm>
            <a:off x="7726680" y="4956048"/>
            <a:ext cx="3749040" cy="914400"/>
          </a:xfrm>
          <a:prstGeom prst="rect">
            <a:avLst/>
          </a:prstGeom>
          <a:noFill/>
          <a:ln/>
        </p:spPr>
        <p:txBody>
          <a:bodyPr wrap="square" lIns="508" tIns="508" rIns="508" bIns="508" rtlCol="0" anchor="t">
            <a:normAutofit lnSpcReduction="10000"/>
          </a:bodyPr>
          <a:lstStyle/>
          <a:p>
            <a:pPr>
              <a:lnSpc>
                <a:spcPct val="90000"/>
              </a:lnSpc>
            </a:pPr>
            <a:r>
              <a:rPr lang="en-US" sz="1430" dirty="0">
                <a:solidFill>
                  <a:srgbClr val="475569"/>
                </a:solidFill>
                <a:latin typeface="Aptos" pitchFamily="34" charset="0"/>
                <a:ea typeface="Aptos" pitchFamily="34" charset="-122"/>
                <a:cs typeface="Aptos" pitchFamily="34" charset="-120"/>
              </a:rPr>
              <a:t>Conclusion: Probabilities are useful as group-level estimates. </a:t>
            </a:r>
          </a:p>
          <a:p>
            <a:pPr>
              <a:lnSpc>
                <a:spcPct val="90000"/>
              </a:lnSpc>
            </a:pPr>
            <a:r>
              <a:rPr lang="en-US" sz="1430" dirty="0">
                <a:solidFill>
                  <a:srgbClr val="475569"/>
                </a:solidFill>
                <a:latin typeface="Aptos" pitchFamily="34" charset="0"/>
                <a:ea typeface="Aptos" pitchFamily="34" charset="-122"/>
                <a:cs typeface="Aptos" pitchFamily="34" charset="-120"/>
              </a:rPr>
              <a:t>The model ranks risk upward, but high-risk bins are sparse and should not be read as exact individual labels.</a:t>
            </a:r>
            <a:endParaRPr lang="en-US" sz="1430" dirty="0"/>
          </a:p>
        </p:txBody>
      </p:sp>
      <p:pic>
        <p:nvPicPr>
          <p:cNvPr id="16" name="图片 15">
            <a:extLst>
              <a:ext uri="{FF2B5EF4-FFF2-40B4-BE49-F238E27FC236}">
                <a16:creationId xmlns:a16="http://schemas.microsoft.com/office/drawing/2014/main" id="{41263BBB-ABA2-111A-6947-2FCA01E2442E}"/>
              </a:ext>
            </a:extLst>
          </p:cNvPr>
          <p:cNvPicPr>
            <a:picLocks noChangeAspect="1"/>
          </p:cNvPicPr>
          <p:nvPr/>
        </p:nvPicPr>
        <p:blipFill>
          <a:blip r:embed="rId3"/>
          <a:stretch>
            <a:fillRect/>
          </a:stretch>
        </p:blipFill>
        <p:spPr>
          <a:xfrm>
            <a:off x="646037" y="1078992"/>
            <a:ext cx="4742966" cy="2627193"/>
          </a:xfrm>
          <a:prstGeom prst="rect">
            <a:avLst/>
          </a:prstGeom>
        </p:spPr>
      </p:pic>
      <p:pic>
        <p:nvPicPr>
          <p:cNvPr id="18" name="图片 17">
            <a:extLst>
              <a:ext uri="{FF2B5EF4-FFF2-40B4-BE49-F238E27FC236}">
                <a16:creationId xmlns:a16="http://schemas.microsoft.com/office/drawing/2014/main" id="{031F4DA9-CAB8-89A5-A52F-85160844C1D4}"/>
              </a:ext>
            </a:extLst>
          </p:cNvPr>
          <p:cNvPicPr>
            <a:picLocks noChangeAspect="1"/>
          </p:cNvPicPr>
          <p:nvPr/>
        </p:nvPicPr>
        <p:blipFill>
          <a:blip r:embed="rId4"/>
          <a:stretch>
            <a:fillRect/>
          </a:stretch>
        </p:blipFill>
        <p:spPr>
          <a:xfrm>
            <a:off x="716280" y="3706185"/>
            <a:ext cx="4847092" cy="271694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pic>
        <p:nvPicPr>
          <p:cNvPr id="15" name="图片占位符 48" descr="e7d195523061f1c03a90ee8e42cb24248e56383cd534985688F9F494128731F165EE95AB4B0C0A38076AAEA07667B1565C446FC45FF01DFB0E885BCDBDF3A284F3DB14DA61DD97F0BAB2E6C668FB49312D8A702330F6D99A32E431D743AEA352730A5DC99E77695B9E88E40D60C32BA28C17BB7CABD1A46AF23594DF6528BF791C5C014762CD5143DAF29347DE3D1A39">
            <a:extLst>
              <a:ext uri="{FF2B5EF4-FFF2-40B4-BE49-F238E27FC236}">
                <a16:creationId xmlns:a16="http://schemas.microsoft.com/office/drawing/2014/main" id="{A74D4443-FFD8-BD7B-04F2-CC2143664A11}"/>
              </a:ext>
            </a:extLst>
          </p:cNvPr>
          <p:cNvPicPr>
            <a:picLocks noChangeAspect="1"/>
          </p:cNvPicPr>
          <p:nvPr/>
        </p:nvPicPr>
        <p:blipFill>
          <a:blip r:embed="rId3" cstate="print">
            <a:duotone>
              <a:srgbClr val="FFFFFF">
                <a:shade val="45000"/>
                <a:satMod val="135000"/>
              </a:srgbClr>
              <a:prstClr val="white"/>
            </a:duotone>
            <a:extLst>
              <a:ext uri="{28A0092B-C50C-407E-A947-70E740481C1C}">
                <a14:useLocalDpi xmlns:a14="http://schemas.microsoft.com/office/drawing/2010/main" val="0"/>
              </a:ext>
            </a:extLst>
          </a:blip>
          <a:srcRect t="21875" b="21875"/>
          <a:stretch>
            <a:fillRect/>
          </a:stretch>
        </p:blipFill>
        <p:spPr>
          <a:xfrm>
            <a:off x="0" y="1"/>
            <a:ext cx="12192000" cy="6858000"/>
          </a:xfrm>
          <a:custGeom>
            <a:avLst/>
            <a:gdLst>
              <a:gd name="connsiteX0" fmla="*/ 0 w 4203290"/>
              <a:gd name="connsiteY0" fmla="*/ 0 h 6858000"/>
              <a:gd name="connsiteX1" fmla="*/ 4203290 w 4203290"/>
              <a:gd name="connsiteY1" fmla="*/ 0 h 6858000"/>
              <a:gd name="connsiteX2" fmla="*/ 4203290 w 4203290"/>
              <a:gd name="connsiteY2" fmla="*/ 6858000 h 6858000"/>
              <a:gd name="connsiteX3" fmla="*/ 0 w 420329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03290" h="6858000">
                <a:moveTo>
                  <a:pt x="0" y="0"/>
                </a:moveTo>
                <a:lnTo>
                  <a:pt x="4203290" y="0"/>
                </a:lnTo>
                <a:lnTo>
                  <a:pt x="4203290" y="6858000"/>
                </a:lnTo>
                <a:lnTo>
                  <a:pt x="0" y="6858000"/>
                </a:lnTo>
                <a:close/>
              </a:path>
            </a:pathLst>
          </a:custGeom>
          <a:solidFill>
            <a:srgbClr val="FFFFFF">
              <a:lumMod val="95000"/>
              <a:alpha val="40000"/>
            </a:srgbClr>
          </a:solidFill>
        </p:spPr>
      </p:pic>
      <p:sp>
        <p:nvSpPr>
          <p:cNvPr id="2" name="Text 0"/>
          <p:cNvSpPr/>
          <p:nvPr/>
        </p:nvSpPr>
        <p:spPr>
          <a:xfrm>
            <a:off x="502920" y="320040"/>
            <a:ext cx="5029200" cy="201168"/>
          </a:xfrm>
          <a:prstGeom prst="rect">
            <a:avLst/>
          </a:prstGeom>
          <a:noFill/>
          <a:ln/>
        </p:spPr>
        <p:txBody>
          <a:bodyPr wrap="square" lIns="0" tIns="0" rIns="0" bIns="0" rtlCol="0" anchor="ctr"/>
          <a:lstStyle/>
          <a:p>
            <a:pPr marL="0" indent="0">
              <a:buNone/>
            </a:pPr>
            <a:r>
              <a:rPr lang="en-US" sz="900" b="1" dirty="0">
                <a:solidFill>
                  <a:srgbClr val="007B83"/>
                </a:solidFill>
                <a:latin typeface="Aptos" pitchFamily="34" charset="0"/>
                <a:ea typeface="Aptos" pitchFamily="34" charset="-122"/>
                <a:cs typeface="Aptos" pitchFamily="34" charset="-120"/>
              </a:rPr>
              <a:t>KDE DIAGNOSTIC</a:t>
            </a:r>
            <a:endParaRPr lang="en-US" sz="900" dirty="0"/>
          </a:p>
        </p:txBody>
      </p:sp>
      <p:sp>
        <p:nvSpPr>
          <p:cNvPr id="3" name="Text 1"/>
          <p:cNvSpPr/>
          <p:nvPr/>
        </p:nvSpPr>
        <p:spPr>
          <a:xfrm>
            <a:off x="502920" y="576072"/>
            <a:ext cx="11064240" cy="502920"/>
          </a:xfrm>
          <a:prstGeom prst="rect">
            <a:avLst/>
          </a:prstGeom>
          <a:noFill/>
          <a:ln/>
        </p:spPr>
        <p:txBody>
          <a:bodyPr wrap="square" lIns="0" tIns="0" rIns="0" bIns="0" rtlCol="0" anchor="ctr">
            <a:normAutofit/>
          </a:bodyPr>
          <a:lstStyle/>
          <a:p>
            <a:pPr marL="0" indent="0">
              <a:buNone/>
            </a:pPr>
            <a:r>
              <a:rPr lang="en-US" sz="2800" b="1" dirty="0">
                <a:solidFill>
                  <a:srgbClr val="1E293B"/>
                </a:solidFill>
                <a:latin typeface="Aptos Display" pitchFamily="34" charset="0"/>
                <a:ea typeface="Aptos Display" pitchFamily="34" charset="-122"/>
                <a:cs typeface="Aptos Display" pitchFamily="34" charset="-120"/>
              </a:rPr>
              <a:t>Probability ranking: modest but real signal</a:t>
            </a:r>
            <a:endParaRPr lang="en-US" sz="2800" dirty="0"/>
          </a:p>
        </p:txBody>
      </p:sp>
      <p:sp>
        <p:nvSpPr>
          <p:cNvPr id="4" name="Shape 2"/>
          <p:cNvSpPr/>
          <p:nvPr/>
        </p:nvSpPr>
        <p:spPr>
          <a:xfrm>
            <a:off x="502920" y="1124712"/>
            <a:ext cx="11064240" cy="0"/>
          </a:xfrm>
          <a:prstGeom prst="line">
            <a:avLst/>
          </a:prstGeom>
          <a:noFill/>
          <a:ln w="12700">
            <a:solidFill>
              <a:srgbClr val="E2E8F0"/>
            </a:solidFill>
            <a:prstDash val="solid"/>
          </a:ln>
        </p:spPr>
        <p:txBody>
          <a:bodyPr/>
          <a:lstStyle/>
          <a:p>
            <a:endParaRPr lang="en-US"/>
          </a:p>
        </p:txBody>
      </p:sp>
      <p:sp>
        <p:nvSpPr>
          <p:cNvPr id="5" name="Text 3"/>
          <p:cNvSpPr/>
          <p:nvPr/>
        </p:nvSpPr>
        <p:spPr>
          <a:xfrm>
            <a:off x="438912" y="6528816"/>
            <a:ext cx="5760720" cy="201168"/>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Predicting Student Romantic Relationship Status</a:t>
            </a:r>
            <a:endParaRPr lang="en-US" sz="750" dirty="0"/>
          </a:p>
        </p:txBody>
      </p:sp>
      <p:sp>
        <p:nvSpPr>
          <p:cNvPr id="6" name="Text 4"/>
          <p:cNvSpPr/>
          <p:nvPr/>
        </p:nvSpPr>
        <p:spPr>
          <a:xfrm>
            <a:off x="11539728" y="6510528"/>
            <a:ext cx="320040" cy="201168"/>
          </a:xfrm>
          <a:prstGeom prst="rect">
            <a:avLst/>
          </a:prstGeom>
          <a:noFill/>
          <a:ln/>
        </p:spPr>
        <p:txBody>
          <a:bodyPr wrap="square" lIns="0" tIns="0" rIns="0" bIns="0" rtlCol="0" anchor="ctr"/>
          <a:lstStyle/>
          <a:p>
            <a:pPr marL="0" indent="0" algn="r">
              <a:buNone/>
            </a:pPr>
            <a:r>
              <a:rPr lang="en-US" sz="750" dirty="0">
                <a:solidFill>
                  <a:srgbClr val="64748B"/>
                </a:solidFill>
                <a:latin typeface="Aptos" pitchFamily="34" charset="0"/>
                <a:ea typeface="Aptos" pitchFamily="34" charset="-122"/>
                <a:cs typeface="Aptos" pitchFamily="34" charset="-120"/>
              </a:rPr>
              <a:t>10</a:t>
            </a:r>
            <a:endParaRPr lang="en-US" sz="750" dirty="0"/>
          </a:p>
        </p:txBody>
      </p:sp>
      <p:sp>
        <p:nvSpPr>
          <p:cNvPr id="8" name="Text 5"/>
          <p:cNvSpPr/>
          <p:nvPr/>
        </p:nvSpPr>
        <p:spPr>
          <a:xfrm>
            <a:off x="6812280" y="1417320"/>
            <a:ext cx="3291840" cy="320040"/>
          </a:xfrm>
          <a:prstGeom prst="rect">
            <a:avLst/>
          </a:prstGeom>
          <a:noFill/>
          <a:ln/>
        </p:spPr>
        <p:txBody>
          <a:bodyPr wrap="square" lIns="508" tIns="508" rIns="508" bIns="508" rtlCol="0" anchor="t">
            <a:normAutofit/>
          </a:bodyPr>
          <a:lstStyle/>
          <a:p>
            <a:pPr marL="0" indent="0" algn="l">
              <a:lnSpc>
                <a:spcPct val="90000"/>
              </a:lnSpc>
              <a:buNone/>
            </a:pPr>
            <a:r>
              <a:rPr lang="en-US" sz="1600" b="1" dirty="0">
                <a:solidFill>
                  <a:srgbClr val="007B83"/>
                </a:solidFill>
                <a:latin typeface="Aptos" pitchFamily="34" charset="0"/>
                <a:ea typeface="Aptos" pitchFamily="34" charset="-122"/>
                <a:cs typeface="Aptos" pitchFamily="34" charset="-120"/>
              </a:rPr>
              <a:t>KDE plot interpretation</a:t>
            </a:r>
            <a:endParaRPr lang="en-US" sz="1600" dirty="0"/>
          </a:p>
        </p:txBody>
      </p:sp>
      <p:sp>
        <p:nvSpPr>
          <p:cNvPr id="9" name="Text 6"/>
          <p:cNvSpPr/>
          <p:nvPr/>
        </p:nvSpPr>
        <p:spPr>
          <a:xfrm>
            <a:off x="6903720" y="1828800"/>
            <a:ext cx="4389120" cy="1554480"/>
          </a:xfrm>
          <a:prstGeom prst="rect">
            <a:avLst/>
          </a:prstGeom>
          <a:noFill/>
          <a:ln/>
        </p:spPr>
        <p:txBody>
          <a:bodyPr wrap="square" lIns="508" tIns="508" rIns="508" bIns="508" rtlCol="0" anchor="t">
            <a:normAutofit/>
          </a:bodyPr>
          <a:lstStyle/>
          <a:p>
            <a:pPr marL="152400" indent="-152400">
              <a:buSzPct val="100000"/>
              <a:buChar char="•"/>
            </a:pPr>
            <a:r>
              <a:rPr lang="en-US" sz="1320" dirty="0">
                <a:solidFill>
                  <a:srgbClr val="475569"/>
                </a:solidFill>
                <a:latin typeface="Aptos" pitchFamily="34" charset="0"/>
                <a:ea typeface="Aptos" pitchFamily="34" charset="-122"/>
                <a:cs typeface="Aptos" pitchFamily="34" charset="-120"/>
              </a:rPr>
              <a:t>x-axis: predicted probability of romantic = yes</a:t>
            </a:r>
            <a:endParaRPr lang="en-US" sz="1320" dirty="0"/>
          </a:p>
          <a:p>
            <a:pPr marL="152400" indent="-152400">
              <a:buSzPct val="100000"/>
              <a:buChar char="•"/>
            </a:pPr>
            <a:r>
              <a:rPr lang="en-US" sz="1320" dirty="0">
                <a:solidFill>
                  <a:srgbClr val="475569"/>
                </a:solidFill>
                <a:latin typeface="Aptos" pitchFamily="34" charset="0"/>
                <a:ea typeface="Aptos" pitchFamily="34" charset="-122"/>
                <a:cs typeface="Aptos" pitchFamily="34" charset="-120"/>
              </a:rPr>
              <a:t>y-axis: density of students at each probability level</a:t>
            </a:r>
            <a:endParaRPr lang="en-US" sz="1320" dirty="0"/>
          </a:p>
          <a:p>
            <a:pPr marL="152400" indent="-152400">
              <a:buSzPct val="100000"/>
              <a:buChar char="•"/>
            </a:pPr>
            <a:r>
              <a:rPr lang="en-US" sz="1320" dirty="0">
                <a:solidFill>
                  <a:srgbClr val="475569"/>
                </a:solidFill>
                <a:latin typeface="Aptos" pitchFamily="34" charset="0"/>
                <a:ea typeface="Aptos" pitchFamily="34" charset="-122"/>
                <a:cs typeface="Aptos" pitchFamily="34" charset="-120"/>
              </a:rPr>
              <a:t>teal curve: students actually in a relationship</a:t>
            </a:r>
            <a:endParaRPr lang="en-US" sz="1320" dirty="0"/>
          </a:p>
          <a:p>
            <a:pPr marL="152400" indent="-152400">
              <a:buSzPct val="100000"/>
              <a:buChar char="•"/>
            </a:pPr>
            <a:r>
              <a:rPr lang="en-US" sz="1320" dirty="0">
                <a:solidFill>
                  <a:srgbClr val="475569"/>
                </a:solidFill>
                <a:latin typeface="Aptos" pitchFamily="34" charset="0"/>
                <a:ea typeface="Aptos" pitchFamily="34" charset="-122"/>
                <a:cs typeface="Aptos" pitchFamily="34" charset="-120"/>
              </a:rPr>
              <a:t>coral curve: students actually not in a relationship</a:t>
            </a:r>
            <a:endParaRPr lang="en-US" sz="1320" dirty="0"/>
          </a:p>
        </p:txBody>
      </p:sp>
      <p:sp>
        <p:nvSpPr>
          <p:cNvPr id="10" name="Text 7"/>
          <p:cNvSpPr/>
          <p:nvPr/>
        </p:nvSpPr>
        <p:spPr>
          <a:xfrm>
            <a:off x="6903720" y="3794760"/>
            <a:ext cx="1554480" cy="457200"/>
          </a:xfrm>
          <a:prstGeom prst="rect">
            <a:avLst/>
          </a:prstGeom>
          <a:noFill/>
          <a:ln/>
        </p:spPr>
        <p:txBody>
          <a:bodyPr wrap="square" lIns="0" tIns="0" rIns="0" bIns="0" rtlCol="0" anchor="ctr"/>
          <a:lstStyle/>
          <a:p>
            <a:pPr marL="0" indent="0" algn="l">
              <a:buNone/>
            </a:pPr>
            <a:r>
              <a:rPr lang="en-US" sz="2900" b="1" dirty="0">
                <a:solidFill>
                  <a:srgbClr val="007B83"/>
                </a:solidFill>
                <a:latin typeface="Aptos Display" pitchFamily="34" charset="0"/>
                <a:ea typeface="Aptos Display" pitchFamily="34" charset="-122"/>
                <a:cs typeface="Aptos Display" pitchFamily="34" charset="-120"/>
              </a:rPr>
              <a:t>41%</a:t>
            </a:r>
            <a:endParaRPr lang="en-US" sz="2900" dirty="0"/>
          </a:p>
        </p:txBody>
      </p:sp>
      <p:sp>
        <p:nvSpPr>
          <p:cNvPr id="11" name="Text 8"/>
          <p:cNvSpPr/>
          <p:nvPr/>
        </p:nvSpPr>
        <p:spPr>
          <a:xfrm>
            <a:off x="6903720" y="4297680"/>
            <a:ext cx="2057400" cy="384048"/>
          </a:xfrm>
          <a:prstGeom prst="rect">
            <a:avLst/>
          </a:prstGeom>
          <a:noFill/>
          <a:ln/>
        </p:spPr>
        <p:txBody>
          <a:bodyPr wrap="square" lIns="0" tIns="0" rIns="0" bIns="0" rtlCol="0" anchor="ctr"/>
          <a:lstStyle/>
          <a:p>
            <a:pPr marL="0" indent="0">
              <a:buNone/>
            </a:pPr>
            <a:r>
              <a:rPr lang="en-US" sz="1050" dirty="0">
                <a:solidFill>
                  <a:srgbClr val="475569"/>
                </a:solidFill>
                <a:latin typeface="Aptos" pitchFamily="34" charset="0"/>
                <a:ea typeface="Aptos" pitchFamily="34" charset="-122"/>
                <a:cs typeface="Aptos" pitchFamily="34" charset="-120"/>
              </a:rPr>
              <a:t>mean predicted prob. for true yes</a:t>
            </a:r>
            <a:endParaRPr lang="en-US" sz="1050" dirty="0"/>
          </a:p>
        </p:txBody>
      </p:sp>
      <p:sp>
        <p:nvSpPr>
          <p:cNvPr id="12" name="Text 9"/>
          <p:cNvSpPr/>
          <p:nvPr/>
        </p:nvSpPr>
        <p:spPr>
          <a:xfrm>
            <a:off x="9189720" y="3794760"/>
            <a:ext cx="1554480" cy="457200"/>
          </a:xfrm>
          <a:prstGeom prst="rect">
            <a:avLst/>
          </a:prstGeom>
          <a:noFill/>
          <a:ln/>
        </p:spPr>
        <p:txBody>
          <a:bodyPr wrap="square" lIns="0" tIns="0" rIns="0" bIns="0" rtlCol="0" anchor="ctr"/>
          <a:lstStyle/>
          <a:p>
            <a:pPr marL="0" indent="0" algn="l">
              <a:buNone/>
            </a:pPr>
            <a:r>
              <a:rPr lang="en-US" sz="2900" b="1" dirty="0">
                <a:solidFill>
                  <a:srgbClr val="F87171"/>
                </a:solidFill>
                <a:latin typeface="Aptos Display" pitchFamily="34" charset="0"/>
                <a:ea typeface="Aptos Display" pitchFamily="34" charset="-122"/>
                <a:cs typeface="Aptos Display" pitchFamily="34" charset="-120"/>
              </a:rPr>
              <a:t>35%</a:t>
            </a:r>
            <a:endParaRPr lang="en-US" sz="2900" dirty="0"/>
          </a:p>
        </p:txBody>
      </p:sp>
      <p:sp>
        <p:nvSpPr>
          <p:cNvPr id="13" name="Text 10"/>
          <p:cNvSpPr/>
          <p:nvPr/>
        </p:nvSpPr>
        <p:spPr>
          <a:xfrm>
            <a:off x="9189720" y="4297680"/>
            <a:ext cx="2057400" cy="384048"/>
          </a:xfrm>
          <a:prstGeom prst="rect">
            <a:avLst/>
          </a:prstGeom>
          <a:noFill/>
          <a:ln/>
        </p:spPr>
        <p:txBody>
          <a:bodyPr wrap="square" lIns="0" tIns="0" rIns="0" bIns="0" rtlCol="0" anchor="ctr"/>
          <a:lstStyle/>
          <a:p>
            <a:pPr marL="0" indent="0">
              <a:buNone/>
            </a:pPr>
            <a:r>
              <a:rPr lang="en-US" sz="1050" dirty="0">
                <a:solidFill>
                  <a:srgbClr val="475569"/>
                </a:solidFill>
                <a:latin typeface="Aptos" pitchFamily="34" charset="0"/>
                <a:ea typeface="Aptos" pitchFamily="34" charset="-122"/>
                <a:cs typeface="Aptos" pitchFamily="34" charset="-120"/>
              </a:rPr>
              <a:t>mean predicted prob. for true no</a:t>
            </a:r>
            <a:endParaRPr lang="en-US" sz="1050" dirty="0"/>
          </a:p>
        </p:txBody>
      </p:sp>
      <p:sp>
        <p:nvSpPr>
          <p:cNvPr id="14" name="Text 11"/>
          <p:cNvSpPr/>
          <p:nvPr/>
        </p:nvSpPr>
        <p:spPr>
          <a:xfrm>
            <a:off x="6903720" y="5303520"/>
            <a:ext cx="4389120" cy="594360"/>
          </a:xfrm>
          <a:prstGeom prst="rect">
            <a:avLst/>
          </a:prstGeom>
          <a:noFill/>
          <a:ln/>
        </p:spPr>
        <p:txBody>
          <a:bodyPr wrap="square" lIns="508" tIns="508" rIns="508" bIns="508" rtlCol="0" anchor="t">
            <a:normAutofit/>
          </a:bodyPr>
          <a:lstStyle/>
          <a:p>
            <a:pPr marL="0" indent="0" algn="l">
              <a:lnSpc>
                <a:spcPct val="90000"/>
              </a:lnSpc>
              <a:buNone/>
            </a:pPr>
            <a:r>
              <a:rPr lang="en-US" sz="1480" dirty="0">
                <a:solidFill>
                  <a:srgbClr val="475569"/>
                </a:solidFill>
                <a:latin typeface="Aptos" pitchFamily="34" charset="0"/>
                <a:ea typeface="Aptos" pitchFamily="34" charset="-122"/>
                <a:cs typeface="Aptos" pitchFamily="34" charset="-120"/>
              </a:rPr>
              <a:t>AUC = 0.686: the model ranks students moderately well, but the two curves still overlap.</a:t>
            </a:r>
            <a:endParaRPr lang="en-US" sz="1480" dirty="0"/>
          </a:p>
        </p:txBody>
      </p:sp>
      <p:pic>
        <p:nvPicPr>
          <p:cNvPr id="17" name="图片 16">
            <a:extLst>
              <a:ext uri="{FF2B5EF4-FFF2-40B4-BE49-F238E27FC236}">
                <a16:creationId xmlns:a16="http://schemas.microsoft.com/office/drawing/2014/main" id="{5AF03986-83D3-7E7A-6A0E-BF3419C9BEA4}"/>
              </a:ext>
            </a:extLst>
          </p:cNvPr>
          <p:cNvPicPr>
            <a:picLocks noChangeAspect="1"/>
          </p:cNvPicPr>
          <p:nvPr/>
        </p:nvPicPr>
        <p:blipFill>
          <a:blip r:embed="rId4"/>
          <a:stretch>
            <a:fillRect/>
          </a:stretch>
        </p:blipFill>
        <p:spPr>
          <a:xfrm>
            <a:off x="438912" y="1417320"/>
            <a:ext cx="5944318" cy="34747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pic>
        <p:nvPicPr>
          <p:cNvPr id="14" name="图片占位符 48" descr="e7d195523061f1c03a90ee8e42cb24248e56383cd534985688F9F494128731F165EE95AB4B0C0A38076AAEA07667B1565C446FC45FF01DFB0E885BCDBDF3A284F3DB14DA61DD97F0BAB2E6C668FB49312D8A702330F6D99A32E431D743AEA352730A5DC99E77695B9E88E40D60C32BA28C17BB7CABD1A46AF23594DF6528BF791C5C014762CD5143DAF29347DE3D1A39">
            <a:extLst>
              <a:ext uri="{FF2B5EF4-FFF2-40B4-BE49-F238E27FC236}">
                <a16:creationId xmlns:a16="http://schemas.microsoft.com/office/drawing/2014/main" id="{C11A97A8-CDAE-FD1E-0ED3-A5D665D216F5}"/>
              </a:ext>
            </a:extLst>
          </p:cNvPr>
          <p:cNvPicPr>
            <a:picLocks noChangeAspect="1"/>
          </p:cNvPicPr>
          <p:nvPr/>
        </p:nvPicPr>
        <p:blipFill>
          <a:blip r:embed="rId3" cstate="print">
            <a:duotone>
              <a:srgbClr val="FFFFFF">
                <a:shade val="45000"/>
                <a:satMod val="135000"/>
              </a:srgbClr>
              <a:prstClr val="white"/>
            </a:duotone>
            <a:extLst>
              <a:ext uri="{28A0092B-C50C-407E-A947-70E740481C1C}">
                <a14:useLocalDpi xmlns:a14="http://schemas.microsoft.com/office/drawing/2010/main" val="0"/>
              </a:ext>
            </a:extLst>
          </a:blip>
          <a:srcRect t="21875" b="21875"/>
          <a:stretch>
            <a:fillRect/>
          </a:stretch>
        </p:blipFill>
        <p:spPr>
          <a:xfrm>
            <a:off x="0" y="1"/>
            <a:ext cx="12192000" cy="6858000"/>
          </a:xfrm>
          <a:custGeom>
            <a:avLst/>
            <a:gdLst>
              <a:gd name="connsiteX0" fmla="*/ 0 w 4203290"/>
              <a:gd name="connsiteY0" fmla="*/ 0 h 6858000"/>
              <a:gd name="connsiteX1" fmla="*/ 4203290 w 4203290"/>
              <a:gd name="connsiteY1" fmla="*/ 0 h 6858000"/>
              <a:gd name="connsiteX2" fmla="*/ 4203290 w 4203290"/>
              <a:gd name="connsiteY2" fmla="*/ 6858000 h 6858000"/>
              <a:gd name="connsiteX3" fmla="*/ 0 w 420329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03290" h="6858000">
                <a:moveTo>
                  <a:pt x="0" y="0"/>
                </a:moveTo>
                <a:lnTo>
                  <a:pt x="4203290" y="0"/>
                </a:lnTo>
                <a:lnTo>
                  <a:pt x="4203290" y="6858000"/>
                </a:lnTo>
                <a:lnTo>
                  <a:pt x="0" y="6858000"/>
                </a:lnTo>
                <a:close/>
              </a:path>
            </a:pathLst>
          </a:custGeom>
          <a:solidFill>
            <a:srgbClr val="FFFFFF">
              <a:lumMod val="95000"/>
              <a:alpha val="40000"/>
            </a:srgbClr>
          </a:solidFill>
        </p:spPr>
      </p:pic>
      <p:sp>
        <p:nvSpPr>
          <p:cNvPr id="2" name="Text 0"/>
          <p:cNvSpPr/>
          <p:nvPr/>
        </p:nvSpPr>
        <p:spPr>
          <a:xfrm>
            <a:off x="502920" y="320040"/>
            <a:ext cx="5029200" cy="201168"/>
          </a:xfrm>
          <a:prstGeom prst="rect">
            <a:avLst/>
          </a:prstGeom>
          <a:noFill/>
          <a:ln/>
        </p:spPr>
        <p:txBody>
          <a:bodyPr wrap="square" lIns="0" tIns="0" rIns="0" bIns="0" rtlCol="0" anchor="ctr"/>
          <a:lstStyle/>
          <a:p>
            <a:pPr marL="0" indent="0">
              <a:buNone/>
            </a:pPr>
            <a:r>
              <a:rPr lang="en-US" sz="900" b="1" dirty="0">
                <a:solidFill>
                  <a:srgbClr val="007B83"/>
                </a:solidFill>
                <a:latin typeface="Aptos" pitchFamily="34" charset="0"/>
                <a:ea typeface="Aptos" pitchFamily="34" charset="-122"/>
                <a:cs typeface="Aptos" pitchFamily="34" charset="-120"/>
              </a:rPr>
              <a:t>CONCLUSION</a:t>
            </a:r>
            <a:endParaRPr lang="en-US" sz="900" dirty="0"/>
          </a:p>
        </p:txBody>
      </p:sp>
      <p:sp>
        <p:nvSpPr>
          <p:cNvPr id="3" name="Text 1"/>
          <p:cNvSpPr/>
          <p:nvPr/>
        </p:nvSpPr>
        <p:spPr>
          <a:xfrm>
            <a:off x="502920" y="576072"/>
            <a:ext cx="11064240" cy="502920"/>
          </a:xfrm>
          <a:prstGeom prst="rect">
            <a:avLst/>
          </a:prstGeom>
          <a:noFill/>
          <a:ln/>
        </p:spPr>
        <p:txBody>
          <a:bodyPr wrap="square" lIns="0" tIns="0" rIns="0" bIns="0" rtlCol="0" anchor="ctr">
            <a:normAutofit/>
          </a:bodyPr>
          <a:lstStyle/>
          <a:p>
            <a:pPr marL="0" indent="0">
              <a:buNone/>
            </a:pPr>
            <a:r>
              <a:rPr lang="en-US" sz="2800" b="1" dirty="0">
                <a:solidFill>
                  <a:srgbClr val="1E293B"/>
                </a:solidFill>
                <a:latin typeface="Aptos Display" pitchFamily="34" charset="0"/>
                <a:ea typeface="Aptos Display" pitchFamily="34" charset="-122"/>
                <a:cs typeface="Aptos Display" pitchFamily="34" charset="-120"/>
              </a:rPr>
              <a:t>Implications, value, and future work</a:t>
            </a:r>
            <a:endParaRPr lang="en-US" sz="2800" dirty="0"/>
          </a:p>
        </p:txBody>
      </p:sp>
      <p:sp>
        <p:nvSpPr>
          <p:cNvPr id="4" name="Shape 2"/>
          <p:cNvSpPr/>
          <p:nvPr/>
        </p:nvSpPr>
        <p:spPr>
          <a:xfrm>
            <a:off x="502920" y="1124712"/>
            <a:ext cx="11064240" cy="0"/>
          </a:xfrm>
          <a:prstGeom prst="line">
            <a:avLst/>
          </a:prstGeom>
          <a:noFill/>
          <a:ln w="12700">
            <a:solidFill>
              <a:srgbClr val="E2E8F0"/>
            </a:solidFill>
            <a:prstDash val="solid"/>
          </a:ln>
        </p:spPr>
        <p:txBody>
          <a:bodyPr/>
          <a:lstStyle/>
          <a:p>
            <a:endParaRPr lang="en-US"/>
          </a:p>
        </p:txBody>
      </p:sp>
      <p:sp>
        <p:nvSpPr>
          <p:cNvPr id="5" name="Text 3"/>
          <p:cNvSpPr/>
          <p:nvPr/>
        </p:nvSpPr>
        <p:spPr>
          <a:xfrm>
            <a:off x="438912" y="6528816"/>
            <a:ext cx="5760720" cy="201168"/>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Predicting Student Romantic Relationship Status</a:t>
            </a:r>
            <a:endParaRPr lang="en-US" sz="750" dirty="0"/>
          </a:p>
        </p:txBody>
      </p:sp>
      <p:sp>
        <p:nvSpPr>
          <p:cNvPr id="6" name="Text 4"/>
          <p:cNvSpPr/>
          <p:nvPr/>
        </p:nvSpPr>
        <p:spPr>
          <a:xfrm>
            <a:off x="11539728" y="6510528"/>
            <a:ext cx="320040" cy="201168"/>
          </a:xfrm>
          <a:prstGeom prst="rect">
            <a:avLst/>
          </a:prstGeom>
          <a:noFill/>
          <a:ln/>
        </p:spPr>
        <p:txBody>
          <a:bodyPr wrap="square" lIns="0" tIns="0" rIns="0" bIns="0" rtlCol="0" anchor="ctr"/>
          <a:lstStyle/>
          <a:p>
            <a:pPr marL="0" indent="0" algn="r">
              <a:buNone/>
            </a:pPr>
            <a:r>
              <a:rPr lang="en-US" sz="750" dirty="0">
                <a:solidFill>
                  <a:srgbClr val="64748B"/>
                </a:solidFill>
                <a:latin typeface="Aptos" pitchFamily="34" charset="0"/>
                <a:ea typeface="Aptos" pitchFamily="34" charset="-122"/>
                <a:cs typeface="Aptos" pitchFamily="34" charset="-120"/>
              </a:rPr>
              <a:t>11</a:t>
            </a:r>
            <a:endParaRPr lang="en-US" sz="750" dirty="0"/>
          </a:p>
        </p:txBody>
      </p:sp>
      <p:sp>
        <p:nvSpPr>
          <p:cNvPr id="7" name="Text 5"/>
          <p:cNvSpPr/>
          <p:nvPr/>
        </p:nvSpPr>
        <p:spPr>
          <a:xfrm>
            <a:off x="640080" y="1325880"/>
            <a:ext cx="2926080" cy="320040"/>
          </a:xfrm>
          <a:prstGeom prst="rect">
            <a:avLst/>
          </a:prstGeom>
          <a:noFill/>
          <a:ln/>
        </p:spPr>
        <p:txBody>
          <a:bodyPr wrap="square" lIns="508" tIns="508" rIns="508" bIns="508" rtlCol="0" anchor="t">
            <a:normAutofit/>
          </a:bodyPr>
          <a:lstStyle/>
          <a:p>
            <a:pPr marL="0" indent="0" algn="l">
              <a:lnSpc>
                <a:spcPct val="90000"/>
              </a:lnSpc>
              <a:buNone/>
            </a:pPr>
            <a:r>
              <a:rPr lang="en-US" sz="1700" b="1" dirty="0">
                <a:solidFill>
                  <a:srgbClr val="007B83"/>
                </a:solidFill>
                <a:latin typeface="Aptos" pitchFamily="34" charset="0"/>
                <a:ea typeface="Aptos" pitchFamily="34" charset="-122"/>
                <a:cs typeface="Aptos" pitchFamily="34" charset="-120"/>
              </a:rPr>
              <a:t>What we learned</a:t>
            </a:r>
            <a:endParaRPr lang="en-US" sz="1700" dirty="0"/>
          </a:p>
        </p:txBody>
      </p:sp>
      <p:sp>
        <p:nvSpPr>
          <p:cNvPr id="8" name="Text 6"/>
          <p:cNvSpPr/>
          <p:nvPr/>
        </p:nvSpPr>
        <p:spPr>
          <a:xfrm>
            <a:off x="777240" y="1737360"/>
            <a:ext cx="5212080" cy="1645920"/>
          </a:xfrm>
          <a:prstGeom prst="rect">
            <a:avLst/>
          </a:prstGeom>
          <a:noFill/>
          <a:ln/>
        </p:spPr>
        <p:txBody>
          <a:bodyPr wrap="square" lIns="508" tIns="508" rIns="508" bIns="508" rtlCol="0" anchor="t">
            <a:normAutofit/>
          </a:bodyPr>
          <a:lstStyle/>
          <a:p>
            <a:pPr marL="152400" indent="-152400">
              <a:buSzPct val="100000"/>
              <a:buChar char="•"/>
            </a:pPr>
            <a:r>
              <a:rPr lang="en-US" sz="1450" dirty="0">
                <a:solidFill>
                  <a:srgbClr val="475569"/>
                </a:solidFill>
                <a:latin typeface="Aptos" pitchFamily="34" charset="0"/>
                <a:ea typeface="Aptos" pitchFamily="34" charset="-122"/>
                <a:cs typeface="Aptos" pitchFamily="34" charset="-120"/>
              </a:rPr>
              <a:t>Romantic involvement is connected to sex, absences, grades, social behavior, and access variables</a:t>
            </a:r>
            <a:endParaRPr lang="en-US" sz="1450" dirty="0"/>
          </a:p>
          <a:p>
            <a:pPr marL="152400" indent="-152400">
              <a:buSzPct val="100000"/>
              <a:buChar char="•"/>
            </a:pPr>
            <a:r>
              <a:rPr lang="en-US" sz="1450" dirty="0">
                <a:solidFill>
                  <a:srgbClr val="475569"/>
                </a:solidFill>
                <a:latin typeface="Aptos" pitchFamily="34" charset="0"/>
                <a:ea typeface="Aptos" pitchFamily="34" charset="-122"/>
                <a:cs typeface="Aptos" pitchFamily="34" charset="-120"/>
              </a:rPr>
              <a:t>The best model is useful but moderate, so results should be interpreted carefully</a:t>
            </a:r>
            <a:endParaRPr lang="en-US" sz="1450" dirty="0"/>
          </a:p>
          <a:p>
            <a:pPr marL="152400" indent="-152400">
              <a:buSzPct val="100000"/>
              <a:buChar char="•"/>
            </a:pPr>
            <a:r>
              <a:rPr lang="en-US" sz="1450" dirty="0">
                <a:solidFill>
                  <a:srgbClr val="475569"/>
                </a:solidFill>
                <a:latin typeface="Aptos" pitchFamily="34" charset="0"/>
                <a:ea typeface="Aptos" pitchFamily="34" charset="-122"/>
                <a:cs typeface="Aptos" pitchFamily="34" charset="-120"/>
              </a:rPr>
              <a:t>Probability calibration gives a more responsible view than hard yes/no classification alone</a:t>
            </a:r>
            <a:endParaRPr lang="en-US" sz="1450" dirty="0"/>
          </a:p>
        </p:txBody>
      </p:sp>
      <p:sp>
        <p:nvSpPr>
          <p:cNvPr id="9" name="Text 7"/>
          <p:cNvSpPr/>
          <p:nvPr/>
        </p:nvSpPr>
        <p:spPr>
          <a:xfrm>
            <a:off x="6400800" y="1325880"/>
            <a:ext cx="2926080" cy="320040"/>
          </a:xfrm>
          <a:prstGeom prst="rect">
            <a:avLst/>
          </a:prstGeom>
          <a:noFill/>
          <a:ln/>
        </p:spPr>
        <p:txBody>
          <a:bodyPr wrap="square" lIns="508" tIns="508" rIns="508" bIns="508" rtlCol="0" anchor="t">
            <a:normAutofit/>
          </a:bodyPr>
          <a:lstStyle/>
          <a:p>
            <a:pPr marL="0" indent="0" algn="l">
              <a:lnSpc>
                <a:spcPct val="90000"/>
              </a:lnSpc>
              <a:buNone/>
            </a:pPr>
            <a:r>
              <a:rPr lang="en-US" sz="1700" b="1" dirty="0">
                <a:solidFill>
                  <a:srgbClr val="007B83"/>
                </a:solidFill>
                <a:latin typeface="Aptos" pitchFamily="34" charset="0"/>
                <a:ea typeface="Aptos" pitchFamily="34" charset="-122"/>
                <a:cs typeface="Aptos" pitchFamily="34" charset="-120"/>
              </a:rPr>
              <a:t>Practical value</a:t>
            </a:r>
            <a:endParaRPr lang="en-US" sz="1700" dirty="0"/>
          </a:p>
        </p:txBody>
      </p:sp>
      <p:sp>
        <p:nvSpPr>
          <p:cNvPr id="10" name="Text 8"/>
          <p:cNvSpPr/>
          <p:nvPr/>
        </p:nvSpPr>
        <p:spPr>
          <a:xfrm>
            <a:off x="6537960" y="1737360"/>
            <a:ext cx="4937760" cy="1645920"/>
          </a:xfrm>
          <a:prstGeom prst="rect">
            <a:avLst/>
          </a:prstGeom>
          <a:noFill/>
          <a:ln/>
        </p:spPr>
        <p:txBody>
          <a:bodyPr wrap="square" lIns="508" tIns="508" rIns="508" bIns="508" rtlCol="0" anchor="t">
            <a:normAutofit/>
          </a:bodyPr>
          <a:lstStyle/>
          <a:p>
            <a:pPr marL="152400" indent="-152400">
              <a:buSzPct val="100000"/>
              <a:buChar char="•"/>
            </a:pPr>
            <a:r>
              <a:rPr lang="en-US" sz="1450" dirty="0">
                <a:solidFill>
                  <a:srgbClr val="475569"/>
                </a:solidFill>
                <a:latin typeface="Aptos" pitchFamily="34" charset="0"/>
                <a:ea typeface="Aptos" pitchFamily="34" charset="-122"/>
                <a:cs typeface="Aptos" pitchFamily="34" charset="-120"/>
              </a:rPr>
              <a:t>Supports school counselors and youth researchers in understanding relationship contexts</a:t>
            </a:r>
            <a:endParaRPr lang="en-US" sz="1450" dirty="0"/>
          </a:p>
          <a:p>
            <a:pPr marL="152400" indent="-152400">
              <a:buSzPct val="100000"/>
              <a:buChar char="•"/>
            </a:pPr>
            <a:r>
              <a:rPr lang="en-US" sz="1450" dirty="0">
                <a:solidFill>
                  <a:srgbClr val="475569"/>
                </a:solidFill>
                <a:latin typeface="Aptos" pitchFamily="34" charset="0"/>
                <a:ea typeface="Aptos" pitchFamily="34" charset="-122"/>
                <a:cs typeface="Aptos" pitchFamily="34" charset="-120"/>
              </a:rPr>
              <a:t>Encourages healthy-relationship education without labeling or stereotyping students</a:t>
            </a:r>
            <a:endParaRPr lang="en-US" sz="1450" dirty="0"/>
          </a:p>
          <a:p>
            <a:pPr marL="152400" indent="-152400">
              <a:buSzPct val="100000"/>
              <a:buChar char="•"/>
            </a:pPr>
            <a:r>
              <a:rPr lang="en-US" sz="1450" dirty="0">
                <a:solidFill>
                  <a:srgbClr val="475569"/>
                </a:solidFill>
                <a:latin typeface="Aptos" pitchFamily="34" charset="0"/>
                <a:ea typeface="Aptos" pitchFamily="34" charset="-122"/>
                <a:cs typeface="Aptos" pitchFamily="34" charset="-120"/>
              </a:rPr>
              <a:t>Shows how predictive modeling can be paired with ethical interpretation and calibration checks</a:t>
            </a:r>
            <a:endParaRPr lang="en-US" sz="1450" dirty="0"/>
          </a:p>
        </p:txBody>
      </p:sp>
      <p:sp>
        <p:nvSpPr>
          <p:cNvPr id="11" name="Text 9"/>
          <p:cNvSpPr/>
          <p:nvPr/>
        </p:nvSpPr>
        <p:spPr>
          <a:xfrm>
            <a:off x="640080" y="4251960"/>
            <a:ext cx="2926080" cy="320040"/>
          </a:xfrm>
          <a:prstGeom prst="rect">
            <a:avLst/>
          </a:prstGeom>
          <a:noFill/>
          <a:ln/>
        </p:spPr>
        <p:txBody>
          <a:bodyPr wrap="square" lIns="508" tIns="508" rIns="508" bIns="508" rtlCol="0" anchor="t">
            <a:normAutofit/>
          </a:bodyPr>
          <a:lstStyle/>
          <a:p>
            <a:pPr marL="0" indent="0" algn="l">
              <a:lnSpc>
                <a:spcPct val="90000"/>
              </a:lnSpc>
              <a:buNone/>
            </a:pPr>
            <a:r>
              <a:rPr lang="en-US" sz="1700" b="1" dirty="0">
                <a:solidFill>
                  <a:srgbClr val="007B83"/>
                </a:solidFill>
                <a:latin typeface="Aptos" pitchFamily="34" charset="0"/>
                <a:ea typeface="Aptos" pitchFamily="34" charset="-122"/>
                <a:cs typeface="Aptos" pitchFamily="34" charset="-120"/>
              </a:rPr>
              <a:t>Future research</a:t>
            </a:r>
            <a:endParaRPr lang="en-US" sz="1700" dirty="0"/>
          </a:p>
        </p:txBody>
      </p:sp>
      <p:sp>
        <p:nvSpPr>
          <p:cNvPr id="12" name="Text 10"/>
          <p:cNvSpPr/>
          <p:nvPr/>
        </p:nvSpPr>
        <p:spPr>
          <a:xfrm>
            <a:off x="777240" y="4617720"/>
            <a:ext cx="10789920" cy="914400"/>
          </a:xfrm>
          <a:prstGeom prst="rect">
            <a:avLst/>
          </a:prstGeom>
          <a:noFill/>
          <a:ln/>
        </p:spPr>
        <p:txBody>
          <a:bodyPr wrap="square" lIns="508" tIns="508" rIns="508" bIns="508" rtlCol="0" anchor="t">
            <a:normAutofit/>
          </a:bodyPr>
          <a:lstStyle/>
          <a:p>
            <a:pPr marL="152400" indent="-152400">
              <a:buSzPct val="100000"/>
              <a:buChar char="•"/>
            </a:pPr>
            <a:r>
              <a:rPr lang="en-US" sz="1420" dirty="0">
                <a:solidFill>
                  <a:srgbClr val="475569"/>
                </a:solidFill>
                <a:latin typeface="Aptos" pitchFamily="34" charset="0"/>
                <a:ea typeface="Aptos" pitchFamily="34" charset="-122"/>
                <a:cs typeface="Aptos" pitchFamily="34" charset="-120"/>
              </a:rPr>
              <a:t>Use larger and more recent student samples</a:t>
            </a:r>
            <a:endParaRPr lang="en-US" sz="1420" dirty="0"/>
          </a:p>
          <a:p>
            <a:pPr marL="152400" indent="-152400">
              <a:buSzPct val="100000"/>
              <a:buChar char="•"/>
            </a:pPr>
            <a:r>
              <a:rPr lang="en-US" sz="1420" dirty="0">
                <a:solidFill>
                  <a:srgbClr val="475569"/>
                </a:solidFill>
                <a:latin typeface="Aptos" pitchFamily="34" charset="0"/>
                <a:ea typeface="Aptos" pitchFamily="34" charset="-122"/>
                <a:cs typeface="Aptos" pitchFamily="34" charset="-120"/>
              </a:rPr>
              <a:t>Measure relationship quality, not only yes/no status</a:t>
            </a:r>
            <a:endParaRPr lang="en-US" sz="1420" dirty="0"/>
          </a:p>
          <a:p>
            <a:pPr marL="152400" indent="-152400">
              <a:buSzPct val="100000"/>
              <a:buChar char="•"/>
            </a:pPr>
            <a:r>
              <a:rPr lang="en-US" sz="1420" dirty="0">
                <a:solidFill>
                  <a:srgbClr val="475569"/>
                </a:solidFill>
                <a:latin typeface="Aptos" pitchFamily="34" charset="0"/>
                <a:ea typeface="Aptos" pitchFamily="34" charset="-122"/>
                <a:cs typeface="Aptos" pitchFamily="34" charset="-120"/>
              </a:rPr>
              <a:t>Validate calibration across schools, ages, and cultures</a:t>
            </a:r>
            <a:endParaRPr lang="en-US" sz="1420" dirty="0"/>
          </a:p>
          <a:p>
            <a:pPr marL="152400" indent="-152400">
              <a:buSzPct val="100000"/>
              <a:buChar char="•"/>
            </a:pPr>
            <a:r>
              <a:rPr lang="en-US" sz="1420" dirty="0">
                <a:solidFill>
                  <a:srgbClr val="475569"/>
                </a:solidFill>
                <a:latin typeface="Aptos" pitchFamily="34" charset="0"/>
                <a:ea typeface="Aptos" pitchFamily="34" charset="-122"/>
                <a:cs typeface="Aptos" pitchFamily="34" charset="-120"/>
              </a:rPr>
              <a:t>Use longitudinal data to separate prediction from possible causal pathways</a:t>
            </a:r>
            <a:endParaRPr lang="en-US" sz="1420" dirty="0"/>
          </a:p>
        </p:txBody>
      </p:sp>
      <p:sp>
        <p:nvSpPr>
          <p:cNvPr id="13" name="Text 11"/>
          <p:cNvSpPr/>
          <p:nvPr/>
        </p:nvSpPr>
        <p:spPr>
          <a:xfrm>
            <a:off x="1234440" y="5897880"/>
            <a:ext cx="9875520" cy="411480"/>
          </a:xfrm>
          <a:prstGeom prst="rect">
            <a:avLst/>
          </a:prstGeom>
          <a:noFill/>
          <a:ln/>
        </p:spPr>
        <p:txBody>
          <a:bodyPr wrap="square" lIns="508" tIns="508" rIns="508" bIns="508" rtlCol="0" anchor="t">
            <a:normAutofit lnSpcReduction="10000"/>
          </a:bodyPr>
          <a:lstStyle/>
          <a:p>
            <a:pPr marL="0" indent="0" algn="ctr">
              <a:lnSpc>
                <a:spcPct val="90000"/>
              </a:lnSpc>
              <a:buNone/>
            </a:pPr>
            <a:r>
              <a:rPr lang="en-US" sz="1650" b="1" dirty="0">
                <a:solidFill>
                  <a:srgbClr val="1E293B"/>
                </a:solidFill>
                <a:latin typeface="Aptos" pitchFamily="34" charset="0"/>
                <a:ea typeface="Aptos" pitchFamily="34" charset="-122"/>
                <a:cs typeface="Aptos" pitchFamily="34" charset="-120"/>
              </a:rPr>
              <a:t>Final takeaway: the model can provide moderate, ethically useful probability information — but it should support understanding, not surveillance.</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56F18A6-3D3F-6925-42E9-021E995AD03C}"/>
              </a:ext>
            </a:extLst>
          </p:cNvPr>
          <p:cNvSpPr txBox="1"/>
          <p:nvPr/>
        </p:nvSpPr>
        <p:spPr>
          <a:xfrm>
            <a:off x="102476" y="427270"/>
            <a:ext cx="11855669" cy="5847755"/>
          </a:xfrm>
          <a:prstGeom prst="rect">
            <a:avLst/>
          </a:prstGeom>
          <a:noFill/>
        </p:spPr>
        <p:txBody>
          <a:bodyPr wrap="square" rtlCol="0">
            <a:spAutoFit/>
          </a:bodyPr>
          <a:lstStyle/>
          <a:p>
            <a:pPr indent="-457200" algn="ctr"/>
            <a:r>
              <a:rPr lang="en-US" altLang="zh-CN" sz="2000" b="1" dirty="0"/>
              <a:t>Reference</a:t>
            </a:r>
            <a:endParaRPr lang="en-US" sz="2000" b="1" dirty="0"/>
          </a:p>
          <a:p>
            <a:pPr indent="-457200"/>
            <a:r>
              <a:rPr lang="en-US" sz="1600" dirty="0"/>
              <a:t>Collins, W. A. (2003). More than myth: The developmental significance of romantic relationships during adolescence. </a:t>
            </a:r>
            <a:r>
              <a:rPr lang="en-US" sz="1600" i="1" dirty="0"/>
              <a:t>Journal of Research on Adolescence, 13</a:t>
            </a:r>
            <a:r>
              <a:rPr lang="en-US" sz="1600" dirty="0"/>
              <a:t>(1), 1–24. https://doi.org/10.1111/1532-7795.1301001</a:t>
            </a:r>
          </a:p>
          <a:p>
            <a:pPr indent="-457200"/>
            <a:r>
              <a:rPr lang="en-US" sz="1600" dirty="0"/>
              <a:t>Collins, W. A., Welsh, D. P., &amp; Furman, W. (2009). Adolescent romantic relationships. </a:t>
            </a:r>
            <a:r>
              <a:rPr lang="en-US" sz="1600" i="1" dirty="0"/>
              <a:t>Annual Review of Psychology, 60</a:t>
            </a:r>
            <a:r>
              <a:rPr lang="en-US" sz="1600" dirty="0"/>
              <a:t>, 631–652. </a:t>
            </a:r>
            <a:r>
              <a:rPr lang="en-US" sz="1600" dirty="0">
                <a:hlinkClick r:id="rId2"/>
              </a:rPr>
              <a:t>https://doi.org/10.1146/annurev.psych.60.110707.163459</a:t>
            </a:r>
            <a:endParaRPr lang="en-US" sz="1600" dirty="0"/>
          </a:p>
          <a:p>
            <a:pPr indent="-457200"/>
            <a:r>
              <a:rPr lang="en-US" sz="1600" dirty="0"/>
              <a:t>Carver, K., Joyner, K., &amp; </a:t>
            </a:r>
            <a:r>
              <a:rPr lang="en-US" sz="1600" dirty="0" err="1"/>
              <a:t>Udry</a:t>
            </a:r>
            <a:r>
              <a:rPr lang="en-US" sz="1600" dirty="0"/>
              <a:t>, J. R. (2003). National estimates of adolescent romantic relationships. In P. Florsheim (Ed.), </a:t>
            </a:r>
            <a:r>
              <a:rPr lang="en-US" sz="1600" i="1" dirty="0"/>
              <a:t>Adolescent romantic relations and sexual behavior: Theory, research, and practical implications</a:t>
            </a:r>
            <a:r>
              <a:rPr lang="en-US" sz="1600" dirty="0"/>
              <a:t> (pp. 23–56). Psychology Press. https://doi.org/10.4324/9781410607782-3</a:t>
            </a:r>
          </a:p>
          <a:p>
            <a:pPr indent="-457200"/>
            <a:r>
              <a:rPr lang="en-US" sz="1600" dirty="0"/>
              <a:t>Meier, A., &amp; Allen, G. (2009). Romantic relationships from adolescence to young adulthood: Evidence from the National Longitudinal Study of Adolescent Health. </a:t>
            </a:r>
            <a:r>
              <a:rPr lang="en-US" sz="1600" i="1" dirty="0"/>
              <a:t>The Sociological Quarterly, 50</a:t>
            </a:r>
            <a:r>
              <a:rPr lang="en-US" sz="1600" dirty="0"/>
              <a:t>(2), 308–335. https://doi.org/10.1111/j.1533-8525.2009.01142.x</a:t>
            </a:r>
          </a:p>
          <a:p>
            <a:pPr indent="-457200"/>
            <a:r>
              <a:rPr lang="en-US" sz="1600" dirty="0"/>
              <a:t>Gómez-López, M., Viejo, C., &amp; Ortega-Ruiz, R. (2019). Well-being and romantic relationships: A systematic review in adolescence and emerging adulthood. </a:t>
            </a:r>
            <a:r>
              <a:rPr lang="en-US" sz="1600" i="1" dirty="0"/>
              <a:t>International Journal of Environmental Research and Public Health, 16</a:t>
            </a:r>
            <a:r>
              <a:rPr lang="en-US" sz="1600" dirty="0"/>
              <a:t>(13), Article 2415. </a:t>
            </a:r>
            <a:r>
              <a:rPr lang="en-US" sz="1600" dirty="0">
                <a:hlinkClick r:id="rId3"/>
              </a:rPr>
              <a:t>https://doi.org/10.3390/ijerph16132415</a:t>
            </a:r>
            <a:endParaRPr lang="en-US" sz="1600" dirty="0"/>
          </a:p>
          <a:p>
            <a:pPr indent="-457200"/>
            <a:r>
              <a:rPr lang="en-US" sz="1600" dirty="0"/>
              <a:t>Joosten, D. H. J., </a:t>
            </a:r>
            <a:r>
              <a:rPr lang="en-US" sz="1600" dirty="0" err="1"/>
              <a:t>Nelemans</a:t>
            </a:r>
            <a:r>
              <a:rPr lang="en-US" sz="1600" dirty="0"/>
              <a:t>, S. A., Meeus, W., &amp; Branje, S. (2022). Longitudinal associations between depressive symptoms and quality of romantic relationships in late adolescence. </a:t>
            </a:r>
            <a:r>
              <a:rPr lang="en-US" sz="1600" i="1" dirty="0"/>
              <a:t>Journal of Youth and Adolescence, 51</a:t>
            </a:r>
            <a:r>
              <a:rPr lang="en-US" sz="1600" dirty="0"/>
              <a:t>(3), 509–523. </a:t>
            </a:r>
            <a:r>
              <a:rPr lang="en-US" sz="1600" dirty="0">
                <a:hlinkClick r:id="rId4"/>
              </a:rPr>
              <a:t>https://doi.org/10.1007/s10964-021-01511-2</a:t>
            </a:r>
            <a:endParaRPr lang="en-US" sz="1600" dirty="0"/>
          </a:p>
          <a:p>
            <a:pPr indent="-457200"/>
            <a:r>
              <a:rPr lang="en-US" sz="1600" dirty="0"/>
              <a:t>Joyner, K., &amp; </a:t>
            </a:r>
            <a:r>
              <a:rPr lang="en-US" sz="1600" dirty="0" err="1"/>
              <a:t>Udry</a:t>
            </a:r>
            <a:r>
              <a:rPr lang="en-US" sz="1600" dirty="0"/>
              <a:t>, J. R. (2000). You don’t bring me anything but down: Adolescent romance and depression. </a:t>
            </a:r>
            <a:r>
              <a:rPr lang="en-US" sz="1600" i="1" dirty="0"/>
              <a:t>Journal of Health and Social Behavior, 41</a:t>
            </a:r>
            <a:r>
              <a:rPr lang="en-US" sz="1600" dirty="0"/>
              <a:t>(4), 369–391. https://doi.org/10.2307/2676292</a:t>
            </a:r>
          </a:p>
          <a:p>
            <a:pPr indent="-457200"/>
            <a:r>
              <a:rPr lang="en-US" sz="1600" dirty="0"/>
              <a:t>Centers for Disease Control and Prevention. (2024, May 16). </a:t>
            </a:r>
            <a:r>
              <a:rPr lang="en-US" sz="1600" i="1" dirty="0"/>
              <a:t>Dating Matters®: Strategies to promote healthy teen relationships</a:t>
            </a:r>
            <a:r>
              <a:rPr lang="en-US" sz="1600" dirty="0"/>
              <a:t>. U.S. Department of Health and Human Services. </a:t>
            </a:r>
            <a:r>
              <a:rPr lang="en-US" sz="1600" dirty="0">
                <a:hlinkClick r:id="rId5"/>
              </a:rPr>
              <a:t>https://www.cdc.gov/intimate-partner-violence/php/datingmatters/index.html</a:t>
            </a:r>
            <a:endParaRPr lang="en-US" sz="1600" dirty="0"/>
          </a:p>
          <a:p>
            <a:pPr indent="-457200"/>
            <a:r>
              <a:rPr lang="en-US" sz="1600" dirty="0"/>
              <a:t>UCI Machine Learning. (n.d.). </a:t>
            </a:r>
            <a:r>
              <a:rPr lang="en-US" sz="1600" i="1" dirty="0"/>
              <a:t>Student Alcohol Consumption</a:t>
            </a:r>
            <a:r>
              <a:rPr lang="en-US" sz="1600" dirty="0"/>
              <a:t> [Data set]. Kaggle. Retrieved April 28, 2026, from </a:t>
            </a:r>
            <a:r>
              <a:rPr lang="en-US" sz="1600" dirty="0">
                <a:hlinkClick r:id="rId6"/>
              </a:rPr>
              <a:t>https://www.kaggle.com/datasets/uciml/student-alcohol-consumption</a:t>
            </a:r>
            <a:endParaRPr lang="en-US" sz="1600" dirty="0"/>
          </a:p>
          <a:p>
            <a:endParaRPr lang="en-US" dirty="0"/>
          </a:p>
        </p:txBody>
      </p:sp>
    </p:spTree>
    <p:extLst>
      <p:ext uri="{BB962C8B-B14F-4D97-AF65-F5344CB8AC3E}">
        <p14:creationId xmlns:p14="http://schemas.microsoft.com/office/powerpoint/2010/main" val="2847472194"/>
      </p:ext>
    </p:extLst>
  </p:cSld>
  <p:clrMapOvr>
    <a:masterClrMapping/>
  </p:clrMapOvr>
  <p:transition spd="slow">
    <p:comb/>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233</TotalTime>
  <Words>3496</Words>
  <Application>Microsoft Office PowerPoint</Application>
  <PresentationFormat>宽屏</PresentationFormat>
  <Paragraphs>230</Paragraphs>
  <Slides>13</Slides>
  <Notes>12</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13</vt:i4>
      </vt:variant>
    </vt:vector>
  </HeadingPairs>
  <TitlesOfParts>
    <vt:vector size="22" baseType="lpstr">
      <vt:lpstr>微软雅黑</vt:lpstr>
      <vt:lpstr>方正小标宋简体</vt:lpstr>
      <vt:lpstr>Aptos</vt:lpstr>
      <vt:lpstr>Aptos Display</vt:lpstr>
      <vt:lpstr>Arial</vt:lpstr>
      <vt:lpstr>Calibri</vt:lpstr>
      <vt:lpstr>Calibri Light</vt:lpstr>
      <vt:lpstr>Office Theme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ASU Capstone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Student Romantic Relationship Status</dc:title>
  <dc:subject>Predicting student romantic relationship status</dc:subject>
  <dc:creator>Weiyang Sheng</dc:creator>
  <cp:lastModifiedBy>weiyang sheng</cp:lastModifiedBy>
  <cp:revision>13</cp:revision>
  <dcterms:created xsi:type="dcterms:W3CDTF">2026-04-26T19:02:46Z</dcterms:created>
  <dcterms:modified xsi:type="dcterms:W3CDTF">2026-05-04T20:28:25Z</dcterms:modified>
</cp:coreProperties>
</file>